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Intervalo de 5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Perguntas — 3,5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0"/>
            <a:ext cx="128016" cy="6858000"/>
          </a:xfrm>
          <a:prstGeom prst="rect">
            <a:avLst/>
          </a:prstGeom>
          <a:solidFill>
            <a:srgbClr val="7A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97135" y="-1097280"/>
            <a:ext cx="3291840" cy="3291840"/>
          </a:xfrm>
          <a:prstGeom prst="ellipse">
            <a:avLst/>
          </a:prstGeom>
          <a:solidFill>
            <a:srgbClr val="E3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02975" y="5394960"/>
            <a:ext cx="2377440" cy="2377440"/>
          </a:xfrm>
          <a:prstGeom prst="ellipse">
            <a:avLst/>
          </a:prstGeom>
          <a:solidFill>
            <a:srgbClr val="F2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160020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645920"/>
            <a:ext cx="1097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Liberation Sans"/>
              </a:rPr>
              <a:t>PALESTRA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31720"/>
            <a:ext cx="9448495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700" b="1" i="0">
                <a:solidFill>
                  <a:srgbClr val="4F46E5"/>
                </a:solidFill>
                <a:latin typeface="Liberation Sans"/>
              </a:rPr>
              <a:t>Engenharia de IA e Desenvolvimento de Software Orientado a Especificação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78992" y="4343400"/>
            <a:ext cx="2377440" cy="8229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572000"/>
            <a:ext cx="92656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161E33"/>
                </a:solidFill>
                <a:latin typeface="Liberation Sans"/>
              </a:rPr>
              <a:t>Do modelo à spec: como times de software crítico incorporam IA sem perder auditabilidade.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989320"/>
            <a:ext cx="92656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A667E"/>
                </a:solidFill>
                <a:latin typeface="Liberation Sans"/>
              </a:rPr>
              <a:t>120 minutos · desenvolvedores sêniores · sistemas de controle de infecção hospitalar (IRAS)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234793" cy="40233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23479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0 · ABERTURA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Agenda: doze blocos, três pilares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7A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828800"/>
          <a:ext cx="7955279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59"/>
                <a:gridCol w="2651759"/>
                <a:gridCol w="2651761"/>
              </a:tblGrid>
              <a:tr h="4343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Liberation Sans"/>
                        </a:rPr>
                        <a:t>Bloco</a:t>
                      </a:r>
                    </a:p>
                  </a:txBody>
                  <a:tcPr anchor="ctr" marL="73152" marR="73152" marT="27432" marB="27432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Liberation Sans"/>
                        </a:rPr>
                        <a:t>Tema</a:t>
                      </a:r>
                    </a:p>
                  </a:txBody>
                  <a:tcPr anchor="ctr" marL="73152" marR="73152" marT="27432" marB="27432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Liberation Sans"/>
                        </a:rPr>
                        <a:t>min</a:t>
                      </a:r>
                    </a:p>
                  </a:txBody>
                  <a:tcPr anchor="ctr" marL="73152" marR="73152" marT="27432" marB="27432">
                    <a:solidFill>
                      <a:srgbClr val="4F46E5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61E33"/>
                          </a:solidFill>
                          <a:latin typeface="Liberation Sans"/>
                        </a:rPr>
                        <a:t>0</a:t>
                      </a:r>
                    </a:p>
                  </a:txBody>
                  <a:tcPr anchor="ctr" marL="73152" marR="73152" marT="18288" marB="18288">
                    <a:solidFill>
                      <a:srgbClr val="ECEB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61E33"/>
                          </a:solidFill>
                          <a:latin typeface="Liberation Sans"/>
                        </a:rPr>
                        <a:t>Abertura e agenda</a:t>
                      </a:r>
                    </a:p>
                  </a:txBody>
                  <a:tcPr anchor="ctr" marL="73152" marR="73152" marT="18288" marB="18288">
                    <a:solidFill>
                      <a:srgbClr val="ECEB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61E33"/>
                          </a:solidFill>
                          <a:latin typeface="Liberation Sans"/>
                        </a:rPr>
                        <a:t>3</a:t>
                      </a:r>
                    </a:p>
                  </a:txBody>
                  <a:tcPr anchor="ctr" marL="73152" marR="73152" marT="18288" marB="18288">
                    <a:solidFill>
                      <a:srgbClr val="ECEBFD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61E33"/>
                          </a:solidFill>
                          <a:latin typeface="Liberation Sans"/>
                        </a:rPr>
                        <a:t>1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61E33"/>
                          </a:solidFill>
                          <a:latin typeface="Liberation Sans"/>
                        </a:rPr>
                        <a:t>Linha do tempo: do Perceptron aos agentes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61E33"/>
                          </a:solidFill>
                          <a:latin typeface="Liberation Sans"/>
                        </a:rPr>
                        <a:t>3,5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4F46E5"/>
                          </a:solidFill>
                          <a:latin typeface="Liberation Sans"/>
                        </a:rPr>
                        <a:t>2</a:t>
                      </a:r>
                    </a:p>
                  </a:txBody>
                  <a:tcPr anchor="ctr" marL="73152" marR="73152" marT="18288" marB="18288">
                    <a:solidFill>
                      <a:srgbClr val="ECEB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4F46E5"/>
                          </a:solidFill>
                          <a:latin typeface="Liberation Sans"/>
                        </a:rPr>
                        <a:t>MODELOS DE LINGUAGEM (LLMs) — arquitetura e panorama</a:t>
                      </a:r>
                    </a:p>
                  </a:txBody>
                  <a:tcPr anchor="ctr" marL="73152" marR="73152" marT="18288" marB="18288">
                    <a:solidFill>
                      <a:srgbClr val="ECEB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61E33"/>
                          </a:solidFill>
                          <a:latin typeface="Liberation Sans"/>
                        </a:rPr>
                        <a:t>14</a:t>
                      </a:r>
                    </a:p>
                  </a:txBody>
                  <a:tcPr anchor="ctr" marL="73152" marR="73152" marT="18288" marB="18288">
                    <a:solidFill>
                      <a:srgbClr val="ECEBFD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61E33"/>
                          </a:solidFill>
                          <a:latin typeface="Liberation Sans"/>
                        </a:rPr>
                        <a:t>3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61E33"/>
                          </a:solidFill>
                          <a:latin typeface="Liberation Sans"/>
                        </a:rPr>
                        <a:t>O que mudou para quem escreve software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61E33"/>
                          </a:solidFill>
                          <a:latin typeface="Liberation Sans"/>
                        </a:rPr>
                        <a:t>2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61E33"/>
                          </a:solidFill>
                          <a:latin typeface="Liberation Sans"/>
                        </a:rPr>
                        <a:t>4</a:t>
                      </a:r>
                    </a:p>
                  </a:txBody>
                  <a:tcPr anchor="ctr" marL="73152" marR="73152" marT="18288" marB="18288">
                    <a:solidFill>
                      <a:srgbClr val="ECEB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61E33"/>
                          </a:solidFill>
                          <a:latin typeface="Liberation Sans"/>
                        </a:rPr>
                        <a:t>Engenharia de contexto e RAG</a:t>
                      </a:r>
                    </a:p>
                  </a:txBody>
                  <a:tcPr anchor="ctr" marL="73152" marR="73152" marT="18288" marB="18288">
                    <a:solidFill>
                      <a:srgbClr val="ECEB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61E33"/>
                          </a:solidFill>
                          <a:latin typeface="Liberation Sans"/>
                        </a:rPr>
                        <a:t>8</a:t>
                      </a:r>
                    </a:p>
                  </a:txBody>
                  <a:tcPr anchor="ctr" marL="73152" marR="73152" marT="18288" marB="18288">
                    <a:solidFill>
                      <a:srgbClr val="ECEBFD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61E33"/>
                          </a:solidFill>
                          <a:latin typeface="Liberation Sans"/>
                        </a:rPr>
                        <a:t>5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61E33"/>
                          </a:solidFill>
                          <a:latin typeface="Liberation Sans"/>
                        </a:rPr>
                        <a:t>Agentes: anatomia, ferramentas, padrões, falhas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61E33"/>
                          </a:solidFill>
                          <a:latin typeface="Liberation Sans"/>
                        </a:rPr>
                        <a:t>14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61E33"/>
                          </a:solidFill>
                          <a:latin typeface="Liberation Sans"/>
                        </a:rPr>
                        <a:t>6</a:t>
                      </a:r>
                    </a:p>
                  </a:txBody>
                  <a:tcPr anchor="ctr" marL="73152" marR="73152" marT="18288" marB="18288">
                    <a:solidFill>
                      <a:srgbClr val="ECEB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61E33"/>
                          </a:solidFill>
                          <a:latin typeface="Liberation Sans"/>
                        </a:rPr>
                        <a:t>Protocolos e formatos de interoperabilidade</a:t>
                      </a:r>
                    </a:p>
                  </a:txBody>
                  <a:tcPr anchor="ctr" marL="73152" marR="73152" marT="18288" marB="18288">
                    <a:solidFill>
                      <a:srgbClr val="ECEB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61E33"/>
                          </a:solidFill>
                          <a:latin typeface="Liberation Sans"/>
                        </a:rPr>
                        <a:t>7,5</a:t>
                      </a:r>
                    </a:p>
                  </a:txBody>
                  <a:tcPr anchor="ctr" marL="73152" marR="73152" marT="18288" marB="18288">
                    <a:solidFill>
                      <a:srgbClr val="ECEBFD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4F46E5"/>
                          </a:solidFill>
                          <a:latin typeface="Liberation Sans"/>
                        </a:rPr>
                        <a:t>9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4F46E5"/>
                          </a:solidFill>
                          <a:latin typeface="Liberation Sans"/>
                        </a:rPr>
                        <a:t>DESENVOLVIMENTO ORIENTADO A ESPECIFICAÇÃO (SDD)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61E33"/>
                          </a:solidFill>
                          <a:latin typeface="Liberation Sans"/>
                        </a:rPr>
                        <a:t>19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4F46E5"/>
                          </a:solidFill>
                          <a:latin typeface="Liberation Sans"/>
                        </a:rPr>
                        <a:t>11</a:t>
                      </a:r>
                    </a:p>
                  </a:txBody>
                  <a:tcPr anchor="ctr" marL="73152" marR="73152" marT="18288" marB="18288">
                    <a:solidFill>
                      <a:srgbClr val="ECEB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4F46E5"/>
                          </a:solidFill>
                          <a:latin typeface="Liberation Sans"/>
                        </a:rPr>
                        <a:t>OS SISTEMAS: LangNet, demonstração, AI Co-Scientist, Redes de Petri</a:t>
                      </a:r>
                    </a:p>
                  </a:txBody>
                  <a:tcPr anchor="ctr" marL="73152" marR="73152" marT="18288" marB="18288">
                    <a:solidFill>
                      <a:srgbClr val="ECEB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61E33"/>
                          </a:solidFill>
                          <a:latin typeface="Liberation Sans"/>
                        </a:rPr>
                        <a:t>15,5</a:t>
                      </a:r>
                    </a:p>
                  </a:txBody>
                  <a:tcPr anchor="ctr" marL="73152" marR="73152" marT="18288" marB="18288">
                    <a:solidFill>
                      <a:srgbClr val="ECEBFD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823960" y="1828800"/>
            <a:ext cx="2834640" cy="1188720"/>
          </a:xfrm>
          <a:prstGeom prst="roundRect">
            <a:avLst>
              <a:gd name="adj" fmla="val 9000"/>
            </a:avLst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23960" y="1828800"/>
            <a:ext cx="109728" cy="1188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1938528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4F46E5"/>
                </a:solidFill>
                <a:latin typeface="Liberation Sans"/>
              </a:rPr>
              <a:t>①  </a:t>
            </a:r>
            <a:r>
              <a:rPr sz="1900" b="1" i="0">
                <a:solidFill>
                  <a:srgbClr val="4F46E5"/>
                </a:solidFill>
                <a:latin typeface="Liberation Sans"/>
              </a:rPr>
              <a:t>LLMs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6840" y="2450592"/>
            <a:ext cx="2560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61E33"/>
                </a:solidFill>
                <a:latin typeface="Liberation Sans"/>
              </a:rPr>
              <a:t>o motor: o que o modelo é e o que não 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3154680"/>
            <a:ext cx="2834640" cy="1188720"/>
          </a:xfrm>
          <a:prstGeom prst="roundRect">
            <a:avLst>
              <a:gd name="adj" fmla="val 9000"/>
            </a:avLst>
          </a:prstGeom>
          <a:solidFill>
            <a:srgbClr val="F2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23960" y="3154680"/>
            <a:ext cx="109728" cy="1188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3264408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7C3AED"/>
                </a:solidFill>
                <a:latin typeface="Liberation Sans"/>
              </a:rPr>
              <a:t>②  </a:t>
            </a:r>
            <a:r>
              <a:rPr sz="1900" b="1" i="0">
                <a:solidFill>
                  <a:srgbClr val="7C3AED"/>
                </a:solidFill>
                <a:latin typeface="Liberation Sans"/>
              </a:rPr>
              <a:t>SDD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3776472"/>
            <a:ext cx="2560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61E33"/>
                </a:solidFill>
                <a:latin typeface="Liberation Sans"/>
              </a:rPr>
              <a:t>o método: especificar e verificar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4480560"/>
            <a:ext cx="2834640" cy="1188720"/>
          </a:xfrm>
          <a:prstGeom prst="roundRect">
            <a:avLst>
              <a:gd name="adj" fmla="val 9000"/>
            </a:avLst>
          </a:prstGeom>
          <a:solidFill>
            <a:srgbClr val="E3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23960" y="4480560"/>
            <a:ext cx="109728" cy="1188720"/>
          </a:xfrm>
          <a:prstGeom prst="rect">
            <a:avLst/>
          </a:prstGeom>
          <a:solidFill>
            <a:srgbClr val="028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4590288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283C9"/>
                </a:solidFill>
                <a:latin typeface="Liberation Sans"/>
              </a:rPr>
              <a:t>③  </a:t>
            </a:r>
            <a:r>
              <a:rPr sz="1900" b="1" i="0">
                <a:solidFill>
                  <a:srgbClr val="0283C9"/>
                </a:solidFill>
                <a:latin typeface="Liberation Sans"/>
              </a:rPr>
              <a:t>Sistemas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5102352"/>
            <a:ext cx="2560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61E33"/>
                </a:solidFill>
                <a:latin typeface="Liberation Sans"/>
              </a:rPr>
              <a:t>a prova: nossos sistemas rodando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4F46E5"/>
                </a:solidFill>
                <a:latin typeface="Liberation Sans"/>
              </a:rPr>
              <a:t>02 / 70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234793" cy="40233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23479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0 · ABERTURA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A tese central da palestra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7A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11094415" cy="1371600"/>
          </a:xfrm>
          <a:prstGeom prst="roundRect">
            <a:avLst>
              <a:gd name="adj" fmla="val 6000"/>
            </a:avLst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46304" cy="13716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74519"/>
            <a:ext cx="10271455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 i="0">
                <a:solidFill>
                  <a:srgbClr val="4F46E5"/>
                </a:solidFill>
                <a:latin typeface="Liberation Sans"/>
              </a:rPr>
              <a:t>“O gargalo deixou de ser escrever código.  </a:t>
            </a:r>
            <a:r>
              <a:rPr sz="2500" b="1" i="0">
                <a:solidFill>
                  <a:srgbClr val="0283C9"/>
                </a:solidFill>
                <a:latin typeface="Liberation Sans"/>
              </a:rPr>
              <a:t>Passou a ser especificar e verificar.”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520440"/>
            <a:ext cx="11094415" cy="859536"/>
          </a:xfrm>
          <a:prstGeom prst="roundRect">
            <a:avLst>
              <a:gd name="adj" fmla="val 10000"/>
            </a:avLst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520440"/>
            <a:ext cx="109728" cy="85953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520440"/>
            <a:ext cx="10545775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4F46E5"/>
                </a:solidFill>
                <a:latin typeface="Liberation Sans"/>
              </a:rPr>
              <a:t>Capacidade virou mercadoria comum (commodity).</a:t>
            </a:r>
            <a:r>
              <a:rPr sz="1750" b="0" i="0">
                <a:solidFill>
                  <a:srgbClr val="161E33"/>
                </a:solidFill>
                <a:latin typeface="Liberation Sans"/>
              </a:rPr>
              <a:t>  Qualquer um chama uma API e gera código; o que separa os times é o método — não o acesso ao modelo.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507992"/>
            <a:ext cx="11094415" cy="859536"/>
          </a:xfrm>
          <a:prstGeom prst="roundRect">
            <a:avLst>
              <a:gd name="adj" fmla="val 10000"/>
            </a:avLst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507992"/>
            <a:ext cx="109728" cy="85953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507992"/>
            <a:ext cx="10545775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4F46E5"/>
                </a:solidFill>
                <a:latin typeface="Liberation Sans"/>
              </a:rPr>
              <a:t>Agente sem portão de verificação degrada de forma previsível.</a:t>
            </a:r>
            <a:r>
              <a:rPr sz="1750" b="0" i="0">
                <a:solidFill>
                  <a:srgbClr val="161E33"/>
                </a:solidFill>
                <a:latin typeface="Liberation Sans"/>
              </a:rPr>
              <a:t>  Sem um “gate” (portão que confere cada passo), a taxa de erro cai de um jeito que a matemática prevê — mostramos a curva no S28.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495544"/>
            <a:ext cx="11094415" cy="859536"/>
          </a:xfrm>
          <a:prstGeom prst="roundRect">
            <a:avLst>
              <a:gd name="adj" fmla="val 10000"/>
            </a:avLst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495544"/>
            <a:ext cx="109728" cy="85953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495544"/>
            <a:ext cx="10545775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4F46E5"/>
                </a:solidFill>
                <a:latin typeface="Liberation Sans"/>
              </a:rPr>
              <a:t>Especificação executável é o que torna código de IA auditável.</a:t>
            </a:r>
            <a:r>
              <a:rPr sz="1750" b="0" i="0">
                <a:solidFill>
                  <a:srgbClr val="161E33"/>
                </a:solidFill>
                <a:latin typeface="Liberation Sans"/>
              </a:rPr>
              <a:t>  Condição inegociável em software de saúde: sem spec verificável, não há como provar conformidade.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4F46E5"/>
                </a:solidFill>
                <a:latin typeface="Liberation Sans"/>
              </a:rPr>
              <a:t>03 / 70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827324" cy="40233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82732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1 · LINHA DO TEMPO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Do Perceptron ao desenvolvimento agêntico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9B6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4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537" y="1783080"/>
            <a:ext cx="8714619" cy="46177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7C3AED"/>
                </a:solidFill>
                <a:latin typeface="Liberation Sans"/>
              </a:rPr>
              <a:t>04 / 70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3321100" cy="40233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33211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1 · IA NA ÁREA DE VOCÊS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IA na saúde (1/3) — Prognóstico e avaliação de risco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9B6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161E33"/>
                </a:solidFill>
                <a:latin typeface="Liberation Sans"/>
              </a:rPr>
              <a:t>Prognóstico = </a:t>
            </a:r>
            <a:r>
              <a:rPr sz="1450" b="1" i="0">
                <a:solidFill>
                  <a:srgbClr val="7C3AED"/>
                </a:solidFill>
                <a:latin typeface="Liberation Sans"/>
              </a:rPr>
              <a:t>prever o risco de um evento futuro</a:t>
            </a:r>
            <a:r>
              <a:rPr sz="1450" b="0" i="0">
                <a:solidFill>
                  <a:srgbClr val="161E33"/>
                </a:solidFill>
                <a:latin typeface="Liberation Sans"/>
              </a:rPr>
              <a:t> (adoecer, agravar, morrer). A IA já fazia isto sobre tabelas; agora, lendo o </a:t>
            </a:r>
            <a:r>
              <a:rPr sz="1450" b="1" i="0">
                <a:solidFill>
                  <a:srgbClr val="7C3AED"/>
                </a:solidFill>
                <a:latin typeface="Liberation Sans"/>
              </a:rPr>
              <a:t>texto livre do prontuário</a:t>
            </a:r>
            <a:r>
              <a:rPr sz="1450" b="0" i="0">
                <a:solidFill>
                  <a:srgbClr val="161E33"/>
                </a:solidFill>
                <a:latin typeface="Liberation Sans"/>
              </a:rPr>
              <a:t>, passa a fazê-lo sobre a narrativa clínica.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395728"/>
          <a:ext cx="11094415" cy="2660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443484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Liberation Sans"/>
                        </a:rPr>
                        <a:t>Algoritmo (nome por extenso)</a:t>
                      </a:r>
                    </a:p>
                  </a:txBody>
                  <a:tcPr anchor="ctr" marL="73152" marR="73152" marT="27432" marB="27432">
                    <a:solidFill>
                      <a:srgbClr val="7C3A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Liberation Sans"/>
                        </a:rPr>
                        <a:t>O que faz — para que serve</a:t>
                      </a:r>
                    </a:p>
                  </a:txBody>
                  <a:tcPr anchor="ctr" marL="73152" marR="73152" marT="27432" marB="27432">
                    <a:solidFill>
                      <a:srgbClr val="7C3A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Liberation Sans"/>
                        </a:rPr>
                        <a:t>Onde entra na infectologia (IRAS)</a:t>
                      </a:r>
                    </a:p>
                  </a:txBody>
                  <a:tcPr anchor="ctr" marL="73152" marR="73152" marT="27432" marB="27432">
                    <a:solidFill>
                      <a:srgbClr val="7C3AED"/>
                    </a:solidFill>
                  </a:tcPr>
                </a:tc>
              </a:tr>
              <a:tr h="4434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7C3AED"/>
                          </a:solidFill>
                          <a:latin typeface="Liberation Sans"/>
                        </a:rPr>
                        <a:t>Escore de Risco</a:t>
                      </a:r>
                    </a:p>
                  </a:txBody>
                  <a:tcPr anchor="ctr" marL="73152" marR="73152" marT="18288" marB="18288">
                    <a:solidFill>
                      <a:srgbClr val="F2EA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61E33"/>
                          </a:solidFill>
                          <a:latin typeface="Liberation Sans"/>
                        </a:rPr>
                        <a:t>Soma ponderada dos fatores do paciente e devolve um número que estima o risco.</a:t>
                      </a:r>
                    </a:p>
                  </a:txBody>
                  <a:tcPr anchor="ctr" marL="73152" marR="73152" marT="18288" marB="18288">
                    <a:solidFill>
                      <a:srgbClr val="F2EA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61E33"/>
                          </a:solidFill>
                          <a:latin typeface="Liberation Sans"/>
                        </a:rPr>
                        <a:t>Risco de infecção por paciente (sítio cirúrgico, corrente sanguínea) a partir de dispositivos, tempo de internação e comorbidades.</a:t>
                      </a:r>
                    </a:p>
                  </a:txBody>
                  <a:tcPr anchor="ctr" marL="73152" marR="73152" marT="18288" marB="18288">
                    <a:solidFill>
                      <a:srgbClr val="F2EAFE"/>
                    </a:solidFill>
                  </a:tcPr>
                </a:tc>
              </a:tr>
              <a:tr h="4434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7C3AED"/>
                          </a:solidFill>
                          <a:latin typeface="Liberation Sans"/>
                        </a:rPr>
                        <a:t>Regressão Logística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61E33"/>
                          </a:solidFill>
                          <a:latin typeface="Liberation Sans"/>
                        </a:rPr>
                        <a:t>Traça a fronteira que separa 'o evento vai ocorrer' de 'não vai'.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61E33"/>
                          </a:solidFill>
                          <a:latin typeface="Liberation Sans"/>
                        </a:rPr>
                        <a:t>Classificar quem tem alto risco de infectar e priorizar a vigilância ativa.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434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7C3AED"/>
                          </a:solidFill>
                          <a:latin typeface="Liberation Sans"/>
                        </a:rPr>
                        <a:t>Análise de Sobrevivência</a:t>
                      </a:r>
                    </a:p>
                  </a:txBody>
                  <a:tcPr anchor="ctr" marL="73152" marR="73152" marT="18288" marB="18288">
                    <a:solidFill>
                      <a:srgbClr val="F2EA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61E33"/>
                          </a:solidFill>
                          <a:latin typeface="Liberation Sans"/>
                        </a:rPr>
                        <a:t>Modela o tempo até o evento e o risco instantâneo (função de perigo) ao longo do tempo.</a:t>
                      </a:r>
                    </a:p>
                  </a:txBody>
                  <a:tcPr anchor="ctr" marL="73152" marR="73152" marT="18288" marB="18288">
                    <a:solidFill>
                      <a:srgbClr val="F2EA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61E33"/>
                          </a:solidFill>
                          <a:latin typeface="Liberation Sans"/>
                        </a:rPr>
                        <a:t>Tempo até a infecção associada a dispositivo (por dia de cateter, sonda ou ventilador).</a:t>
                      </a:r>
                    </a:p>
                  </a:txBody>
                  <a:tcPr anchor="ctr" marL="73152" marR="73152" marT="18288" marB="18288">
                    <a:solidFill>
                      <a:srgbClr val="F2EAFE"/>
                    </a:solidFill>
                  </a:tcPr>
                </a:tc>
              </a:tr>
              <a:tr h="4434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7C3AED"/>
                          </a:solidFill>
                          <a:latin typeface="Liberation Sans"/>
                        </a:rPr>
                        <a:t>Modelo de Perigos Proporcionais de Cox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61E33"/>
                          </a:solidFill>
                          <a:latin typeface="Liberation Sans"/>
                        </a:rPr>
                        <a:t>Mede quanto cada fator multiplica o risco (ex.: fumar aumenta o risco em 9%).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61E33"/>
                          </a:solidFill>
                          <a:latin typeface="Liberation Sans"/>
                        </a:rPr>
                        <a:t>Quanto cada fator (dias de dispositivo, UTI, idade) multiplica o risco — alvo dos pacotes de prevenção.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434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7C3AED"/>
                          </a:solidFill>
                          <a:latin typeface="Liberation Sans"/>
                        </a:rPr>
                        <a:t>Índice de Concordância (C-Index)</a:t>
                      </a:r>
                    </a:p>
                  </a:txBody>
                  <a:tcPr anchor="ctr" marL="73152" marR="73152" marT="18288" marB="18288">
                    <a:solidFill>
                      <a:srgbClr val="F2EA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61E33"/>
                          </a:solidFill>
                          <a:latin typeface="Liberation Sans"/>
                        </a:rPr>
                        <a:t>Avalia se o escore de risco discrimina bem (0,5 = acaso; 1,0 = perfeito).</a:t>
                      </a:r>
                    </a:p>
                  </a:txBody>
                  <a:tcPr anchor="ctr" marL="73152" marR="73152" marT="18288" marB="18288">
                    <a:solidFill>
                      <a:srgbClr val="F2EA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61E33"/>
                          </a:solidFill>
                          <a:latin typeface="Liberation Sans"/>
                        </a:rPr>
                        <a:t>Validar se o escore de risco de infecção realmente separa quem vai infectar de quem não vai.</a:t>
                      </a:r>
                    </a:p>
                  </a:txBody>
                  <a:tcPr anchor="ctr" marL="73152" marR="73152" marT="18288" marB="18288">
                    <a:solidFill>
                      <a:srgbClr val="F2EAFE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7C3AED"/>
                </a:solidFill>
                <a:latin typeface="Liberation Sans"/>
              </a:rPr>
              <a:t>05 / 70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3321100" cy="40233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33211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1 · IA NA ÁREA DE VOCÊS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IA na saúde (2/3) — Diagnóstico de doenças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9B6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161E33"/>
                </a:solidFill>
                <a:latin typeface="Liberation Sans"/>
              </a:rPr>
              <a:t>Diagnóstico = </a:t>
            </a:r>
            <a:r>
              <a:rPr sz="1450" b="1" i="0">
                <a:solidFill>
                  <a:srgbClr val="7C3AED"/>
                </a:solidFill>
                <a:latin typeface="Liberation Sans"/>
              </a:rPr>
              <a:t>dizer se a doença está presente agora</a:t>
            </a:r>
            <a:r>
              <a:rPr sz="1450" b="0" i="0">
                <a:solidFill>
                  <a:srgbClr val="161E33"/>
                </a:solidFill>
                <a:latin typeface="Liberation Sans"/>
              </a:rPr>
              <a:t> — um problema de classificação, sobre imagens ou sobre exames.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304288"/>
          <a:ext cx="11094415" cy="3081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44021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Liberation Sans"/>
                        </a:rPr>
                        <a:t>Algoritmo (nome por extenso)</a:t>
                      </a:r>
                    </a:p>
                  </a:txBody>
                  <a:tcPr anchor="ctr" marL="73152" marR="73152" marT="27432" marB="27432">
                    <a:solidFill>
                      <a:srgbClr val="7C3A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Liberation Sans"/>
                        </a:rPr>
                        <a:t>O que faz — para que serve</a:t>
                      </a:r>
                    </a:p>
                  </a:txBody>
                  <a:tcPr anchor="ctr" marL="73152" marR="73152" marT="27432" marB="27432">
                    <a:solidFill>
                      <a:srgbClr val="7C3A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Liberation Sans"/>
                        </a:rPr>
                        <a:t>Onde entra na infectologia (IRAS)</a:t>
                      </a:r>
                    </a:p>
                  </a:txBody>
                  <a:tcPr anchor="ctr" marL="73152" marR="73152" marT="27432" marB="27432">
                    <a:solidFill>
                      <a:srgbClr val="7C3AED"/>
                    </a:solidFill>
                  </a:tcPr>
                </a:tc>
              </a:tr>
              <a:tr h="44021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7C3AED"/>
                          </a:solidFill>
                          <a:latin typeface="Liberation Sans"/>
                        </a:rPr>
                        <a:t>Rede Neural Convolucional</a:t>
                      </a:r>
                    </a:p>
                  </a:txBody>
                  <a:tcPr anchor="ctr" marL="73152" marR="73152" marT="18288" marB="18288">
                    <a:solidFill>
                      <a:srgbClr val="F2EA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61E33"/>
                          </a:solidFill>
                          <a:latin typeface="Liberation Sans"/>
                        </a:rPr>
                        <a:t>Aprende padrões em imagens e classifica (ex.: COVID-19 em tomografia; achados em raio-X).</a:t>
                      </a:r>
                    </a:p>
                  </a:txBody>
                  <a:tcPr anchor="ctr" marL="73152" marR="73152" marT="18288" marB="18288">
                    <a:solidFill>
                      <a:srgbClr val="F2EA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61E33"/>
                          </a:solidFill>
                          <a:latin typeface="Liberation Sans"/>
                        </a:rPr>
                        <a:t>Ler raio-X / tomografia de pneumonia associada à ventilação; triagem automática de imagem.</a:t>
                      </a:r>
                    </a:p>
                  </a:txBody>
                  <a:tcPr anchor="ctr" marL="73152" marR="73152" marT="18288" marB="18288">
                    <a:solidFill>
                      <a:srgbClr val="F2EAFE"/>
                    </a:solidFill>
                  </a:tcPr>
                </a:tc>
              </a:tr>
              <a:tr h="44021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7C3AED"/>
                          </a:solidFill>
                          <a:latin typeface="Liberation Sans"/>
                        </a:rPr>
                        <a:t>Rede U-Net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61E33"/>
                          </a:solidFill>
                          <a:latin typeface="Liberation Sans"/>
                        </a:rPr>
                        <a:t>Segmenta a imagem — delimita e mede a lesão ou a estrutura de interesse.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61E33"/>
                          </a:solidFill>
                          <a:latin typeface="Liberation Sans"/>
                        </a:rPr>
                        <a:t>Localizar e medir consolidações pulmonares; segmentar o achado radiológico para acompanhar.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4021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7C3AED"/>
                          </a:solidFill>
                          <a:latin typeface="Liberation Sans"/>
                        </a:rPr>
                        <a:t>Florestas Aleatórias</a:t>
                      </a:r>
                    </a:p>
                  </a:txBody>
                  <a:tcPr anchor="ctr" marL="73152" marR="73152" marT="18288" marB="18288">
                    <a:solidFill>
                      <a:srgbClr val="F2EA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61E33"/>
                          </a:solidFill>
                          <a:latin typeface="Liberation Sans"/>
                        </a:rPr>
                        <a:t>Combina muitas árvores de decisão para classificar a partir de exames em tabela.</a:t>
                      </a:r>
                    </a:p>
                  </a:txBody>
                  <a:tcPr anchor="ctr" marL="73152" marR="73152" marT="18288" marB="18288">
                    <a:solidFill>
                      <a:srgbClr val="F2EA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61E33"/>
                          </a:solidFill>
                          <a:latin typeface="Liberation Sans"/>
                        </a:rPr>
                        <a:t>Prever multirresistência a partir do perfil do paciente e da microbiologia.</a:t>
                      </a:r>
                    </a:p>
                  </a:txBody>
                  <a:tcPr anchor="ctr" marL="73152" marR="73152" marT="18288" marB="18288">
                    <a:solidFill>
                      <a:srgbClr val="F2EAFE"/>
                    </a:solidFill>
                  </a:tcPr>
                </a:tc>
              </a:tr>
              <a:tr h="44021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7C3AED"/>
                          </a:solidFill>
                          <a:latin typeface="Liberation Sans"/>
                        </a:rPr>
                        <a:t>Máquinas de Vetores de Suporte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61E33"/>
                          </a:solidFill>
                          <a:latin typeface="Liberation Sans"/>
                        </a:rPr>
                        <a:t>Separa as classes pela melhor fronteira possível entre os dados.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61E33"/>
                          </a:solidFill>
                          <a:latin typeface="Liberation Sans"/>
                        </a:rPr>
                        <a:t>Classificar culturas (positiva/negativa, resistente/sensível) a partir dos exames.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4021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7C3AED"/>
                          </a:solidFill>
                          <a:latin typeface="Liberation Sans"/>
                        </a:rPr>
                        <a:t>K-Vizinhos Mais Próximos</a:t>
                      </a:r>
                    </a:p>
                  </a:txBody>
                  <a:tcPr anchor="ctr" marL="73152" marR="73152" marT="18288" marB="18288">
                    <a:solidFill>
                      <a:srgbClr val="F2EA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61E33"/>
                          </a:solidFill>
                          <a:latin typeface="Liberation Sans"/>
                        </a:rPr>
                        <a:t>Classifica um caso pelo que é mais parecido entre os casos vizinhos conhecidos.</a:t>
                      </a:r>
                    </a:p>
                  </a:txBody>
                  <a:tcPr anchor="ctr" marL="73152" marR="73152" marT="18288" marB="18288">
                    <a:solidFill>
                      <a:srgbClr val="F2EA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61E33"/>
                          </a:solidFill>
                          <a:latin typeface="Liberation Sans"/>
                        </a:rPr>
                        <a:t>Sugerir o patógeno provável por semelhança com casos anteriores da própria base.</a:t>
                      </a:r>
                    </a:p>
                  </a:txBody>
                  <a:tcPr anchor="ctr" marL="73152" marR="73152" marT="18288" marB="18288">
                    <a:solidFill>
                      <a:srgbClr val="F2EAFE"/>
                    </a:solidFill>
                  </a:tcPr>
                </a:tc>
              </a:tr>
              <a:tr h="4402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7C3AED"/>
                          </a:solidFill>
                          <a:latin typeface="Liberation Sans"/>
                        </a:rPr>
                        <a:t>Árvore de Decisão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61E33"/>
                          </a:solidFill>
                          <a:latin typeface="Liberation Sans"/>
                        </a:rPr>
                        <a:t>Encadeia perguntas sobre os exames até chegar a uma conclusão — regras legíveis.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61E33"/>
                          </a:solidFill>
                          <a:latin typeface="Liberation Sans"/>
                        </a:rPr>
                        <a:t>Materializar as definições de caso (encadeamento de critérios) de forma auditável.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7C3AED"/>
                </a:solidFill>
                <a:latin typeface="Liberation Sans"/>
              </a:rPr>
              <a:t>06 / 70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3321100" cy="40233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33211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1 · IA NA ÁREA DE VOCÊS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IA na saúde (3/3) — Tratamento de doenças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9B6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161E33"/>
                </a:solidFill>
                <a:latin typeface="Liberation Sans"/>
              </a:rPr>
              <a:t>Tratamento = </a:t>
            </a:r>
            <a:r>
              <a:rPr sz="1450" b="1" i="0">
                <a:solidFill>
                  <a:srgbClr val="7C3AED"/>
                </a:solidFill>
                <a:latin typeface="Liberation Sans"/>
              </a:rPr>
              <a:t>medir o efeito real de uma intervenção</a:t>
            </a:r>
            <a:r>
              <a:rPr sz="1450" b="0" i="0">
                <a:solidFill>
                  <a:srgbClr val="161E33"/>
                </a:solidFill>
                <a:latin typeface="Liberation Sans"/>
              </a:rPr>
              <a:t> — o terreno da inferência causal, e não só da correlação.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395728"/>
          <a:ext cx="11094415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448056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Liberation Sans"/>
                        </a:rPr>
                        <a:t>Algoritmo / método (nome por extenso)</a:t>
                      </a:r>
                    </a:p>
                  </a:txBody>
                  <a:tcPr anchor="ctr" marL="73152" marR="73152" marT="27432" marB="27432">
                    <a:solidFill>
                      <a:srgbClr val="7C3A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Liberation Sans"/>
                        </a:rPr>
                        <a:t>O que faz — para que serve</a:t>
                      </a:r>
                    </a:p>
                  </a:txBody>
                  <a:tcPr anchor="ctr" marL="73152" marR="73152" marT="27432" marB="27432">
                    <a:solidFill>
                      <a:srgbClr val="7C3A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Liberation Sans"/>
                        </a:rPr>
                        <a:t>Onde entra na infectologia (IRAS)</a:t>
                      </a:r>
                    </a:p>
                  </a:txBody>
                  <a:tcPr anchor="ctr" marL="73152" marR="73152" marT="27432" marB="27432">
                    <a:solidFill>
                      <a:srgbClr val="7C3AED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7C3AED"/>
                          </a:solidFill>
                          <a:latin typeface="Liberation Sans"/>
                        </a:rPr>
                        <a:t>Ensaio Clínico Randomizado</a:t>
                      </a:r>
                    </a:p>
                  </a:txBody>
                  <a:tcPr anchor="ctr" marL="73152" marR="73152" marT="18288" marB="18288">
                    <a:solidFill>
                      <a:srgbClr val="F2EA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61E33"/>
                          </a:solidFill>
                          <a:latin typeface="Liberation Sans"/>
                        </a:rPr>
                        <a:t>Aloca pacientes por sorteio em tratamento e controle e compara os desfechos.</a:t>
                      </a:r>
                    </a:p>
                  </a:txBody>
                  <a:tcPr anchor="ctr" marL="73152" marR="73152" marT="18288" marB="18288">
                    <a:solidFill>
                      <a:srgbClr val="F2EA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61E33"/>
                          </a:solidFill>
                          <a:latin typeface="Liberation Sans"/>
                        </a:rPr>
                        <a:t>Provar, sem viés, se um pacote de prevenção ou um protocolo reduz a taxa de infecção.</a:t>
                      </a:r>
                    </a:p>
                  </a:txBody>
                  <a:tcPr anchor="ctr" marL="73152" marR="73152" marT="18288" marB="18288">
                    <a:solidFill>
                      <a:srgbClr val="F2EAFE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7C3AED"/>
                          </a:solidFill>
                          <a:latin typeface="Liberation Sans"/>
                        </a:rPr>
                        <a:t>Redução de Risco Absoluta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61E33"/>
                          </a:solidFill>
                          <a:latin typeface="Liberation Sans"/>
                        </a:rPr>
                        <a:t>Diferença entre o risco de quem recebeu o tratamento e o de quem não recebeu.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61E33"/>
                          </a:solidFill>
                          <a:latin typeface="Liberation Sans"/>
                        </a:rPr>
                        <a:t>Quanto um bundle ou uma precaução reduz, em pontos, a taxa de infecção.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7C3AED"/>
                          </a:solidFill>
                          <a:latin typeface="Liberation Sans"/>
                        </a:rPr>
                        <a:t>Inferência Causal (Modelo Causal de Neyman-Rubin)</a:t>
                      </a:r>
                    </a:p>
                  </a:txBody>
                  <a:tcPr anchor="ctr" marL="73152" marR="73152" marT="18288" marB="18288">
                    <a:solidFill>
                      <a:srgbClr val="F2EA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61E33"/>
                          </a:solidFill>
                          <a:latin typeface="Liberation Sans"/>
                        </a:rPr>
                        <a:t>Estima o efeito real de tratar comparando o resultado com e sem o tratamento.</a:t>
                      </a:r>
                    </a:p>
                  </a:txBody>
                  <a:tcPr anchor="ctr" marL="73152" marR="73152" marT="18288" marB="18288">
                    <a:solidFill>
                      <a:srgbClr val="F2EA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61E33"/>
                          </a:solidFill>
                          <a:latin typeface="Liberation Sans"/>
                        </a:rPr>
                        <a:t>Efeito real do controle de antimicrobianos (stewardship) sobre a resistência, controlando confundidores.</a:t>
                      </a:r>
                    </a:p>
                  </a:txBody>
                  <a:tcPr anchor="ctr" marL="73152" marR="73152" marT="18288" marB="18288">
                    <a:solidFill>
                      <a:srgbClr val="F2EAFE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7C3AED"/>
                          </a:solidFill>
                          <a:latin typeface="Liberation Sans"/>
                        </a:rPr>
                        <a:t>Efeito Médio do Tratamento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61E33"/>
                          </a:solidFill>
                          <a:latin typeface="Liberation Sans"/>
                        </a:rPr>
                        <a:t>A média, na população, da diferença entre tratar e não tratar (ex.: vacina reduziu o risco em 0,2).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61E33"/>
                          </a:solidFill>
                          <a:latin typeface="Liberation Sans"/>
                        </a:rPr>
                        <a:t>Efeito médio de uma política de higienização ou isolamento sobre a incidência de IRAS.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48640" y="5166360"/>
            <a:ext cx="11094415" cy="868680"/>
          </a:xfrm>
          <a:prstGeom prst="roundRect">
            <a:avLst>
              <a:gd name="adj" fmla="val 8000"/>
            </a:avLst>
          </a:prstGeom>
          <a:solidFill>
            <a:srgbClr val="F2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166360"/>
            <a:ext cx="109728" cy="868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166360"/>
            <a:ext cx="1050005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161E33"/>
                </a:solidFill>
                <a:latin typeface="Liberation Sans"/>
              </a:rPr>
              <a:t>Estes algoritmos já existem; o que muda no </a:t>
            </a:r>
            <a:r>
              <a:rPr sz="1550" b="1" i="0">
                <a:solidFill>
                  <a:srgbClr val="7C3AED"/>
                </a:solidFill>
                <a:latin typeface="Liberation Sans"/>
              </a:rPr>
              <a:t>software de vocês</a:t>
            </a:r>
            <a:r>
              <a:rPr sz="1550" b="0" i="0">
                <a:solidFill>
                  <a:srgbClr val="161E33"/>
                </a:solidFill>
                <a:latin typeface="Liberation Sans"/>
              </a:rPr>
              <a:t> é rodá-los sobre o texto livre e mantê-los </a:t>
            </a:r>
            <a:r>
              <a:rPr sz="1550" b="1" i="0">
                <a:solidFill>
                  <a:srgbClr val="7C3AED"/>
                </a:solidFill>
                <a:latin typeface="Liberation Sans"/>
              </a:rPr>
              <a:t>auditáveis e rastreáveis</a:t>
            </a:r>
            <a:r>
              <a:rPr sz="1550" b="0" i="0">
                <a:solidFill>
                  <a:srgbClr val="161E33"/>
                </a:solidFill>
                <a:latin typeface="Liberation Sans"/>
              </a:rPr>
              <a:t> — o diferencial em saúde.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7C3AED"/>
                </a:solidFill>
                <a:latin typeface="Liberation Sans"/>
              </a:rPr>
              <a:t>07 / 70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28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839772" cy="402336"/>
          </a:xfrm>
          <a:prstGeom prst="roundRect">
            <a:avLst>
              <a:gd name="adj" fmla="val 50000"/>
            </a:avLst>
          </a:prstGeom>
          <a:solidFill>
            <a:srgbClr val="028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18397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2 · LLMS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Anatomia do Transformer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38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6_transform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44823"/>
            <a:ext cx="5486400" cy="429423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309360" y="1874519"/>
            <a:ext cx="5333695" cy="1051560"/>
          </a:xfrm>
          <a:prstGeom prst="roundRect">
            <a:avLst>
              <a:gd name="adj" fmla="val 10000"/>
            </a:avLst>
          </a:prstGeom>
          <a:solidFill>
            <a:srgbClr val="E3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874519"/>
            <a:ext cx="109728" cy="1051560"/>
          </a:xfrm>
          <a:prstGeom prst="rect">
            <a:avLst/>
          </a:prstGeom>
          <a:solidFill>
            <a:srgbClr val="028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874519"/>
            <a:ext cx="478505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283C9"/>
                </a:solidFill>
                <a:latin typeface="Liberation Sans"/>
              </a:rPr>
              <a:t>Q, K, V (consulta, chave, valor).</a:t>
            </a:r>
            <a:r>
              <a:rPr sz="1550" b="0" i="0">
                <a:solidFill>
                  <a:srgbClr val="161E33"/>
                </a:solidFill>
                <a:latin typeface="Liberation Sans"/>
              </a:rPr>
              <a:t>  Cada token faz uma pergunta; todos anunciam o que têm; a semelhança decide de quem ele copia informação.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3054096"/>
            <a:ext cx="5333695" cy="1051560"/>
          </a:xfrm>
          <a:prstGeom prst="roundRect">
            <a:avLst>
              <a:gd name="adj" fmla="val 10000"/>
            </a:avLst>
          </a:prstGeom>
          <a:solidFill>
            <a:srgbClr val="E3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3054096"/>
            <a:ext cx="109728" cy="1051560"/>
          </a:xfrm>
          <a:prstGeom prst="rect">
            <a:avLst/>
          </a:prstGeom>
          <a:solidFill>
            <a:srgbClr val="028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3054096"/>
            <a:ext cx="478505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283C9"/>
                </a:solidFill>
                <a:latin typeface="Liberation Sans"/>
              </a:rPr>
              <a:t>Multi-cabeça.</a:t>
            </a:r>
            <a:r>
              <a:rPr sz="1550" b="0" i="0">
                <a:solidFill>
                  <a:srgbClr val="161E33"/>
                </a:solidFill>
                <a:latin typeface="Liberation Sans"/>
              </a:rPr>
              <a:t>  Várias relações capturadas em paralelo, cada cabeça olhando um aspecto diferente.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4233672"/>
            <a:ext cx="5333695" cy="1051560"/>
          </a:xfrm>
          <a:prstGeom prst="roundRect">
            <a:avLst>
              <a:gd name="adj" fmla="val 10000"/>
            </a:avLst>
          </a:prstGeom>
          <a:solidFill>
            <a:srgbClr val="FC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4233672"/>
            <a:ext cx="109728" cy="1051560"/>
          </a:xfrm>
          <a:prstGeom prst="rect">
            <a:avLst/>
          </a:prstGeom>
          <a:solidFill>
            <a:srgbClr val="E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4233672"/>
            <a:ext cx="478505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E06A00"/>
                </a:solidFill>
                <a:latin typeface="Liberation Sans"/>
              </a:rPr>
              <a:t>O ponto de engenharia: a atenção é O(n²).</a:t>
            </a:r>
            <a:r>
              <a:rPr sz="1550" b="0" i="0">
                <a:solidFill>
                  <a:srgbClr val="161E33"/>
                </a:solidFill>
                <a:latin typeface="Liberation Sans"/>
              </a:rPr>
              <a:t>  Custo por token, tamanho da janela e toda a economia de contexto nascem dessa quadrática.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3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028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283C9"/>
                </a:solidFill>
                <a:latin typeface="Liberation Sans"/>
              </a:rPr>
              <a:t>08 / 70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28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839772" cy="402336"/>
          </a:xfrm>
          <a:prstGeom prst="roundRect">
            <a:avLst>
              <a:gd name="adj" fmla="val 50000"/>
            </a:avLst>
          </a:prstGeom>
          <a:solidFill>
            <a:srgbClr val="028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18397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2 · LLMS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Por que o Transformer venceu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38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11094415" cy="1024128"/>
          </a:xfrm>
          <a:prstGeom prst="roundRect">
            <a:avLst>
              <a:gd name="adj" fmla="val 10000"/>
            </a:avLst>
          </a:prstGeom>
          <a:solidFill>
            <a:srgbClr val="E3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09728" cy="1024128"/>
          </a:xfrm>
          <a:prstGeom prst="rect">
            <a:avLst/>
          </a:prstGeom>
          <a:solidFill>
            <a:srgbClr val="028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1054577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283C9"/>
                </a:solidFill>
                <a:latin typeface="Liberation Sans"/>
              </a:rPr>
              <a:t>Recorrência (LSTM) é sequencial no treino.</a:t>
            </a:r>
            <a:r>
              <a:rPr sz="1650" b="0" i="0">
                <a:solidFill>
                  <a:srgbClr val="161E33"/>
                </a:solidFill>
                <a:latin typeface="Liberation Sans"/>
              </a:rPr>
              <a:t>  Uma palavra depois da outra — não aproveita a placa de vídeo.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26664"/>
            <a:ext cx="11094415" cy="1024128"/>
          </a:xfrm>
          <a:prstGeom prst="roundRect">
            <a:avLst>
              <a:gd name="adj" fmla="val 10000"/>
            </a:avLst>
          </a:prstGeom>
          <a:solidFill>
            <a:srgbClr val="E3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026664"/>
            <a:ext cx="109728" cy="1024128"/>
          </a:xfrm>
          <a:prstGeom prst="rect">
            <a:avLst/>
          </a:prstGeom>
          <a:solidFill>
            <a:srgbClr val="028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026664"/>
            <a:ext cx="1054577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283C9"/>
                </a:solidFill>
                <a:latin typeface="Liberation Sans"/>
              </a:rPr>
              <a:t>Atenção é paralelizável.</a:t>
            </a:r>
            <a:r>
              <a:rPr sz="1650" b="0" i="0">
                <a:solidFill>
                  <a:srgbClr val="161E33"/>
                </a:solidFill>
                <a:latin typeface="Liberation Sans"/>
              </a:rPr>
              <a:t>  Todos os tokens de uma vez, na GPU. Foi isso que mudou o jogo.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78808"/>
            <a:ext cx="11094415" cy="1024128"/>
          </a:xfrm>
          <a:prstGeom prst="roundRect">
            <a:avLst>
              <a:gd name="adj" fmla="val 10000"/>
            </a:avLst>
          </a:prstGeom>
          <a:solidFill>
            <a:srgbClr val="E3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178808"/>
            <a:ext cx="109728" cy="1024128"/>
          </a:xfrm>
          <a:prstGeom prst="rect">
            <a:avLst/>
          </a:prstGeom>
          <a:solidFill>
            <a:srgbClr val="028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178808"/>
            <a:ext cx="1054577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283C9"/>
                </a:solidFill>
                <a:latin typeface="Liberation Sans"/>
              </a:rPr>
              <a:t>Não venceu por qualidade por token — venceu por VAZÃO de treinamento.</a:t>
            </a:r>
            <a:r>
              <a:rPr sz="1650" b="0" i="0">
                <a:solidFill>
                  <a:srgbClr val="161E33"/>
                </a:solidFill>
                <a:latin typeface="Liberation Sans"/>
              </a:rPr>
              <a:t>  Deu para treinar modelos muito maiores em tempo viável. Escala, não elegância.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330952"/>
            <a:ext cx="11094415" cy="1024128"/>
          </a:xfrm>
          <a:prstGeom prst="roundRect">
            <a:avLst>
              <a:gd name="adj" fmla="val 10000"/>
            </a:avLst>
          </a:prstGeom>
          <a:solidFill>
            <a:srgbClr val="E3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330952"/>
            <a:ext cx="109728" cy="1024128"/>
          </a:xfrm>
          <a:prstGeom prst="rect">
            <a:avLst/>
          </a:prstGeom>
          <a:solidFill>
            <a:srgbClr val="028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330952"/>
            <a:ext cx="1054577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283C9"/>
                </a:solidFill>
                <a:latin typeface="Liberation Sans"/>
              </a:rPr>
              <a:t>A arquitetura de hoje: decoder-only, autorregressiva, objetivo único.</a:t>
            </a:r>
            <a:r>
              <a:rPr sz="1650" b="0" i="0">
                <a:solidFill>
                  <a:srgbClr val="161E33"/>
                </a:solidFill>
                <a:latin typeface="Liberation Sans"/>
              </a:rPr>
              <a:t>  Um só alvo de treino: prever o próximo token.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3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028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283C9"/>
                </a:solidFill>
                <a:latin typeface="Liberation Sans"/>
              </a:rPr>
              <a:t>09 / 70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28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839772" cy="402336"/>
          </a:xfrm>
          <a:prstGeom prst="roundRect">
            <a:avLst>
              <a:gd name="adj" fmla="val 50000"/>
            </a:avLst>
          </a:prstGeom>
          <a:solidFill>
            <a:srgbClr val="028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18397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2 · LLMS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Escala e o que emerge dela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38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11094415" cy="1024128"/>
          </a:xfrm>
          <a:prstGeom prst="roundRect">
            <a:avLst>
              <a:gd name="adj" fmla="val 10000"/>
            </a:avLst>
          </a:prstGeom>
          <a:solidFill>
            <a:srgbClr val="E3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09728" cy="1024128"/>
          </a:xfrm>
          <a:prstGeom prst="rect">
            <a:avLst/>
          </a:prstGeom>
          <a:solidFill>
            <a:srgbClr val="028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1054577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283C9"/>
                </a:solidFill>
                <a:latin typeface="Liberation Sans"/>
              </a:rPr>
              <a:t>Leis de escala.</a:t>
            </a:r>
            <a:r>
              <a:rPr sz="1600" b="0" i="0">
                <a:solidFill>
                  <a:srgbClr val="161E33"/>
                </a:solidFill>
                <a:latin typeface="Liberation Sans"/>
              </a:rPr>
              <a:t>  Mais dados + mais parâmetros + mais processamento → menos erro, de forma previsível. Foi o que justificou o investimento.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26664"/>
            <a:ext cx="11094415" cy="1024128"/>
          </a:xfrm>
          <a:prstGeom prst="roundRect">
            <a:avLst>
              <a:gd name="adj" fmla="val 10000"/>
            </a:avLst>
          </a:prstGeom>
          <a:solidFill>
            <a:srgbClr val="E3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026664"/>
            <a:ext cx="109728" cy="1024128"/>
          </a:xfrm>
          <a:prstGeom prst="rect">
            <a:avLst/>
          </a:prstGeom>
          <a:solidFill>
            <a:srgbClr val="028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026664"/>
            <a:ext cx="1054577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283C9"/>
                </a:solidFill>
                <a:latin typeface="Liberation Sans"/>
              </a:rPr>
              <a:t>O salto de 2020: aprendizado no contexto (in-context learning).</a:t>
            </a:r>
            <a:r>
              <a:rPr sz="1600" b="0" i="0">
                <a:solidFill>
                  <a:srgbClr val="161E33"/>
                </a:solidFill>
                <a:latin typeface="Liberation Sans"/>
              </a:rPr>
              <a:t>  O modelo aprende a tarefa na hora da resposta, pelos exemplos do próprio prompt, sem tocar nos pesos.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78808"/>
            <a:ext cx="11094415" cy="1024128"/>
          </a:xfrm>
          <a:prstGeom prst="roundRect">
            <a:avLst>
              <a:gd name="adj" fmla="val 10000"/>
            </a:avLst>
          </a:prstGeom>
          <a:solidFill>
            <a:srgbClr val="E3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178808"/>
            <a:ext cx="109728" cy="1024128"/>
          </a:xfrm>
          <a:prstGeom prst="rect">
            <a:avLst/>
          </a:prstGeom>
          <a:solidFill>
            <a:srgbClr val="028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178808"/>
            <a:ext cx="1054577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283C9"/>
                </a:solidFill>
                <a:latin typeface="Liberation Sans"/>
              </a:rPr>
              <a:t>Consequência: prompt e RAG passam a funcionar.</a:t>
            </a:r>
            <a:r>
              <a:rPr sz="1600" b="0" i="0">
                <a:solidFill>
                  <a:srgbClr val="161E33"/>
                </a:solidFill>
                <a:latin typeface="Liberation Sans"/>
              </a:rPr>
              <a:t>  E o ajuste fino (fine-tuning) deixou de ser o caminho obrigatório.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330952"/>
            <a:ext cx="11094415" cy="1024128"/>
          </a:xfrm>
          <a:prstGeom prst="roundRect">
            <a:avLst>
              <a:gd name="adj" fmla="val 10000"/>
            </a:avLst>
          </a:prstGeom>
          <a:solidFill>
            <a:srgbClr val="E3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330952"/>
            <a:ext cx="109728" cy="1024128"/>
          </a:xfrm>
          <a:prstGeom prst="rect">
            <a:avLst/>
          </a:prstGeom>
          <a:solidFill>
            <a:srgbClr val="028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330952"/>
            <a:ext cx="1054577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283C9"/>
                </a:solidFill>
                <a:latin typeface="Liberation Sans"/>
              </a:rPr>
              <a:t>Deslocamento recente: do processamento no TREINO para o processamento na RESPOSTA.</a:t>
            </a:r>
            <a:r>
              <a:rPr sz="1600" b="0" i="0">
                <a:solidFill>
                  <a:srgbClr val="161E33"/>
                </a:solidFill>
                <a:latin typeface="Liberation Sans"/>
              </a:rPr>
              <a:t>  O modelo “pensa mais” na hora — volta idêntico no AI Co-Scientist (S62).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3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028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283C9"/>
                </a:solidFill>
                <a:latin typeface="Liberation Sans"/>
              </a:rPr>
              <a:t>10 / 70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28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839772" cy="402336"/>
          </a:xfrm>
          <a:prstGeom prst="roundRect">
            <a:avLst>
              <a:gd name="adj" fmla="val 50000"/>
            </a:avLst>
          </a:prstGeom>
          <a:solidFill>
            <a:srgbClr val="028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18397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2 · LLMS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MoE: mistura de especialistas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38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9_mo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3560" y="1783080"/>
            <a:ext cx="7244574" cy="40233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5394960"/>
            <a:ext cx="11094415" cy="777240"/>
          </a:xfrm>
          <a:prstGeom prst="roundRect">
            <a:avLst>
              <a:gd name="adj" fmla="val 8000"/>
            </a:avLst>
          </a:prstGeom>
          <a:solidFill>
            <a:srgbClr val="E3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5394960"/>
            <a:ext cx="109728" cy="777240"/>
          </a:xfrm>
          <a:prstGeom prst="rect">
            <a:avLst/>
          </a:prstGeom>
          <a:solidFill>
            <a:srgbClr val="028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394960"/>
            <a:ext cx="105000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283C9"/>
                </a:solidFill>
                <a:latin typeface="Liberation Sans"/>
              </a:rPr>
              <a:t>MoE = </a:t>
            </a:r>
            <a:r>
              <a:rPr sz="1500" b="0" i="1">
                <a:solidFill>
                  <a:srgbClr val="5A667E"/>
                </a:solidFill>
                <a:latin typeface="Liberation Sans"/>
              </a:rPr>
              <a:t>Mixture of Experts</a:t>
            </a:r>
            <a:r>
              <a:rPr sz="1500" b="0" i="0">
                <a:solidFill>
                  <a:srgbClr val="161E33"/>
                </a:solidFill>
                <a:latin typeface="Liberation Sans"/>
              </a:rPr>
              <a:t> (mistura de especialistas). Ex.: DeepSeek-V4-Pro tem 1,6 trilhão de parâmetros totais, mas só 49 bilhões ativos por token.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3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028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283C9"/>
                </a:solidFill>
                <a:latin typeface="Liberation Sans"/>
              </a:rPr>
              <a:t>11 / 70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28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839772" cy="402336"/>
          </a:xfrm>
          <a:prstGeom prst="roundRect">
            <a:avLst>
              <a:gd name="adj" fmla="val 50000"/>
            </a:avLst>
          </a:prstGeom>
          <a:solidFill>
            <a:srgbClr val="028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18397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2 · LLMS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Inferência: os parâmetros que importam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38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5532120" cy="1024128"/>
          </a:xfrm>
          <a:prstGeom prst="roundRect">
            <a:avLst>
              <a:gd name="adj" fmla="val 10000"/>
            </a:avLst>
          </a:prstGeom>
          <a:solidFill>
            <a:srgbClr val="E3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09728" cy="1024128"/>
          </a:xfrm>
          <a:prstGeom prst="rect">
            <a:avLst/>
          </a:prstGeom>
          <a:solidFill>
            <a:srgbClr val="028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498348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283C9"/>
                </a:solidFill>
                <a:latin typeface="Liberation Sans"/>
              </a:rPr>
              <a:t>Temperatura e top-p.</a:t>
            </a:r>
            <a:r>
              <a:rPr sz="1550" b="0" i="0">
                <a:solidFill>
                  <a:srgbClr val="161E33"/>
                </a:solidFill>
                <a:latin typeface="Liberation Sans"/>
              </a:rPr>
              <a:t>  Controlam se a amostragem é mais criativa ou mais determinística.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26664"/>
            <a:ext cx="5532120" cy="1024128"/>
          </a:xfrm>
          <a:prstGeom prst="roundRect">
            <a:avLst>
              <a:gd name="adj" fmla="val 10000"/>
            </a:avLst>
          </a:prstGeom>
          <a:solidFill>
            <a:srgbClr val="E3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026664"/>
            <a:ext cx="109728" cy="1024128"/>
          </a:xfrm>
          <a:prstGeom prst="rect">
            <a:avLst/>
          </a:prstGeom>
          <a:solidFill>
            <a:srgbClr val="028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026664"/>
            <a:ext cx="498348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283C9"/>
                </a:solidFill>
                <a:latin typeface="Liberation Sans"/>
              </a:rPr>
              <a:t>Cache de chaves-valores (KV cache) e cache de prefixo.</a:t>
            </a:r>
            <a:r>
              <a:rPr sz="1550" b="0" i="0">
                <a:solidFill>
                  <a:srgbClr val="161E33"/>
                </a:solidFill>
                <a:latin typeface="Liberation Sans"/>
              </a:rPr>
              <a:t>  Reaproveitam contas já feitas — menos custo, menos espera.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78808"/>
            <a:ext cx="5532120" cy="1024128"/>
          </a:xfrm>
          <a:prstGeom prst="roundRect">
            <a:avLst>
              <a:gd name="adj" fmla="val 10000"/>
            </a:avLst>
          </a:prstGeom>
          <a:solidFill>
            <a:srgbClr val="E3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178808"/>
            <a:ext cx="109728" cy="1024128"/>
          </a:xfrm>
          <a:prstGeom prst="rect">
            <a:avLst/>
          </a:prstGeom>
          <a:solidFill>
            <a:srgbClr val="028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178808"/>
            <a:ext cx="498348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283C9"/>
                </a:solidFill>
                <a:latin typeface="Liberation Sans"/>
              </a:rPr>
              <a:t>Quantização.</a:t>
            </a:r>
            <a:r>
              <a:rPr sz="1550" b="0" i="0">
                <a:solidFill>
                  <a:srgbClr val="161E33"/>
                </a:solidFill>
                <a:latin typeface="Liberation Sans"/>
              </a:rPr>
              <a:t>  Reduz a precisão dos pesos (ex.: 4 bits) para caber em menos memória de vídeo.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330952"/>
            <a:ext cx="5532120" cy="1024128"/>
          </a:xfrm>
          <a:prstGeom prst="roundRect">
            <a:avLst>
              <a:gd name="adj" fmla="val 10000"/>
            </a:avLst>
          </a:prstGeom>
          <a:solidFill>
            <a:srgbClr val="E3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330952"/>
            <a:ext cx="109728" cy="1024128"/>
          </a:xfrm>
          <a:prstGeom prst="rect">
            <a:avLst/>
          </a:prstGeom>
          <a:solidFill>
            <a:srgbClr val="028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330952"/>
            <a:ext cx="498348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283C9"/>
                </a:solidFill>
                <a:latin typeface="Liberation Sans"/>
              </a:rPr>
              <a:t>Decodificação especulativa.</a:t>
            </a:r>
            <a:r>
              <a:rPr sz="1550" b="0" i="0">
                <a:solidFill>
                  <a:srgbClr val="161E33"/>
                </a:solidFill>
                <a:latin typeface="Liberation Sans"/>
              </a:rPr>
              <a:t>  Um modelo pequeno adianta tokens; o grande confere.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1874519"/>
            <a:ext cx="5287975" cy="2999232"/>
          </a:xfrm>
          <a:prstGeom prst="roundRect">
            <a:avLst>
              <a:gd name="adj" fmla="val 5000"/>
            </a:avLst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56248" y="2057400"/>
            <a:ext cx="109728" cy="109728"/>
          </a:xfrm>
          <a:prstGeom prst="ellipse">
            <a:avLst/>
          </a:prstGeom>
          <a:solidFill>
            <a:srgbClr val="F26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739128" y="2057400"/>
            <a:ext cx="109728" cy="109728"/>
          </a:xfrm>
          <a:prstGeom prst="ellipse">
            <a:avLst/>
          </a:prstGeom>
          <a:solidFill>
            <a:srgbClr val="F4B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22008" y="2057400"/>
            <a:ext cx="109728" cy="109728"/>
          </a:xfrm>
          <a:prstGeom prst="ellipse">
            <a:avLst/>
          </a:prstGeom>
          <a:solidFill>
            <a:srgbClr val="62C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2331720"/>
            <a:ext cx="4739335" cy="2450591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AEFFA"/>
                </a:solidFill>
                <a:latin typeface="DejaVu Sans Mono"/>
              </a:rPr>
              <a:t># a MESMA chamada, dois resultados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AEFFA"/>
                </a:solidFill>
                <a:latin typeface="DejaVu Sans Mono"/>
              </a:rPr>
              <a:t> 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AEFFA"/>
                </a:solidFill>
                <a:latin typeface="DejaVu Sans Mono"/>
              </a:rPr>
              <a:t>resp = modelo.gerar(prompt,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AEFFA"/>
                </a:solidFill>
                <a:latin typeface="DejaVu Sans Mono"/>
              </a:rPr>
              <a:t>        temperatura=0.0)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AEFFA"/>
                </a:solidFill>
                <a:latin typeface="DejaVu Sans Mono"/>
              </a:rPr>
              <a:t># código / extração: baixa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AEFFA"/>
                </a:solidFill>
                <a:latin typeface="DejaVu Sans Mono"/>
              </a:rPr>
              <a:t> 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AEFFA"/>
                </a:solidFill>
                <a:latin typeface="DejaVu Sans Mono"/>
              </a:rPr>
              <a:t>resp = modelo.gerar(prompt,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AEFFA"/>
                </a:solidFill>
                <a:latin typeface="DejaVu Sans Mono"/>
              </a:rPr>
              <a:t>        temperatura=1.0)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AEFFA"/>
                </a:solidFill>
                <a:latin typeface="DejaVu Sans Mono"/>
              </a:rPr>
              <a:t># exploração: alta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34924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E3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349240"/>
            <a:ext cx="109728" cy="822960"/>
          </a:xfrm>
          <a:prstGeom prst="rect">
            <a:avLst/>
          </a:prstGeom>
          <a:solidFill>
            <a:srgbClr val="028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349240"/>
            <a:ext cx="1050005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283C9"/>
                </a:solidFill>
                <a:latin typeface="Liberation Sans"/>
              </a:rPr>
              <a:t>Regra prática: </a:t>
            </a:r>
            <a:r>
              <a:rPr sz="1600" b="0" i="0">
                <a:solidFill>
                  <a:srgbClr val="161E33"/>
                </a:solidFill>
                <a:latin typeface="Liberation Sans"/>
              </a:rPr>
              <a:t>código e extração estruturada pedem temperatura baixa; exploração de hipóteses pede o contrário — gancho para o S62.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3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028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283C9"/>
                </a:solidFill>
                <a:latin typeface="Liberation Sans"/>
              </a:rPr>
              <a:t>12 / 70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28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839772" cy="402336"/>
          </a:xfrm>
          <a:prstGeom prst="roundRect">
            <a:avLst>
              <a:gd name="adj" fmla="val 50000"/>
            </a:avLst>
          </a:prstGeom>
          <a:solidFill>
            <a:srgbClr val="028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18397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2 · LLMS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Panorama: modelos proprietários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38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65960"/>
          <a:ext cx="1109441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Liberation Sans"/>
                        </a:rPr>
                        <a:t>Modelo</a:t>
                      </a:r>
                    </a:p>
                  </a:txBody>
                  <a:tcPr anchor="ctr" marL="73152" marR="73152" marT="27432" marB="27432">
                    <a:solidFill>
                      <a:srgbClr val="0283C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Liberation Sans"/>
                        </a:rPr>
                        <a:t>Fabricante</a:t>
                      </a:r>
                    </a:p>
                  </a:txBody>
                  <a:tcPr anchor="ctr" marL="73152" marR="73152" marT="27432" marB="27432">
                    <a:solidFill>
                      <a:srgbClr val="0283C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Liberation Sans"/>
                        </a:rPr>
                        <a:t>SWE-bench Verified</a:t>
                      </a:r>
                    </a:p>
                  </a:txBody>
                  <a:tcPr anchor="ctr" marL="73152" marR="73152" marT="27432" marB="27432">
                    <a:solidFill>
                      <a:srgbClr val="0283C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Liberation Sans"/>
                        </a:rPr>
                        <a:t>Fonte da medição</a:t>
                      </a:r>
                    </a:p>
                  </a:txBody>
                  <a:tcPr anchor="ctr" marL="73152" marR="73152" marT="27432" marB="27432">
                    <a:solidFill>
                      <a:srgbClr val="0283C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283C9"/>
                          </a:solidFill>
                          <a:latin typeface="Liberation Sans"/>
                        </a:rPr>
                        <a:t>GPT-5.6 Sol</a:t>
                      </a:r>
                    </a:p>
                  </a:txBody>
                  <a:tcPr anchor="ctr" marL="73152" marR="73152" marT="18288" marB="18288">
                    <a:solidFill>
                      <a:srgbClr val="E3F3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61E33"/>
                          </a:solidFill>
                          <a:latin typeface="Liberation Sans"/>
                        </a:rPr>
                        <a:t>OpenAI</a:t>
                      </a:r>
                    </a:p>
                  </a:txBody>
                  <a:tcPr anchor="ctr" marL="73152" marR="73152" marT="18288" marB="18288">
                    <a:solidFill>
                      <a:srgbClr val="E3F3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283C9"/>
                          </a:solidFill>
                          <a:latin typeface="Liberation Sans"/>
                        </a:rPr>
                        <a:t>~96%</a:t>
                      </a:r>
                    </a:p>
                  </a:txBody>
                  <a:tcPr anchor="ctr" marL="73152" marR="73152" marT="18288" marB="18288">
                    <a:solidFill>
                      <a:srgbClr val="E3F3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61E33"/>
                          </a:solidFill>
                          <a:latin typeface="Liberation Sans"/>
                        </a:rPr>
                        <a:t>Vals AI (independente)</a:t>
                      </a:r>
                    </a:p>
                  </a:txBody>
                  <a:tcPr anchor="ctr" marL="73152" marR="73152" marT="18288" marB="18288">
                    <a:solidFill>
                      <a:srgbClr val="E3F3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283C9"/>
                          </a:solidFill>
                          <a:latin typeface="Liberation Sans"/>
                        </a:rPr>
                        <a:t>Claude Fable 5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61E33"/>
                          </a:solidFill>
                          <a:latin typeface="Liberation Sans"/>
                        </a:rPr>
                        <a:t>Anthropic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283C9"/>
                          </a:solidFill>
                          <a:latin typeface="Liberation Sans"/>
                        </a:rPr>
                        <a:t>~95%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61E33"/>
                          </a:solidFill>
                          <a:latin typeface="Liberation Sans"/>
                        </a:rPr>
                        <a:t>medição independente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283C9"/>
                          </a:solidFill>
                          <a:latin typeface="Liberation Sans"/>
                        </a:rPr>
                        <a:t>Gemini 3.1 Pro</a:t>
                      </a:r>
                    </a:p>
                  </a:txBody>
                  <a:tcPr anchor="ctr" marL="73152" marR="73152" marT="18288" marB="18288">
                    <a:solidFill>
                      <a:srgbClr val="E3F3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61E33"/>
                          </a:solidFill>
                          <a:latin typeface="Liberation Sans"/>
                        </a:rPr>
                        <a:t>Google</a:t>
                      </a:r>
                    </a:p>
                  </a:txBody>
                  <a:tcPr anchor="ctr" marL="73152" marR="73152" marT="18288" marB="18288">
                    <a:solidFill>
                      <a:srgbClr val="E3F3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61E33"/>
                          </a:solidFill>
                          <a:latin typeface="Liberation Sans"/>
                        </a:rPr>
                        <a:t>agrupamento superior</a:t>
                      </a:r>
                    </a:p>
                  </a:txBody>
                  <a:tcPr anchor="ctr" marL="73152" marR="73152" marT="18288" marB="18288">
                    <a:solidFill>
                      <a:srgbClr val="E3F3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61E33"/>
                          </a:solidFill>
                          <a:latin typeface="Liberation Sans"/>
                        </a:rPr>
                        <a:t>—</a:t>
                      </a:r>
                    </a:p>
                  </a:txBody>
                  <a:tcPr anchor="ctr" marL="73152" marR="73152" marT="18288" marB="18288">
                    <a:solidFill>
                      <a:srgbClr val="E3F3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617720"/>
            <a:ext cx="11094415" cy="914400"/>
          </a:xfrm>
          <a:prstGeom prst="roundRect">
            <a:avLst>
              <a:gd name="adj" fmla="val 8000"/>
            </a:avLst>
          </a:prstGeom>
          <a:solidFill>
            <a:srgbClr val="FC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4617720"/>
            <a:ext cx="109728" cy="914400"/>
          </a:xfrm>
          <a:prstGeom prst="rect">
            <a:avLst/>
          </a:prstGeom>
          <a:solidFill>
            <a:srgbClr val="E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617720"/>
            <a:ext cx="1050005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E06A00"/>
                </a:solidFill>
                <a:latin typeface="Liberation Sans"/>
              </a:rPr>
              <a:t>Ressalva obrigatória: </a:t>
            </a:r>
            <a:r>
              <a:rPr sz="1700" b="0" i="0">
                <a:solidFill>
                  <a:srgbClr val="161E33"/>
                </a:solidFill>
                <a:latin typeface="Liberation Sans"/>
              </a:rPr>
              <a:t>o número do fabricante e o de uma medição independente divergem, às vezes muito. Cite sempre a fonte.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5A667E"/>
                </a:solidFill>
                <a:latin typeface="Liberation Sans"/>
              </a:rPr>
              <a:t>SWE-bench Verified = teste de correção de bugs reais de software (%% de tarefas resolvidas).   </a:t>
            </a:r>
            <a:r>
              <a:rPr sz="1250" b="1" i="0">
                <a:solidFill>
                  <a:srgbClr val="5A667E"/>
                </a:solidFill>
                <a:latin typeface="Liberation Sans"/>
              </a:rPr>
              <a:t>Última verificação: __ / __ / ____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3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028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283C9"/>
                </a:solidFill>
                <a:latin typeface="Liberation Sans"/>
              </a:rPr>
              <a:t>13 / 70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28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839772" cy="402336"/>
          </a:xfrm>
          <a:prstGeom prst="roundRect">
            <a:avLst>
              <a:gd name="adj" fmla="val 50000"/>
            </a:avLst>
          </a:prstGeom>
          <a:solidFill>
            <a:srgbClr val="028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18397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2 · LLMS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Panorama: modelos abertos para código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38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83080"/>
          <a:ext cx="1109441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883"/>
                <a:gridCol w="2218883"/>
                <a:gridCol w="2218883"/>
                <a:gridCol w="2218883"/>
                <a:gridCol w="2218883"/>
              </a:tblGrid>
              <a:tr h="3556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Liberation Sans"/>
                        </a:rPr>
                        <a:t>Modelo</a:t>
                      </a:r>
                    </a:p>
                  </a:txBody>
                  <a:tcPr anchor="ctr" marL="73152" marR="73152" marT="27432" marB="27432">
                    <a:solidFill>
                      <a:srgbClr val="0283C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Liberation Sans"/>
                        </a:rPr>
                        <a:t>Arquitetura</a:t>
                      </a:r>
                    </a:p>
                  </a:txBody>
                  <a:tcPr anchor="ctr" marL="73152" marR="73152" marT="27432" marB="27432">
                    <a:solidFill>
                      <a:srgbClr val="0283C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Liberation Sans"/>
                        </a:rPr>
                        <a:t>Contexto</a:t>
                      </a:r>
                    </a:p>
                  </a:txBody>
                  <a:tcPr anchor="ctr" marL="73152" marR="73152" marT="27432" marB="27432">
                    <a:solidFill>
                      <a:srgbClr val="0283C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Liberation Sans"/>
                        </a:rPr>
                        <a:t>Licença</a:t>
                      </a:r>
                    </a:p>
                  </a:txBody>
                  <a:tcPr anchor="ctr" marL="73152" marR="73152" marT="27432" marB="27432">
                    <a:solidFill>
                      <a:srgbClr val="0283C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Liberation Sans"/>
                        </a:rPr>
                        <a:t>Onde roda</a:t>
                      </a:r>
                    </a:p>
                  </a:txBody>
                  <a:tcPr anchor="ctr" marL="73152" marR="73152" marT="27432" marB="27432">
                    <a:solidFill>
                      <a:srgbClr val="0283C9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61E33"/>
                          </a:solidFill>
                          <a:latin typeface="Liberation Sans"/>
                        </a:rPr>
                        <a:t>Kimi K3</a:t>
                      </a:r>
                    </a:p>
                  </a:txBody>
                  <a:tcPr anchor="ctr" marL="73152" marR="73152" marT="18288" marB="18288">
                    <a:solidFill>
                      <a:srgbClr val="E3F3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61E33"/>
                          </a:solidFill>
                          <a:latin typeface="Liberation Sans"/>
                        </a:rPr>
                        <a:t>2,8T / 104B ativos</a:t>
                      </a:r>
                    </a:p>
                  </a:txBody>
                  <a:tcPr anchor="ctr" marL="73152" marR="73152" marT="18288" marB="18288">
                    <a:solidFill>
                      <a:srgbClr val="E3F3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61E33"/>
                          </a:solidFill>
                          <a:latin typeface="Liberation Sans"/>
                        </a:rPr>
                        <a:t>1M</a:t>
                      </a:r>
                    </a:p>
                  </a:txBody>
                  <a:tcPr anchor="ctr" marL="73152" marR="73152" marT="18288" marB="18288">
                    <a:solidFill>
                      <a:srgbClr val="E3F3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61E33"/>
                          </a:solidFill>
                          <a:latin typeface="Liberation Sans"/>
                        </a:rPr>
                        <a:t>pesos abertos</a:t>
                      </a:r>
                    </a:p>
                  </a:txBody>
                  <a:tcPr anchor="ctr" marL="73152" marR="73152" marT="18288" marB="18288">
                    <a:solidFill>
                      <a:srgbClr val="E3F3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61E33"/>
                          </a:solidFill>
                          <a:latin typeface="Liberation Sans"/>
                        </a:rPr>
                        <a:t>infra séria</a:t>
                      </a:r>
                    </a:p>
                  </a:txBody>
                  <a:tcPr anchor="ctr" marL="73152" marR="73152" marT="18288" marB="18288">
                    <a:solidFill>
                      <a:srgbClr val="E3F3FC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283C9"/>
                          </a:solidFill>
                          <a:latin typeface="Liberation Sans"/>
                        </a:rPr>
                        <a:t>DeepSeek-V4-Pro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61E33"/>
                          </a:solidFill>
                          <a:latin typeface="Liberation Sans"/>
                        </a:rPr>
                        <a:t>1,6T / 49B ativos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61E33"/>
                          </a:solidFill>
                          <a:latin typeface="Liberation Sans"/>
                        </a:rPr>
                        <a:t>1M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283C9"/>
                          </a:solidFill>
                          <a:latin typeface="Liberation Sans"/>
                        </a:rPr>
                        <a:t>MIT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61E33"/>
                          </a:solidFill>
                          <a:latin typeface="Liberation Sans"/>
                        </a:rPr>
                        <a:t>cluster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61E33"/>
                          </a:solidFill>
                          <a:latin typeface="Liberation Sans"/>
                        </a:rPr>
                        <a:t>DeepSeek-V4-Flash</a:t>
                      </a:r>
                    </a:p>
                  </a:txBody>
                  <a:tcPr anchor="ctr" marL="73152" marR="73152" marT="18288" marB="18288">
                    <a:solidFill>
                      <a:srgbClr val="E3F3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61E33"/>
                          </a:solidFill>
                          <a:latin typeface="Liberation Sans"/>
                        </a:rPr>
                        <a:t>284B / 13B ativos</a:t>
                      </a:r>
                    </a:p>
                  </a:txBody>
                  <a:tcPr anchor="ctr" marL="73152" marR="73152" marT="18288" marB="18288">
                    <a:solidFill>
                      <a:srgbClr val="E3F3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61E33"/>
                          </a:solidFill>
                          <a:latin typeface="Liberation Sans"/>
                        </a:rPr>
                        <a:t>1M</a:t>
                      </a:r>
                    </a:p>
                  </a:txBody>
                  <a:tcPr anchor="ctr" marL="73152" marR="73152" marT="18288" marB="18288">
                    <a:solidFill>
                      <a:srgbClr val="E3F3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283C9"/>
                          </a:solidFill>
                          <a:latin typeface="Liberation Sans"/>
                        </a:rPr>
                        <a:t>MIT</a:t>
                      </a:r>
                    </a:p>
                  </a:txBody>
                  <a:tcPr anchor="ctr" marL="73152" marR="73152" marT="18288" marB="18288">
                    <a:solidFill>
                      <a:srgbClr val="E3F3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61E33"/>
                          </a:solidFill>
                          <a:latin typeface="Liberation Sans"/>
                        </a:rPr>
                        <a:t>servidor médio</a:t>
                      </a:r>
                    </a:p>
                  </a:txBody>
                  <a:tcPr anchor="ctr" marL="73152" marR="73152" marT="18288" marB="18288">
                    <a:solidFill>
                      <a:srgbClr val="E3F3FC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61E33"/>
                          </a:solidFill>
                          <a:latin typeface="Liberation Sans"/>
                        </a:rPr>
                        <a:t>GLM-5.2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61E33"/>
                          </a:solidFill>
                          <a:latin typeface="Liberation Sans"/>
                        </a:rPr>
                        <a:t>MoE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61E33"/>
                          </a:solidFill>
                          <a:latin typeface="Liberation Sans"/>
                        </a:rPr>
                        <a:t>longo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283C9"/>
                          </a:solidFill>
                          <a:latin typeface="Liberation Sans"/>
                        </a:rPr>
                        <a:t>MIT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61E33"/>
                          </a:solidFill>
                          <a:latin typeface="Liberation Sans"/>
                        </a:rPr>
                        <a:t>servidor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283C9"/>
                          </a:solidFill>
                          <a:latin typeface="Liberation Sans"/>
                        </a:rPr>
                        <a:t>Qwen3.8-27B</a:t>
                      </a:r>
                    </a:p>
                  </a:txBody>
                  <a:tcPr anchor="ctr" marL="73152" marR="73152" marT="18288" marB="18288">
                    <a:solidFill>
                      <a:srgbClr val="E3F3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61E33"/>
                          </a:solidFill>
                          <a:latin typeface="Liberation Sans"/>
                        </a:rPr>
                        <a:t>denso 27,8B · multimodal</a:t>
                      </a:r>
                    </a:p>
                  </a:txBody>
                  <a:tcPr anchor="ctr" marL="73152" marR="73152" marT="18288" marB="18288">
                    <a:solidFill>
                      <a:srgbClr val="E3F3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61E33"/>
                          </a:solidFill>
                          <a:latin typeface="Liberation Sans"/>
                        </a:rPr>
                        <a:t>262K→1M</a:t>
                      </a:r>
                    </a:p>
                  </a:txBody>
                  <a:tcPr anchor="ctr" marL="73152" marR="73152" marT="18288" marB="18288">
                    <a:solidFill>
                      <a:srgbClr val="E3F3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283C9"/>
                          </a:solidFill>
                          <a:latin typeface="Liberation Sans"/>
                        </a:rPr>
                        <a:t>Apache-2.0</a:t>
                      </a:r>
                    </a:p>
                  </a:txBody>
                  <a:tcPr anchor="ctr" marL="73152" marR="73152" marT="18288" marB="18288">
                    <a:solidFill>
                      <a:srgbClr val="E3F3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283C9"/>
                          </a:solidFill>
                          <a:latin typeface="Liberation Sans"/>
                        </a:rPr>
                        <a:t>24 GB VRAM</a:t>
                      </a:r>
                    </a:p>
                  </a:txBody>
                  <a:tcPr anchor="ctr" marL="73152" marR="73152" marT="18288" marB="18288">
                    <a:solidFill>
                      <a:srgbClr val="E3F3FC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61E33"/>
                          </a:solidFill>
                          <a:latin typeface="Liberation Sans"/>
                        </a:rPr>
                        <a:t>Qwen3.6-27B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61E33"/>
                          </a:solidFill>
                          <a:latin typeface="Liberation Sans"/>
                        </a:rPr>
                        <a:t>denso 27B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61E33"/>
                          </a:solidFill>
                          <a:latin typeface="Liberation Sans"/>
                        </a:rPr>
                        <a:t>longo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283C9"/>
                          </a:solidFill>
                          <a:latin typeface="Liberation Sans"/>
                        </a:rPr>
                        <a:t>Apache-2.0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61E33"/>
                          </a:solidFill>
                          <a:latin typeface="Liberation Sans"/>
                        </a:rPr>
                        <a:t>1 GPU consumo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61E33"/>
                          </a:solidFill>
                          <a:latin typeface="Liberation Sans"/>
                        </a:rPr>
                        <a:t>Muse Glimmer 30B</a:t>
                      </a:r>
                    </a:p>
                  </a:txBody>
                  <a:tcPr anchor="ctr" marL="73152" marR="73152" marT="18288" marB="18288">
                    <a:solidFill>
                      <a:srgbClr val="E3F3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61E33"/>
                          </a:solidFill>
                          <a:latin typeface="Liberation Sans"/>
                        </a:rPr>
                        <a:t>denso · multimodal</a:t>
                      </a:r>
                    </a:p>
                  </a:txBody>
                  <a:tcPr anchor="ctr" marL="73152" marR="73152" marT="18288" marB="18288">
                    <a:solidFill>
                      <a:srgbClr val="E3F3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61E33"/>
                          </a:solidFill>
                          <a:latin typeface="Liberation Sans"/>
                        </a:rPr>
                        <a:t>131K</a:t>
                      </a:r>
                    </a:p>
                  </a:txBody>
                  <a:tcPr anchor="ctr" marL="73152" marR="73152" marT="18288" marB="18288">
                    <a:solidFill>
                      <a:srgbClr val="E3F3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283C9"/>
                          </a:solidFill>
                          <a:latin typeface="Liberation Sans"/>
                        </a:rPr>
                        <a:t>Apache-2.0</a:t>
                      </a:r>
                    </a:p>
                  </a:txBody>
                  <a:tcPr anchor="ctr" marL="73152" marR="73152" marT="18288" marB="18288">
                    <a:solidFill>
                      <a:srgbClr val="E3F3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61E33"/>
                          </a:solidFill>
                          <a:latin typeface="Liberation Sans"/>
                        </a:rPr>
                        <a:t>24 GB quantiz.</a:t>
                      </a:r>
                    </a:p>
                  </a:txBody>
                  <a:tcPr anchor="ctr" marL="73152" marR="73152" marT="18288" marB="18288">
                    <a:solidFill>
                      <a:srgbClr val="E3F3FC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61E33"/>
                          </a:solidFill>
                          <a:latin typeface="Liberation Sans"/>
                        </a:rPr>
                        <a:t>MiniMax M3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61E33"/>
                          </a:solidFill>
                          <a:latin typeface="Liberation Sans"/>
                        </a:rPr>
                        <a:t>428B / 23B ativos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61E33"/>
                          </a:solidFill>
                          <a:latin typeface="Liberation Sans"/>
                        </a:rPr>
                        <a:t>1M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61E33"/>
                          </a:solidFill>
                          <a:latin typeface="Liberation Sans"/>
                        </a:rPr>
                        <a:t>comunitária ⚠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61E33"/>
                          </a:solidFill>
                          <a:latin typeface="Liberation Sans"/>
                        </a:rPr>
                        <a:t>ver licença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8000"/>
            </a:avLst>
          </a:prstGeom>
          <a:solidFill>
            <a:srgbClr val="E3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5120640"/>
            <a:ext cx="109728" cy="1051560"/>
          </a:xfrm>
          <a:prstGeom prst="rect">
            <a:avLst/>
          </a:prstGeom>
          <a:solidFill>
            <a:srgbClr val="028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193792"/>
            <a:ext cx="1072865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0283C9"/>
                </a:solidFill>
                <a:latin typeface="Liberation Sans"/>
              </a:rPr>
              <a:t>O caso que importa para vocês:  </a:t>
            </a:r>
            <a:r>
              <a:rPr sz="1500" b="0" i="0">
                <a:solidFill>
                  <a:srgbClr val="161E33"/>
                </a:solidFill>
                <a:latin typeface="Liberation Sans"/>
              </a:rPr>
              <a:t>Qwen3.8-27B — denso, multimodal, Apache-2.0, roda em 24 GB e, em SWE-bench Pro, supera o Claude Opus 4.6 Max.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E06A00"/>
                </a:solidFill>
                <a:latin typeface="Liberation Sans"/>
              </a:rPr>
              <a:t>Alerta jurídico:  </a:t>
            </a:r>
            <a:r>
              <a:rPr sz="1300" b="0" i="0">
                <a:solidFill>
                  <a:srgbClr val="161E33"/>
                </a:solidFill>
                <a:latin typeface="Liberation Sans"/>
              </a:rPr>
              <a:t>“pesos abertos” ≠ “código aberto”. MIT e Apache-2.0 são livres; a licença do MiniMax é não comercial por padrão.   ·   Última verificação: __/__/____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3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028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283C9"/>
                </a:solidFill>
                <a:latin typeface="Liberation Sans"/>
              </a:rPr>
              <a:t>14 / 70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28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839772" cy="402336"/>
          </a:xfrm>
          <a:prstGeom prst="roundRect">
            <a:avLst>
              <a:gd name="adj" fmla="val 50000"/>
            </a:avLst>
          </a:prstGeom>
          <a:solidFill>
            <a:srgbClr val="028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18397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2 · LLMS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Contexto longo: o número anunciado é o menos útil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38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11094415" cy="1024128"/>
          </a:xfrm>
          <a:prstGeom prst="roundRect">
            <a:avLst>
              <a:gd name="adj" fmla="val 10000"/>
            </a:avLst>
          </a:prstGeom>
          <a:solidFill>
            <a:srgbClr val="E3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09728" cy="1024128"/>
          </a:xfrm>
          <a:prstGeom prst="rect">
            <a:avLst/>
          </a:prstGeom>
          <a:solidFill>
            <a:srgbClr val="028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1054577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283C9"/>
                </a:solidFill>
                <a:latin typeface="Liberation Sans"/>
              </a:rPr>
              <a:t>Anúncios de 1 a 10 milhões de tokens.</a:t>
            </a:r>
            <a:r>
              <a:rPr sz="1550" b="0" i="0">
                <a:solidFill>
                  <a:srgbClr val="161E33"/>
                </a:solidFill>
                <a:latin typeface="Liberation Sans"/>
              </a:rPr>
              <a:t>  Vários modelos anunciam janelas gigantes — sem um teste publicado que sustente qualidade perto disso.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26664"/>
            <a:ext cx="11094415" cy="1024128"/>
          </a:xfrm>
          <a:prstGeom prst="roundRect">
            <a:avLst>
              <a:gd name="adj" fmla="val 10000"/>
            </a:avLst>
          </a:prstGeom>
          <a:solidFill>
            <a:srgbClr val="FC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026664"/>
            <a:ext cx="109728" cy="1024128"/>
          </a:xfrm>
          <a:prstGeom prst="rect">
            <a:avLst/>
          </a:prstGeom>
          <a:solidFill>
            <a:srgbClr val="E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026664"/>
            <a:ext cx="1054577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E06A00"/>
                </a:solidFill>
                <a:latin typeface="Liberation Sans"/>
              </a:rPr>
              <a:t>Degradação do contexto (“context rot”).</a:t>
            </a:r>
            <a:r>
              <a:rPr sz="1550" b="0" i="0">
                <a:solidFill>
                  <a:srgbClr val="161E33"/>
                </a:solidFill>
                <a:latin typeface="Liberation Sans"/>
              </a:rPr>
              <a:t>  A capacidade efetiva fica em 60–70% do anunciado; e a queda não é gradual — segura até um limiar e despenca. Uma janela de 1M pode degradar já em 50 mil.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78808"/>
            <a:ext cx="11094415" cy="1024128"/>
          </a:xfrm>
          <a:prstGeom prst="roundRect">
            <a:avLst>
              <a:gd name="adj" fmla="val 10000"/>
            </a:avLst>
          </a:prstGeom>
          <a:solidFill>
            <a:srgbClr val="E3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178808"/>
            <a:ext cx="109728" cy="1024128"/>
          </a:xfrm>
          <a:prstGeom prst="rect">
            <a:avLst/>
          </a:prstGeom>
          <a:solidFill>
            <a:srgbClr val="028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178808"/>
            <a:ext cx="1054577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283C9"/>
                </a:solidFill>
                <a:latin typeface="Liberation Sans"/>
              </a:rPr>
              <a:t>Resultado contraintuitivo (testes da Chroma).</a:t>
            </a:r>
            <a:r>
              <a:rPr sz="1550" b="0" i="0">
                <a:solidFill>
                  <a:srgbClr val="161E33"/>
                </a:solidFill>
                <a:latin typeface="Liberation Sans"/>
              </a:rPr>
              <a:t>  Os modelos foram melhores com texto embaralhado do que coerente: texto coerente cria viés de recência — sobrepesa o fim e esquece o começo.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330952"/>
            <a:ext cx="11094415" cy="1024128"/>
          </a:xfrm>
          <a:prstGeom prst="roundRect">
            <a:avLst>
              <a:gd name="adj" fmla="val 10000"/>
            </a:avLst>
          </a:prstGeom>
          <a:solidFill>
            <a:srgbClr val="E3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330952"/>
            <a:ext cx="109728" cy="1024128"/>
          </a:xfrm>
          <a:prstGeom prst="rect">
            <a:avLst/>
          </a:prstGeom>
          <a:solidFill>
            <a:srgbClr val="028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330952"/>
            <a:ext cx="1054577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283C9"/>
                </a:solidFill>
                <a:latin typeface="Liberation Sans"/>
              </a:rPr>
              <a:t>Custo.</a:t>
            </a:r>
            <a:r>
              <a:rPr sz="1550" b="0" i="0">
                <a:solidFill>
                  <a:srgbClr val="161E33"/>
                </a:solidFill>
                <a:latin typeface="Liberation Sans"/>
              </a:rPr>
              <a:t>  Encher 1 milhão de tokens vai de centavos a dezenas de dólares — diferença de dezenas de vezes entre modelos.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989320"/>
            <a:ext cx="11094415" cy="640080"/>
          </a:xfrm>
          <a:prstGeom prst="roundRect">
            <a:avLst>
              <a:gd name="adj" fmla="val 8000"/>
            </a:avLst>
          </a:prstGeom>
          <a:solidFill>
            <a:srgbClr val="FC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5989320"/>
            <a:ext cx="109728" cy="640080"/>
          </a:xfrm>
          <a:prstGeom prst="rect">
            <a:avLst/>
          </a:prstGeom>
          <a:solidFill>
            <a:srgbClr val="E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989320"/>
            <a:ext cx="1050005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283C9"/>
                </a:solidFill>
                <a:latin typeface="Liberation Sans"/>
              </a:rPr>
              <a:t>Contexto menor e curado supera contexto grande e velho. </a:t>
            </a:r>
            <a:r>
              <a:rPr sz="1500" b="0" i="0">
                <a:solidFill>
                  <a:srgbClr val="161E33"/>
                </a:solidFill>
                <a:latin typeface="Liberation Sans"/>
              </a:rPr>
              <a:t>Pior em domínio regulado: quando a janela estoura, o modelo corta em silêncio — sem registro do que se perdeu.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3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028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283C9"/>
                </a:solidFill>
                <a:latin typeface="Liberation Sans"/>
              </a:rPr>
              <a:t>15 / 70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234793" cy="40233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23479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3 · 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A escada de abstração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2CB1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11094415" cy="1024128"/>
          </a:xfrm>
          <a:prstGeom prst="roundRect">
            <a:avLst>
              <a:gd name="adj" fmla="val 10000"/>
            </a:avLst>
          </a:prstGeom>
          <a:solidFill>
            <a:srgbClr val="E1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09728" cy="10241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1054577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D9488"/>
                </a:solidFill>
                <a:latin typeface="Liberation Sans"/>
              </a:rPr>
              <a:t>Assembly → linguagem de alto nível.</a:t>
            </a:r>
            <a:r>
              <a:rPr sz="1650" b="0" i="0">
                <a:solidFill>
                  <a:srgbClr val="161E33"/>
                </a:solidFill>
                <a:latin typeface="Liberation Sans"/>
              </a:rPr>
              <a:t>  Objeção da época: “vai gerar código lento e sem controle”. Consolidou-se com o COMPILADOR.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26664"/>
            <a:ext cx="11094415" cy="1024128"/>
          </a:xfrm>
          <a:prstGeom prst="roundRect">
            <a:avLst>
              <a:gd name="adj" fmla="val 10000"/>
            </a:avLst>
          </a:prstGeom>
          <a:solidFill>
            <a:srgbClr val="E1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026664"/>
            <a:ext cx="109728" cy="10241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026664"/>
            <a:ext cx="1054577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D9488"/>
                </a:solidFill>
                <a:latin typeface="Liberation Sans"/>
              </a:rPr>
              <a:t>Alto nível → frameworks.</a:t>
            </a:r>
            <a:r>
              <a:rPr sz="1650" b="0" i="0">
                <a:solidFill>
                  <a:srgbClr val="161E33"/>
                </a:solidFill>
                <a:latin typeface="Liberation Sans"/>
              </a:rPr>
              <a:t>  Objeção: “esconde o que importa, vira mágica”. Consolidou-se com o VERIFICADOR DE TIPOS e os TESTES.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78808"/>
            <a:ext cx="11094415" cy="1024128"/>
          </a:xfrm>
          <a:prstGeom prst="roundRect">
            <a:avLst>
              <a:gd name="adj" fmla="val 10000"/>
            </a:avLst>
          </a:prstGeom>
          <a:solidFill>
            <a:srgbClr val="E1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178808"/>
            <a:ext cx="109728" cy="10241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178808"/>
            <a:ext cx="1054577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D9488"/>
                </a:solidFill>
                <a:latin typeface="Liberation Sans"/>
              </a:rPr>
              <a:t>Frameworks → especificação + verificação.</a:t>
            </a:r>
            <a:r>
              <a:rPr sz="1650" b="0" i="0">
                <a:solidFill>
                  <a:srgbClr val="161E33"/>
                </a:solidFill>
                <a:latin typeface="Liberation Sans"/>
              </a:rPr>
              <a:t>  É o degrau de agora. A mesma objeção — “não dá para confiar” — e a mesma resposta: uma verificação nova.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330952"/>
            <a:ext cx="11094415" cy="1024128"/>
          </a:xfrm>
          <a:prstGeom prst="roundRect">
            <a:avLst>
              <a:gd name="adj" fmla="val 10000"/>
            </a:avLst>
          </a:prstGeom>
          <a:solidFill>
            <a:srgbClr val="E6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330952"/>
            <a:ext cx="109728" cy="1024128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330952"/>
            <a:ext cx="1054577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9D58"/>
                </a:solidFill>
                <a:latin typeface="Liberation Sans"/>
              </a:rPr>
              <a:t>O padrão nunca muda.</a:t>
            </a:r>
            <a:r>
              <a:rPr sz="1650" b="0" i="0">
                <a:solidFill>
                  <a:srgbClr val="161E33"/>
                </a:solidFill>
                <a:latin typeface="Liberation Sans"/>
              </a:rPr>
              <a:t>  Cada degrau sobe o nível do que você escreve — e só se firma quando ganha a sua camada de verificação automática.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1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D9488"/>
                </a:solidFill>
                <a:latin typeface="Liberation Sans"/>
              </a:rPr>
              <a:t>16 / 70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234793" cy="40233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23479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3 · 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O que a IA faz bem e mal em código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2CB1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5364327" cy="3108960"/>
          </a:xfrm>
          <a:prstGeom prst="roundRect">
            <a:avLst>
              <a:gd name="adj" fmla="val 6000"/>
            </a:avLst>
          </a:prstGeom>
          <a:solidFill>
            <a:srgbClr val="E2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09728" cy="31089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93392"/>
            <a:ext cx="49071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59669"/>
                </a:solidFill>
                <a:latin typeface="Liberation Sans"/>
              </a:rPr>
              <a:t>FAZ BEM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60320"/>
            <a:ext cx="4815687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059669"/>
                </a:solidFill>
                <a:latin typeface="Liberation Sans"/>
              </a:rPr>
              <a:t>●  </a:t>
            </a:r>
            <a:r>
              <a:rPr sz="1550" b="0" i="0">
                <a:solidFill>
                  <a:srgbClr val="161E33"/>
                </a:solidFill>
                <a:latin typeface="Liberation Sans"/>
              </a:rPr>
              <a:t>código de fronteira </a:t>
            </a:r>
            <a:r>
              <a:rPr sz="1550" b="1" i="0">
                <a:solidFill>
                  <a:srgbClr val="059669"/>
                </a:solidFill>
                <a:latin typeface="Liberation Sans"/>
              </a:rPr>
              <a:t>bem especificado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059669"/>
                </a:solidFill>
                <a:latin typeface="Liberation Sans"/>
              </a:rPr>
              <a:t>●  </a:t>
            </a:r>
            <a:r>
              <a:rPr sz="1550" b="0" i="0">
                <a:solidFill>
                  <a:srgbClr val="161E33"/>
                </a:solidFill>
                <a:latin typeface="Liberation Sans"/>
              </a:rPr>
              <a:t>traduzir entre representações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059669"/>
                </a:solidFill>
                <a:latin typeface="Liberation Sans"/>
              </a:rPr>
              <a:t>●  </a:t>
            </a:r>
            <a:r>
              <a:rPr sz="1550" b="0" i="0">
                <a:solidFill>
                  <a:srgbClr val="161E33"/>
                </a:solidFill>
                <a:latin typeface="Liberation Sans"/>
              </a:rPr>
              <a:t>gerar </a:t>
            </a:r>
            <a:r>
              <a:rPr sz="1550" b="1" i="0">
                <a:solidFill>
                  <a:srgbClr val="059669"/>
                </a:solidFill>
                <a:latin typeface="Liberation Sans"/>
              </a:rPr>
              <a:t>testes a partir de critérios explícitos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059669"/>
                </a:solidFill>
                <a:latin typeface="Liberation Sans"/>
              </a:rPr>
              <a:t>●  </a:t>
            </a:r>
            <a:r>
              <a:rPr sz="1550" b="0" i="0">
                <a:solidFill>
                  <a:srgbClr val="161E33"/>
                </a:solidFill>
                <a:latin typeface="Liberation Sans"/>
              </a:rPr>
              <a:t>refatoração mecânica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1874519"/>
            <a:ext cx="5364327" cy="3108960"/>
          </a:xfrm>
          <a:prstGeom prst="roundRect">
            <a:avLst>
              <a:gd name="adj" fmla="val 6000"/>
            </a:avLst>
          </a:prstGeom>
          <a:solidFill>
            <a:srgbClr val="FC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78727" y="1874519"/>
            <a:ext cx="109728" cy="310896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3047" y="1993392"/>
            <a:ext cx="49071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E11D48"/>
                </a:solidFill>
                <a:latin typeface="Liberation Sans"/>
              </a:rPr>
              <a:t>FAZ MAL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047" y="2560320"/>
            <a:ext cx="4815687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E11D48"/>
                </a:solidFill>
                <a:latin typeface="Liberation Sans"/>
              </a:rPr>
              <a:t>●  </a:t>
            </a:r>
            <a:r>
              <a:rPr sz="1550" b="0" i="0">
                <a:solidFill>
                  <a:srgbClr val="161E33"/>
                </a:solidFill>
                <a:latin typeface="Liberation Sans"/>
              </a:rPr>
              <a:t>decisão arquitetural com </a:t>
            </a:r>
            <a:r>
              <a:rPr sz="1550" b="1" i="0">
                <a:solidFill>
                  <a:srgbClr val="E11D48"/>
                </a:solidFill>
                <a:latin typeface="Liberation Sans"/>
              </a:rPr>
              <a:t>trade-off implícito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E11D48"/>
                </a:solidFill>
                <a:latin typeface="Liberation Sans"/>
              </a:rPr>
              <a:t>●  </a:t>
            </a:r>
            <a:r>
              <a:rPr sz="1550" b="0" i="0">
                <a:solidFill>
                  <a:srgbClr val="161E33"/>
                </a:solidFill>
                <a:latin typeface="Liberation Sans"/>
              </a:rPr>
              <a:t>corretude que depende de </a:t>
            </a:r>
            <a:r>
              <a:rPr sz="1550" b="1" i="0">
                <a:solidFill>
                  <a:srgbClr val="E11D48"/>
                </a:solidFill>
                <a:latin typeface="Liberation Sans"/>
              </a:rPr>
              <a:t>contexto não escrito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E11D48"/>
                </a:solidFill>
                <a:latin typeface="Liberation Sans"/>
              </a:rPr>
              <a:t>●  </a:t>
            </a:r>
            <a:r>
              <a:rPr sz="1550" b="0" i="0">
                <a:solidFill>
                  <a:srgbClr val="161E33"/>
                </a:solidFill>
                <a:latin typeface="Liberation Sans"/>
              </a:rPr>
              <a:t>invariantes </a:t>
            </a:r>
            <a:r>
              <a:rPr sz="1550" b="1" i="0">
                <a:solidFill>
                  <a:srgbClr val="E11D48"/>
                </a:solidFill>
                <a:latin typeface="Liberation Sans"/>
              </a:rPr>
              <a:t>não declarados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E11D48"/>
                </a:solidFill>
                <a:latin typeface="Liberation Sans"/>
              </a:rPr>
              <a:t>●  </a:t>
            </a:r>
            <a:r>
              <a:rPr sz="1550" b="0" i="0">
                <a:solidFill>
                  <a:srgbClr val="161E33"/>
                </a:solidFill>
                <a:latin typeface="Liberation Sans"/>
              </a:rPr>
              <a:t>regras que “todo mundo sabe” e ninguém anotou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166360"/>
            <a:ext cx="11094415" cy="914400"/>
          </a:xfrm>
          <a:prstGeom prst="roundRect">
            <a:avLst>
              <a:gd name="adj" fmla="val 8000"/>
            </a:avLst>
          </a:prstGeom>
          <a:solidFill>
            <a:srgbClr val="E1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66360"/>
            <a:ext cx="109728" cy="9144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166360"/>
            <a:ext cx="1050005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61E33"/>
                </a:solidFill>
                <a:latin typeface="Liberation Sans"/>
              </a:rPr>
              <a:t>A coluna da direita é toda ela </a:t>
            </a:r>
            <a:r>
              <a:rPr sz="1700" b="1" i="0">
                <a:solidFill>
                  <a:srgbClr val="E11D48"/>
                </a:solidFill>
                <a:latin typeface="Liberation Sans"/>
              </a:rPr>
              <a:t>falta de especificação</a:t>
            </a:r>
            <a:r>
              <a:rPr sz="1500" b="0" i="0">
                <a:solidFill>
                  <a:srgbClr val="161E33"/>
                </a:solidFill>
                <a:latin typeface="Liberation Sans"/>
              </a:rPr>
              <a:t>.   Custo típico: 50 mil a 500 mil tokens por tarefa; o português gasta ~1,5× mais tokens que o inglês.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1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D9488"/>
                </a:solidFill>
                <a:latin typeface="Liberation Sans"/>
              </a:rPr>
              <a:t>17 / 70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827324" cy="40233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82732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4 · CONTEXTO E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De “prompt” para “engenharia de contexto”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2EB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11094415" cy="1051560"/>
          </a:xfrm>
          <a:prstGeom prst="roundRect">
            <a:avLst>
              <a:gd name="adj" fmla="val 8000"/>
            </a:avLst>
          </a:prstGeom>
          <a:solidFill>
            <a:srgbClr val="E2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09728" cy="10515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1050005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61E33"/>
                </a:solidFill>
                <a:latin typeface="Liberation Sans"/>
              </a:rPr>
              <a:t>O trabalho não é mais escrever uma frase esperta. É </a:t>
            </a:r>
            <a:r>
              <a:rPr sz="1800" b="1" i="0">
                <a:solidFill>
                  <a:srgbClr val="059669"/>
                </a:solidFill>
                <a:latin typeface="Liberation Sans"/>
              </a:rPr>
              <a:t>decidir o que ocupa a janela</a:t>
            </a:r>
            <a:r>
              <a:rPr sz="1800" b="0" i="0">
                <a:solidFill>
                  <a:srgbClr val="161E33"/>
                </a:solidFill>
                <a:latin typeface="Liberation Sans"/>
              </a:rPr>
              <a:t> — o espaço de atenção é finito e caro (lembre do O(n²) e do S13).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57600"/>
            <a:ext cx="1879757" cy="1051560"/>
          </a:xfrm>
          <a:prstGeom prst="roundRect">
            <a:avLst>
              <a:gd name="adj" fmla="val 8000"/>
            </a:avLst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657600"/>
            <a:ext cx="1879757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749039"/>
            <a:ext cx="1834037" cy="9143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4F46E5"/>
                </a:solidFill>
                <a:latin typeface="Liberation Sans"/>
              </a:rPr>
              <a:t>instruções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74117" y="3657600"/>
            <a:ext cx="1696378" cy="1051560"/>
          </a:xfrm>
          <a:prstGeom prst="roundRect">
            <a:avLst>
              <a:gd name="adj" fmla="val 8000"/>
            </a:avLst>
          </a:prstGeom>
          <a:solidFill>
            <a:srgbClr val="E3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74117" y="3657600"/>
            <a:ext cx="1696378" cy="109728"/>
          </a:xfrm>
          <a:prstGeom prst="rect">
            <a:avLst/>
          </a:prstGeom>
          <a:solidFill>
            <a:srgbClr val="028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74117" y="3749039"/>
            <a:ext cx="1650658" cy="9143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0283C9"/>
                </a:solidFill>
                <a:latin typeface="Liberation Sans"/>
              </a:rPr>
              <a:t>ferramentas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16215" y="3657600"/>
            <a:ext cx="2888340" cy="1051560"/>
          </a:xfrm>
          <a:prstGeom prst="roundRect">
            <a:avLst>
              <a:gd name="adj" fmla="val 8000"/>
            </a:avLst>
          </a:prstGeom>
          <a:solidFill>
            <a:srgbClr val="F2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16215" y="3657600"/>
            <a:ext cx="288834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16215" y="3749039"/>
            <a:ext cx="2842620" cy="9143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7C3AED"/>
                </a:solidFill>
                <a:latin typeface="Liberation Sans"/>
              </a:rPr>
              <a:t>histórico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50275" y="3657600"/>
            <a:ext cx="3071718" cy="1051560"/>
          </a:xfrm>
          <a:prstGeom prst="roundRect">
            <a:avLst>
              <a:gd name="adj" fmla="val 8000"/>
            </a:avLst>
          </a:prstGeom>
          <a:solidFill>
            <a:srgbClr val="E2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50275" y="3657600"/>
            <a:ext cx="3071718" cy="10972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50275" y="3749039"/>
            <a:ext cx="3025998" cy="9143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059669"/>
                </a:solidFill>
                <a:latin typeface="Liberation Sans"/>
              </a:rPr>
              <a:t>documentos (RAG)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67714" y="3657600"/>
            <a:ext cx="1329620" cy="1051560"/>
          </a:xfrm>
          <a:prstGeom prst="roundRect">
            <a:avLst>
              <a:gd name="adj" fmla="val 8000"/>
            </a:avLst>
          </a:prstGeom>
          <a:solidFill>
            <a:srgbClr val="FC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267714" y="3657600"/>
            <a:ext cx="1329620" cy="10972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7714" y="3749039"/>
            <a:ext cx="1283900" cy="9143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D97706"/>
                </a:solidFill>
                <a:latin typeface="Liberation Sans"/>
              </a:rPr>
              <a:t>saída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89204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5A667E"/>
                </a:solidFill>
                <a:latin typeface="Liberation Sans"/>
              </a:rPr>
              <a:t>A “janela de contexto”: um orçamento fixo a ser gasto com disciplina.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2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59669"/>
                </a:solidFill>
                <a:latin typeface="Liberation Sans"/>
              </a:rPr>
              <a:t>18 / 70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827324" cy="40233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82732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4 · CONTEXTO E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RAG: como funciona, e onde quebra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2EB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17_r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229" y="1783080"/>
            <a:ext cx="8965235" cy="46177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2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59669"/>
                </a:solidFill>
                <a:latin typeface="Liberation Sans"/>
              </a:rPr>
              <a:t>19 / 70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827324" cy="40233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82732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4 · CONTEXTO E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Por que fatiar mal destrói um critério de IRAS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2EB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11094415" cy="1051560"/>
          </a:xfrm>
          <a:prstGeom prst="roundRect">
            <a:avLst>
              <a:gd name="adj" fmla="val 10000"/>
            </a:avLst>
          </a:prstGeom>
          <a:solidFill>
            <a:srgbClr val="E2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09728" cy="10515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1054577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59669"/>
                </a:solidFill>
                <a:latin typeface="Liberation Sans"/>
              </a:rPr>
              <a:t>O critério de definição de caso (ICSAC) ocupa três parágrafos.</a:t>
            </a:r>
            <a:r>
              <a:rPr sz="1650" b="0" i="0">
                <a:solidFill>
                  <a:srgbClr val="161E33"/>
                </a:solidFill>
                <a:latin typeface="Liberation Sans"/>
              </a:rPr>
              <a:t>  Critério clínico + critério laboratorial + janela temporal — os três precisam ser lidos JUNTOS.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54096"/>
            <a:ext cx="11094415" cy="1051560"/>
          </a:xfrm>
          <a:prstGeom prst="roundRect">
            <a:avLst>
              <a:gd name="adj" fmla="val 10000"/>
            </a:avLst>
          </a:prstGeom>
          <a:solidFill>
            <a:srgbClr val="FC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054096"/>
            <a:ext cx="109728" cy="1051560"/>
          </a:xfrm>
          <a:prstGeom prst="rect">
            <a:avLst/>
          </a:prstGeom>
          <a:solidFill>
            <a:srgbClr val="E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054096"/>
            <a:ext cx="1054577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E06A00"/>
                </a:solidFill>
                <a:latin typeface="Liberation Sans"/>
              </a:rPr>
              <a:t>Em pedaços de 512 tokens, o laboratorial se separa da janela.</a:t>
            </a:r>
            <a:r>
              <a:rPr sz="1650" b="0" i="0">
                <a:solidFill>
                  <a:srgbClr val="161E33"/>
                </a:solidFill>
                <a:latin typeface="Liberation Sans"/>
              </a:rPr>
              <a:t>  A recuperação devolve metade da regra; o modelo completa o resto sozinho — e notifica um FALSO POSITIVO.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33672"/>
            <a:ext cx="11094415" cy="1051560"/>
          </a:xfrm>
          <a:prstGeom prst="roundRect">
            <a:avLst>
              <a:gd name="adj" fmla="val 10000"/>
            </a:avLst>
          </a:prstGeom>
          <a:solidFill>
            <a:srgbClr val="E6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233672"/>
            <a:ext cx="109728" cy="1051560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33672"/>
            <a:ext cx="1054577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9D58"/>
                </a:solidFill>
                <a:latin typeface="Liberation Sans"/>
              </a:rPr>
              <a:t>A correção: fatiar pela unidade lógica, não por tamanho fixo.</a:t>
            </a:r>
            <a:r>
              <a:rPr sz="1650" b="0" i="0">
                <a:solidFill>
                  <a:srgbClr val="161E33"/>
                </a:solidFill>
                <a:latin typeface="Liberation Sans"/>
              </a:rPr>
              <a:t>  Chunking semântico pela regra inteira + metadados por tipo de infecção + expansão de janela ao redor do trecho.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2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59669"/>
                </a:solidFill>
                <a:latin typeface="Liberation Sans"/>
              </a:rPr>
              <a:t>20 / 70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827324" cy="40233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82732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4 · CONTEXTO E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Saída estruturada como contrato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2EB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5577840" cy="2706624"/>
          </a:xfrm>
          <a:prstGeom prst="roundRect">
            <a:avLst>
              <a:gd name="adj" fmla="val 5000"/>
            </a:avLst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2103120"/>
            <a:ext cx="109728" cy="109728"/>
          </a:xfrm>
          <a:prstGeom prst="ellipse">
            <a:avLst/>
          </a:prstGeom>
          <a:solidFill>
            <a:srgbClr val="F26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2103120"/>
            <a:ext cx="109728" cy="109728"/>
          </a:xfrm>
          <a:prstGeom prst="ellipse">
            <a:avLst/>
          </a:prstGeom>
          <a:solidFill>
            <a:srgbClr val="F4B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15568" y="2103120"/>
            <a:ext cx="109728" cy="109728"/>
          </a:xfrm>
          <a:prstGeom prst="ellipse">
            <a:avLst/>
          </a:prstGeom>
          <a:solidFill>
            <a:srgbClr val="62C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2377440"/>
            <a:ext cx="5029200" cy="21579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AEFFA"/>
                </a:solidFill>
                <a:latin typeface="DejaVu Sans Mono"/>
              </a:rPr>
              <a:t>{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AEFFA"/>
                </a:solidFill>
                <a:latin typeface="DejaVu Sans Mono"/>
              </a:rPr>
              <a:t>  "criterio": "ICSAC-corrente-sanguinea",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AEFFA"/>
                </a:solidFill>
                <a:latin typeface="DejaVu Sans Mono"/>
              </a:rPr>
              <a:t>  "atendido": true,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AEFFA"/>
                </a:solidFill>
                <a:latin typeface="DejaVu Sans Mono"/>
              </a:rPr>
              <a:t>  "evidencia_textual":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AEFFA"/>
                </a:solidFill>
                <a:latin typeface="DejaVu Sans Mono"/>
              </a:rPr>
              <a:t>     "hemocultura + para S. aureus em 12/03",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AEFFA"/>
                </a:solidFill>
                <a:latin typeface="DejaVu Sans Mono"/>
              </a:rPr>
              <a:t>  "data_referencia": "2026-03-12",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AEFFA"/>
                </a:solidFill>
                <a:latin typeface="DejaVu Sans Mono"/>
              </a:rPr>
              <a:t>  "confianca": 0.91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AEFFA"/>
                </a:solidFill>
                <a:latin typeface="DejaVu Sans Mono"/>
              </a:rP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920240"/>
            <a:ext cx="5287975" cy="1051560"/>
          </a:xfrm>
          <a:prstGeom prst="roundRect">
            <a:avLst>
              <a:gd name="adj" fmla="val 10000"/>
            </a:avLst>
          </a:prstGeom>
          <a:solidFill>
            <a:srgbClr val="E2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920240"/>
            <a:ext cx="109728" cy="10515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920240"/>
            <a:ext cx="473933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59669"/>
                </a:solidFill>
                <a:latin typeface="Liberation Sans"/>
              </a:rPr>
              <a:t>Um esquema (schema) por critério.</a:t>
            </a:r>
            <a:r>
              <a:rPr sz="1550" b="0" i="0">
                <a:solidFill>
                  <a:srgbClr val="161E33"/>
                </a:solidFill>
                <a:latin typeface="Liberation Sans"/>
              </a:rPr>
              <a:t>  Booleano do resultado, o trecho literal que o justifica, a data de referência e a confiança.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3099816"/>
            <a:ext cx="5287975" cy="1051560"/>
          </a:xfrm>
          <a:prstGeom prst="roundRect">
            <a:avLst>
              <a:gd name="adj" fmla="val 10000"/>
            </a:avLst>
          </a:prstGeom>
          <a:solidFill>
            <a:srgbClr val="E6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3099816"/>
            <a:ext cx="109728" cy="1051560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3099816"/>
            <a:ext cx="473933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F9D58"/>
                </a:solidFill>
                <a:latin typeface="Liberation Sans"/>
              </a:rPr>
              <a:t>Todo booleano vem com a evidência citada.</a:t>
            </a:r>
            <a:r>
              <a:rPr sz="1550" b="0" i="0">
                <a:solidFill>
                  <a:srgbClr val="161E33"/>
                </a:solidFill>
                <a:latin typeface="Liberation Sans"/>
              </a:rPr>
              <a:t>  Sem o trecho literal não há revisão humana viável nem trilha de auditoria.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4279392"/>
            <a:ext cx="5287975" cy="1051560"/>
          </a:xfrm>
          <a:prstGeom prst="roundRect">
            <a:avLst>
              <a:gd name="adj" fmla="val 10000"/>
            </a:avLst>
          </a:prstGeom>
          <a:solidFill>
            <a:srgbClr val="FC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4279392"/>
            <a:ext cx="109728" cy="1051560"/>
          </a:xfrm>
          <a:prstGeom prst="rect">
            <a:avLst/>
          </a:prstGeom>
          <a:solidFill>
            <a:srgbClr val="E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4279392"/>
            <a:ext cx="473933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E06A00"/>
                </a:solidFill>
                <a:latin typeface="Liberation Sans"/>
              </a:rPr>
              <a:t>Não peça parecer. Peça formulário preenchido.</a:t>
            </a:r>
            <a:r>
              <a:rPr sz="1550" b="0" i="0">
                <a:solidFill>
                  <a:srgbClr val="161E33"/>
                </a:solidFill>
                <a:latin typeface="Liberation Sans"/>
              </a:rPr>
              <a:t>  “Formulário com evidência citada”, não “texto livre opinando”.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2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59669"/>
                </a:solidFill>
                <a:latin typeface="Liberation Sans"/>
              </a:rPr>
              <a:t>21 / 70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827324" cy="40233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82732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4 · CONTEXTO E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Avaliação e proteções (guardrails)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2EB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874519"/>
          <a:ext cx="11094415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53035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Liberation Sans"/>
                        </a:rPr>
                        <a:t>Eixo</a:t>
                      </a:r>
                    </a:p>
                  </a:txBody>
                  <a:tcPr anchor="ctr" marL="73152" marR="73152" marT="27432" marB="27432">
                    <a:solidFill>
                      <a:srgbClr val="05966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Liberation Sans"/>
                        </a:rPr>
                        <a:t>O que medir</a:t>
                      </a:r>
                    </a:p>
                  </a:txBody>
                  <a:tcPr anchor="ctr" marL="73152" marR="73152" marT="27432" marB="27432">
                    <a:solidFill>
                      <a:srgbClr val="05966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Liberation Sans"/>
                        </a:rPr>
                        <a:t>Por quê</a:t>
                      </a:r>
                    </a:p>
                  </a:txBody>
                  <a:tcPr anchor="ctr" marL="73152" marR="73152" marT="27432" marB="27432">
                    <a:solidFill>
                      <a:srgbClr val="05966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61E33"/>
                          </a:solidFill>
                          <a:latin typeface="Liberation Sans"/>
                        </a:rPr>
                        <a:t>Estratificação</a:t>
                      </a:r>
                    </a:p>
                  </a:txBody>
                  <a:tcPr anchor="ctr" marL="73152" marR="73152" marT="18288" marB="18288">
                    <a:solidFill>
                      <a:srgbClr val="E2F6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61E33"/>
                          </a:solidFill>
                          <a:latin typeface="Liberation Sans"/>
                        </a:rPr>
                        <a:t>sensibilidade e especificidade POR tipo de infecção</a:t>
                      </a:r>
                    </a:p>
                  </a:txBody>
                  <a:tcPr anchor="ctr" marL="73152" marR="73152" marT="18288" marB="18288">
                    <a:solidFill>
                      <a:srgbClr val="E2F6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61E33"/>
                          </a:solidFill>
                          <a:latin typeface="Liberation Sans"/>
                        </a:rPr>
                        <a:t>o custo do erro muda por infecção</a:t>
                      </a:r>
                    </a:p>
                  </a:txBody>
                  <a:tcPr anchor="ctr" marL="73152" marR="73152" marT="18288" marB="18288">
                    <a:solidFill>
                      <a:srgbClr val="E2F6E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61E33"/>
                          </a:solidFill>
                          <a:latin typeface="Liberation Sans"/>
                        </a:rPr>
                        <a:t>Conjunto dourado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61E33"/>
                          </a:solidFill>
                          <a:latin typeface="Liberation Sans"/>
                        </a:rPr>
                        <a:t>casos revisados por infectologista, versionado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61E33"/>
                          </a:solidFill>
                          <a:latin typeface="Liberation Sans"/>
                        </a:rPr>
                        <a:t>verdade de referência estável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61E33"/>
                          </a:solidFill>
                          <a:latin typeface="Liberation Sans"/>
                        </a:rPr>
                        <a:t>Gatilho de CI</a:t>
                      </a:r>
                    </a:p>
                  </a:txBody>
                  <a:tcPr anchor="ctr" marL="73152" marR="73152" marT="18288" marB="18288">
                    <a:solidFill>
                      <a:srgbClr val="E2F6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61E33"/>
                          </a:solidFill>
                          <a:latin typeface="Liberation Sans"/>
                        </a:rPr>
                        <a:t>roda a cada mudança de prompt, MODELO ou base</a:t>
                      </a:r>
                    </a:p>
                  </a:txBody>
                  <a:tcPr anchor="ctr" marL="73152" marR="73152" marT="18288" marB="18288">
                    <a:solidFill>
                      <a:srgbClr val="E2F6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61E33"/>
                          </a:solidFill>
                          <a:latin typeface="Liberation Sans"/>
                        </a:rPr>
                        <a:t>trocar versão = mudança controlada</a:t>
                      </a:r>
                    </a:p>
                  </a:txBody>
                  <a:tcPr anchor="ctr" marL="73152" marR="73152" marT="18288" marB="18288">
                    <a:solidFill>
                      <a:srgbClr val="E2F6E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61E33"/>
                          </a:solidFill>
                          <a:latin typeface="Liberation Sans"/>
                        </a:rPr>
                        <a:t>Asserção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61E33"/>
                          </a:solidFill>
                          <a:latin typeface="Liberation Sans"/>
                        </a:rPr>
                        <a:t>um teste com assert sobre o conjunto dourado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61E33"/>
                          </a:solidFill>
                          <a:latin typeface="Liberation Sans"/>
                        </a:rPr>
                        <a:t>o portão é código, não opinião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754880"/>
            <a:ext cx="11094415" cy="1051560"/>
          </a:xfrm>
          <a:prstGeom prst="roundRect">
            <a:avLst>
              <a:gd name="adj" fmla="val 8000"/>
            </a:avLst>
          </a:prstGeom>
          <a:solidFill>
            <a:srgbClr val="E2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4754880"/>
            <a:ext cx="109728" cy="10515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754880"/>
            <a:ext cx="1050005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59669"/>
                </a:solidFill>
                <a:latin typeface="Liberation Sans"/>
              </a:rPr>
              <a:t>Acurácia agregada é inútil aqui: </a:t>
            </a:r>
            <a:r>
              <a:rPr sz="1450" b="0" i="0">
                <a:solidFill>
                  <a:srgbClr val="161E33"/>
                </a:solidFill>
                <a:latin typeface="Liberation Sans"/>
              </a:rPr>
              <a:t>falso negativo e falso positivo têm custos assimétricos e diferentes por infecção. Guardrails: menor privilégio, anonimizar antes de sair, e cuidado com injeção vinda do próprio prontuário (LGPD).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2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59669"/>
                </a:solidFill>
                <a:latin typeface="Liberation Sans"/>
              </a:rPr>
              <a:t>22 / 70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136038" cy="40233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13603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5 · AGENTES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Definição operacional (sem misticismo)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EA9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11094415" cy="1143000"/>
          </a:xfrm>
          <a:prstGeom prst="roundRect">
            <a:avLst>
              <a:gd name="adj" fmla="val 6000"/>
            </a:avLst>
          </a:prstGeom>
          <a:solidFill>
            <a:srgbClr val="FC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46304" cy="1143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74519"/>
            <a:ext cx="10271455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D97706"/>
                </a:solidFill>
                <a:latin typeface="Liberation Sans"/>
              </a:rPr>
              <a:t>Um agente é um modelo em laço, com ferramentas, sobre um ambiente, com critério de parada.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46120"/>
            <a:ext cx="11094415" cy="868680"/>
          </a:xfrm>
          <a:prstGeom prst="roundRect">
            <a:avLst>
              <a:gd name="adj" fmla="val 10000"/>
            </a:avLst>
          </a:prstGeom>
          <a:solidFill>
            <a:srgbClr val="FC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246120"/>
            <a:ext cx="109728" cy="8686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246120"/>
            <a:ext cx="1054577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D97706"/>
                </a:solidFill>
                <a:latin typeface="Liberation Sans"/>
              </a:rPr>
              <a:t>O que NÃO é agente:</a:t>
            </a:r>
            <a:r>
              <a:rPr sz="1650" b="0" i="0">
                <a:solidFill>
                  <a:srgbClr val="161E33"/>
                </a:solidFill>
                <a:latin typeface="Liberation Sans"/>
              </a:rPr>
              <a:t>  fluxo de caminho fixo com o modelo nos nós. Isso é um workflow — e quase sempre é a escolha certa.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480560"/>
            <a:ext cx="2613583" cy="685800"/>
          </a:xfrm>
          <a:prstGeom prst="roundRect">
            <a:avLst>
              <a:gd name="adj" fmla="val 10000"/>
            </a:avLst>
          </a:prstGeom>
          <a:solidFill>
            <a:srgbClr val="E2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480560"/>
            <a:ext cx="2613583" cy="914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553712"/>
            <a:ext cx="2613583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59669"/>
                </a:solidFill>
                <a:latin typeface="Liberation Sans"/>
              </a:rPr>
              <a:t>determinístico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7631" y="457200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5A667E"/>
                </a:solidFill>
                <a:latin typeface="Liberation San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53663" y="4480560"/>
            <a:ext cx="2613583" cy="685800"/>
          </a:xfrm>
          <a:prstGeom prst="roundRect">
            <a:avLst>
              <a:gd name="adj" fmla="val 10000"/>
            </a:avLst>
          </a:prstGeom>
          <a:solidFill>
            <a:srgbClr val="E1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53663" y="4480560"/>
            <a:ext cx="2613583" cy="914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53663" y="4553712"/>
            <a:ext cx="2613583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D9488"/>
                </a:solidFill>
                <a:latin typeface="Liberation Sans"/>
              </a:rPr>
              <a:t>roteado por modelo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02655" y="457200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5A667E"/>
                </a:solidFill>
                <a:latin typeface="Liberation San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58687" y="4480560"/>
            <a:ext cx="2613583" cy="685800"/>
          </a:xfrm>
          <a:prstGeom prst="roundRect">
            <a:avLst>
              <a:gd name="adj" fmla="val 10000"/>
            </a:avLst>
          </a:prstGeom>
          <a:solidFill>
            <a:srgbClr val="FC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58687" y="4480560"/>
            <a:ext cx="2613583" cy="914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58687" y="4553712"/>
            <a:ext cx="2613583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D97706"/>
                </a:solidFill>
                <a:latin typeface="Liberation Sans"/>
              </a:rPr>
              <a:t>agente com ferramentas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7679" y="457200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5A667E"/>
                </a:solidFill>
                <a:latin typeface="Liberation San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63711" y="4480560"/>
            <a:ext cx="2613583" cy="685800"/>
          </a:xfrm>
          <a:prstGeom prst="roundRect">
            <a:avLst>
              <a:gd name="adj" fmla="val 10000"/>
            </a:avLst>
          </a:prstGeom>
          <a:solidFill>
            <a:srgbClr val="FC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663711" y="4480560"/>
            <a:ext cx="2613583" cy="9144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63711" y="4553712"/>
            <a:ext cx="2613583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11D48"/>
                </a:solidFill>
                <a:latin typeface="Liberation Sans"/>
              </a:rPr>
              <a:t>autônomo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349240"/>
            <a:ext cx="11094415" cy="777240"/>
          </a:xfrm>
          <a:prstGeom prst="roundRect">
            <a:avLst>
              <a:gd name="adj" fmla="val 8000"/>
            </a:avLst>
          </a:prstGeom>
          <a:solidFill>
            <a:srgbClr val="FC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5349240"/>
            <a:ext cx="109728" cy="7772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349240"/>
            <a:ext cx="105000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D97706"/>
                </a:solidFill>
                <a:latin typeface="Liberation Sans"/>
              </a:rPr>
              <a:t>Eixo da autonomia: </a:t>
            </a:r>
            <a:r>
              <a:rPr sz="1500" b="0" i="0">
                <a:solidFill>
                  <a:srgbClr val="161E33"/>
                </a:solidFill>
                <a:latin typeface="Liberation Sans"/>
              </a:rPr>
              <a:t>da esquerda para a direita, mais poder e mais risco. Autonomia é custo, não virtude — escolha o mínimo que resolve.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C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D97706"/>
                </a:solidFill>
                <a:latin typeface="Liberation Sans"/>
              </a:rPr>
              <a:t>23 / 70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136038" cy="40233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13603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5 · AGENTES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O laço agêntico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EA9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22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973" y="1783080"/>
            <a:ext cx="8625748" cy="46177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C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D97706"/>
                </a:solidFill>
                <a:latin typeface="Liberation Sans"/>
              </a:rPr>
              <a:t>24 / 70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136038" cy="40233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13603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5 · AGENTES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“Tool use”: usar ferramentas sem framework nenhum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EA9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6035040" cy="2999232"/>
          </a:xfrm>
          <a:prstGeom prst="roundRect">
            <a:avLst>
              <a:gd name="adj" fmla="val 5000"/>
            </a:avLst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2103120"/>
            <a:ext cx="109728" cy="109728"/>
          </a:xfrm>
          <a:prstGeom prst="ellipse">
            <a:avLst/>
          </a:prstGeom>
          <a:solidFill>
            <a:srgbClr val="F26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2103120"/>
            <a:ext cx="109728" cy="109728"/>
          </a:xfrm>
          <a:prstGeom prst="ellipse">
            <a:avLst/>
          </a:prstGeom>
          <a:solidFill>
            <a:srgbClr val="F4B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15568" y="2103120"/>
            <a:ext cx="109728" cy="109728"/>
          </a:xfrm>
          <a:prstGeom prst="ellipse">
            <a:avLst/>
          </a:prstGeom>
          <a:solidFill>
            <a:srgbClr val="62C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2377440"/>
            <a:ext cx="5486400" cy="2450591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AEFFA"/>
                </a:solidFill>
                <a:latin typeface="DejaVu Sans Mono"/>
              </a:rPr>
              <a:t># 1. você DESCREVE a ferramenta (isto é prompt!)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AEFFA"/>
                </a:solidFill>
                <a:latin typeface="DejaVu Sans Mono"/>
              </a:rPr>
              <a:t>ferramenta = {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AEFFA"/>
                </a:solidFill>
                <a:latin typeface="DejaVu Sans Mono"/>
              </a:rPr>
              <a:t>  "nome": "consultar_microbiologia",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AEFFA"/>
                </a:solidFill>
                <a:latin typeface="DejaVu Sans Mono"/>
              </a:rPr>
              <a:t>  "parametros": {"paciente_id": "str",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AEFFA"/>
                </a:solidFill>
                <a:latin typeface="DejaVu Sans Mono"/>
              </a:rPr>
              <a:t>                 "janela_dias": "int"}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AEFFA"/>
                </a:solidFill>
                <a:latin typeface="DejaVu Sans Mono"/>
              </a:rPr>
              <a:t>}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AEFFA"/>
                </a:solidFill>
                <a:latin typeface="DejaVu Sans Mono"/>
              </a:rPr>
              <a:t># 2. o modelo responde pedindo a chamada (tool_use)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AEFFA"/>
                </a:solidFill>
                <a:latin typeface="DejaVu Sans Mono"/>
              </a:rPr>
              <a:t># 3. VOCÊ executa e devolve o resultado (tool_result)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AEFFA"/>
                </a:solidFill>
                <a:latin typeface="DejaVu Sans Mono"/>
              </a:rPr>
              <a:t># 4. repete num while explícito até a resposta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1920240"/>
            <a:ext cx="4830775" cy="1051560"/>
          </a:xfrm>
          <a:prstGeom prst="roundRect">
            <a:avLst>
              <a:gd name="adj" fmla="val 10000"/>
            </a:avLst>
          </a:prstGeom>
          <a:solidFill>
            <a:srgbClr val="FC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12280" y="1920240"/>
            <a:ext cx="109728" cy="10515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1920240"/>
            <a:ext cx="428213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97706"/>
                </a:solidFill>
                <a:latin typeface="Liberation Sans"/>
              </a:rPr>
              <a:t>O laço agêntico tem trinta linhas.</a:t>
            </a:r>
            <a:r>
              <a:rPr sz="1600" b="0" i="0">
                <a:solidFill>
                  <a:srgbClr val="161E33"/>
                </a:solidFill>
                <a:latin typeface="Liberation Sans"/>
              </a:rPr>
              <a:t>  Tudo que vem depois — os frameworks do Bloco 7 — é conveniência, não mágica.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2280" y="3099816"/>
            <a:ext cx="4830775" cy="1051560"/>
          </a:xfrm>
          <a:prstGeom prst="roundRect">
            <a:avLst>
              <a:gd name="adj" fmla="val 10000"/>
            </a:avLst>
          </a:prstGeom>
          <a:solidFill>
            <a:srgbClr val="FC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12280" y="3099816"/>
            <a:ext cx="109728" cy="1051560"/>
          </a:xfrm>
          <a:prstGeom prst="rect">
            <a:avLst/>
          </a:prstGeom>
          <a:solidFill>
            <a:srgbClr val="E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3099816"/>
            <a:ext cx="428213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06A00"/>
                </a:solidFill>
                <a:latin typeface="Liberation Sans"/>
              </a:rPr>
              <a:t>A descrição da ferramenta É prompt.</a:t>
            </a:r>
            <a:r>
              <a:rPr sz="1600" b="0" i="0">
                <a:solidFill>
                  <a:srgbClr val="161E33"/>
                </a:solidFill>
                <a:latin typeface="Liberation Sans"/>
              </a:rPr>
              <a:t>  Descrição ruim de ferramenta causa mais falha do que prompt de sistema ruim.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C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D97706"/>
                </a:solidFill>
                <a:latin typeface="Liberation Sans"/>
              </a:rPr>
              <a:t>25 / 70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136038" cy="40233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13603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5 · AGENTES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Componentes de um agente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EA9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11094415" cy="1024128"/>
          </a:xfrm>
          <a:prstGeom prst="roundRect">
            <a:avLst>
              <a:gd name="adj" fmla="val 10000"/>
            </a:avLst>
          </a:prstGeom>
          <a:solidFill>
            <a:srgbClr val="FC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09728" cy="102412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1054577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D97706"/>
                </a:solidFill>
                <a:latin typeface="Liberation Sans"/>
              </a:rPr>
              <a:t>Memória curta × longa.</a:t>
            </a:r>
            <a:r>
              <a:rPr sz="1650" b="0" i="0">
                <a:solidFill>
                  <a:srgbClr val="161E33"/>
                </a:solidFill>
                <a:latin typeface="Liberation Sans"/>
              </a:rPr>
              <a:t>  Curta = a conversa atual; longa = o que persiste entre execuções.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26664"/>
            <a:ext cx="11094415" cy="1024128"/>
          </a:xfrm>
          <a:prstGeom prst="roundRect">
            <a:avLst>
              <a:gd name="adj" fmla="val 10000"/>
            </a:avLst>
          </a:prstGeom>
          <a:solidFill>
            <a:srgbClr val="FC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026664"/>
            <a:ext cx="109728" cy="102412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026664"/>
            <a:ext cx="1054577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D97706"/>
                </a:solidFill>
                <a:latin typeface="Liberation Sans"/>
              </a:rPr>
              <a:t>Planejamento.</a:t>
            </a:r>
            <a:r>
              <a:rPr sz="1650" b="0" i="0">
                <a:solidFill>
                  <a:srgbClr val="161E33"/>
                </a:solidFill>
                <a:latin typeface="Liberation Sans"/>
              </a:rPr>
              <a:t>  Quebrar o objetivo em passos antes de agir.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78808"/>
            <a:ext cx="11094415" cy="1024128"/>
          </a:xfrm>
          <a:prstGeom prst="roundRect">
            <a:avLst>
              <a:gd name="adj" fmla="val 10000"/>
            </a:avLst>
          </a:prstGeom>
          <a:solidFill>
            <a:srgbClr val="FC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178808"/>
            <a:ext cx="109728" cy="102412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178808"/>
            <a:ext cx="1054577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D97706"/>
                </a:solidFill>
                <a:latin typeface="Liberation Sans"/>
              </a:rPr>
              <a:t>Reflexão.</a:t>
            </a:r>
            <a:r>
              <a:rPr sz="1650" b="0" i="0">
                <a:solidFill>
                  <a:srgbClr val="161E33"/>
                </a:solidFill>
                <a:latin typeface="Liberation Sans"/>
              </a:rPr>
              <a:t>  Criticar o próprio resultado e tentar de novo.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330952"/>
            <a:ext cx="11094415" cy="1024128"/>
          </a:xfrm>
          <a:prstGeom prst="roundRect">
            <a:avLst>
              <a:gd name="adj" fmla="val 10000"/>
            </a:avLst>
          </a:prstGeom>
          <a:solidFill>
            <a:srgbClr val="E6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330952"/>
            <a:ext cx="109728" cy="1024128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330952"/>
            <a:ext cx="1054577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9D58"/>
                </a:solidFill>
                <a:latin typeface="Liberation Sans"/>
              </a:rPr>
              <a:t>Memória longa em arquivo versionado costuma superar a vetorial em regras estáveis.</a:t>
            </a:r>
            <a:r>
              <a:rPr sz="1650" b="0" i="0">
                <a:solidFill>
                  <a:srgbClr val="161E33"/>
                </a:solidFill>
                <a:latin typeface="Liberation Sans"/>
              </a:rPr>
              <a:t>  É auditável e comparável em diff — gancho direto para o formato OKF do S31.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C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D97706"/>
                </a:solidFill>
                <a:latin typeface="Liberation Sans"/>
              </a:rPr>
              <a:t>26 / 70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136038" cy="40233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13603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5 · AGENTES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Os seis padrões de composição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EA9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25_patte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498" y="1783080"/>
            <a:ext cx="9092697" cy="46177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C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D97706"/>
                </a:solidFill>
                <a:latin typeface="Liberation Sans"/>
              </a:rPr>
              <a:t>27 / 70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136038" cy="40233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13603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5 · AGENTES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O mesmo caso resolvido de três formas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EA9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C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109728" cy="8229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50005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D97706"/>
                </a:solidFill>
                <a:latin typeface="Liberation Sans"/>
              </a:rPr>
              <a:t>Caso: </a:t>
            </a:r>
            <a:r>
              <a:rPr sz="1500" b="0" i="0">
                <a:solidFill>
                  <a:srgbClr val="161E33"/>
                </a:solidFill>
                <a:latin typeface="Liberation Sans"/>
              </a:rPr>
              <a:t>agente de vigilância de IRAS — varre microbiologia, prescrição e evolução; aplica os critérios; propõe a notificação; e PARA em revisão humana.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80360"/>
            <a:ext cx="3515258" cy="2926080"/>
          </a:xfrm>
          <a:prstGeom prst="roundRect">
            <a:avLst>
              <a:gd name="adj" fmla="val 7000"/>
            </a:avLst>
          </a:prstGeom>
          <a:solidFill>
            <a:srgbClr val="E2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880360"/>
            <a:ext cx="3515258" cy="5486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926080"/>
            <a:ext cx="324093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Liberation Sans"/>
              </a:rPr>
              <a:t>Encadeado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611880"/>
            <a:ext cx="305805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161E33"/>
                </a:solidFill>
                <a:latin typeface="Liberation Sans"/>
              </a:rPr>
              <a:t>passos fixos em sequência; simples, mas rígido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8218" y="2880360"/>
            <a:ext cx="3515258" cy="2926080"/>
          </a:xfrm>
          <a:prstGeom prst="roundRect">
            <a:avLst>
              <a:gd name="adj" fmla="val 7000"/>
            </a:avLst>
          </a:prstGeom>
          <a:solidFill>
            <a:srgbClr val="E1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38218" y="2880360"/>
            <a:ext cx="3515258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75378" y="2926080"/>
            <a:ext cx="324093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Liberation Sans"/>
              </a:rPr>
              <a:t>Orquestrador-
trabalhadores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6818" y="3611880"/>
            <a:ext cx="305805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161E33"/>
                </a:solidFill>
                <a:latin typeface="Liberation Sans"/>
              </a:rPr>
              <a:t>um trabalhador por tipo de infecção, contexto isolado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27796" y="2880360"/>
            <a:ext cx="3515258" cy="2926080"/>
          </a:xfrm>
          <a:prstGeom prst="roundRect">
            <a:avLst>
              <a:gd name="adj" fmla="val 7000"/>
            </a:avLst>
          </a:prstGeom>
          <a:solidFill>
            <a:srgbClr val="FC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27796" y="2880360"/>
            <a:ext cx="3515258" cy="548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4956" y="2926080"/>
            <a:ext cx="324093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Liberation Sans"/>
              </a:rPr>
              <a:t>Avaliador-
otimizador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6396" y="3611880"/>
            <a:ext cx="305805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161E33"/>
                </a:solidFill>
                <a:latin typeface="Liberation Sans"/>
              </a:rPr>
              <a:t>um crítico contesta contra o critério normativo: menos falso positivo, ~2× tokens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C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D97706"/>
                </a:solidFill>
                <a:latin typeface="Liberation Sans"/>
              </a:rPr>
              <a:t>28 / 70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136038" cy="40233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13603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5 · AGENTES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Multiagente: quando compensa (e quando não)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EA9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11094415" cy="1051560"/>
          </a:xfrm>
          <a:prstGeom prst="roundRect">
            <a:avLst>
              <a:gd name="adj" fmla="val 10000"/>
            </a:avLst>
          </a:prstGeom>
          <a:solidFill>
            <a:srgbClr val="FC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09728" cy="10515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1054577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D97706"/>
                </a:solidFill>
                <a:latin typeface="Liberation Sans"/>
              </a:rPr>
              <a:t>Só compensa com subtarefas paralelizáveis E contextos isolados.</a:t>
            </a:r>
            <a:r>
              <a:rPr sz="1650" b="0" i="0">
                <a:solidFill>
                  <a:srgbClr val="161E33"/>
                </a:solidFill>
                <a:latin typeface="Liberation Sans"/>
              </a:rPr>
              <a:t>  Se as partes não são independentes, o custo explode sem ganho.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54096"/>
            <a:ext cx="11094415" cy="1051560"/>
          </a:xfrm>
          <a:prstGeom prst="roundRect">
            <a:avLst>
              <a:gd name="adj" fmla="val 10000"/>
            </a:avLst>
          </a:prstGeom>
          <a:solidFill>
            <a:srgbClr val="FC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054096"/>
            <a:ext cx="109728" cy="1051560"/>
          </a:xfrm>
          <a:prstGeom prst="rect">
            <a:avLst/>
          </a:prstGeom>
          <a:solidFill>
            <a:srgbClr val="E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054096"/>
            <a:ext cx="1054577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E06A00"/>
                </a:solidFill>
                <a:latin typeface="Liberation Sans"/>
              </a:rPr>
              <a:t>Em fluxo linear: 4 a 15× mais tokens para reimplementar um “if”.</a:t>
            </a:r>
            <a:r>
              <a:rPr sz="1650" b="0" i="0">
                <a:solidFill>
                  <a:srgbClr val="161E33"/>
                </a:solidFill>
                <a:latin typeface="Liberation Sans"/>
              </a:rPr>
              <a:t>  Vários agentes conversando para decidir o que um condicional resolveria.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33672"/>
            <a:ext cx="11094415" cy="1051560"/>
          </a:xfrm>
          <a:prstGeom prst="roundRect">
            <a:avLst>
              <a:gd name="adj" fmla="val 10000"/>
            </a:avLst>
          </a:prstGeom>
          <a:solidFill>
            <a:srgbClr val="FC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233672"/>
            <a:ext cx="109728" cy="10515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33672"/>
            <a:ext cx="1054577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D97706"/>
                </a:solidFill>
                <a:latin typeface="Liberation Sans"/>
              </a:rPr>
              <a:t>A passagem de contexto entre agentes é “lossy”.</a:t>
            </a:r>
            <a:r>
              <a:rPr sz="1650" b="0" i="0">
                <a:solidFill>
                  <a:srgbClr val="161E33"/>
                </a:solidFill>
                <a:latin typeface="Liberation Sans"/>
              </a:rPr>
              <a:t>  Cada repasse perde informação — como fotocópia de fotocópia.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C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D97706"/>
                </a:solidFill>
                <a:latin typeface="Liberation Sans"/>
              </a:rPr>
              <a:t>29 / 70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136038" cy="40233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13603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5 · AGENTES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Por que agentes falham em produção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EA9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28_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68044"/>
            <a:ext cx="6675120" cy="344779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0" y="1874519"/>
            <a:ext cx="4327855" cy="1051560"/>
          </a:xfrm>
          <a:prstGeom prst="roundRect">
            <a:avLst>
              <a:gd name="adj" fmla="val 10000"/>
            </a:avLst>
          </a:prstGeom>
          <a:solidFill>
            <a:srgbClr val="FC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1874519"/>
            <a:ext cx="109728" cy="10515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874519"/>
            <a:ext cx="377921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97706"/>
                </a:solidFill>
                <a:latin typeface="Liberation Sans"/>
              </a:rPr>
              <a:t>Erro composto.</a:t>
            </a:r>
            <a:r>
              <a:rPr sz="1500" b="0" i="0">
                <a:solidFill>
                  <a:srgbClr val="161E33"/>
                </a:solidFill>
                <a:latin typeface="Liberation Sans"/>
              </a:rPr>
              <a:t>  95% de acerto por passo, 20 passos → só 36% de sucesso fim a fim.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3054096"/>
            <a:ext cx="4327855" cy="1051560"/>
          </a:xfrm>
          <a:prstGeom prst="roundRect">
            <a:avLst>
              <a:gd name="adj" fmla="val 10000"/>
            </a:avLst>
          </a:prstGeom>
          <a:solidFill>
            <a:srgbClr val="FC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0" y="3054096"/>
            <a:ext cx="109728" cy="1051560"/>
          </a:xfrm>
          <a:prstGeom prst="rect">
            <a:avLst/>
          </a:prstGeom>
          <a:solidFill>
            <a:srgbClr val="E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3054096"/>
            <a:ext cx="377921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06A00"/>
                </a:solidFill>
                <a:latin typeface="Liberation Sans"/>
              </a:rPr>
              <a:t>Modos de falha:</a:t>
            </a:r>
            <a:r>
              <a:rPr sz="1500" b="0" i="0">
                <a:solidFill>
                  <a:srgbClr val="161E33"/>
                </a:solidFill>
                <a:latin typeface="Liberation Sans"/>
              </a:rPr>
              <a:t>  laço infinito, ferramenta alucinada, contexto contaminado, custo imprevisto — e o pior, a FALHA SILENCIOSA.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4233672"/>
            <a:ext cx="4327855" cy="1051560"/>
          </a:xfrm>
          <a:prstGeom prst="roundRect">
            <a:avLst>
              <a:gd name="adj" fmla="val 10000"/>
            </a:avLst>
          </a:prstGeom>
          <a:solidFill>
            <a:srgbClr val="E6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0" y="4233672"/>
            <a:ext cx="109728" cy="1051560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4233672"/>
            <a:ext cx="377921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9D58"/>
                </a:solidFill>
                <a:latin typeface="Liberation Sans"/>
              </a:rPr>
              <a:t>A saída não é “prompt melhor”.</a:t>
            </a:r>
            <a:r>
              <a:rPr sz="1500" b="0" i="0">
                <a:solidFill>
                  <a:srgbClr val="161E33"/>
                </a:solidFill>
                <a:latin typeface="Liberation Sans"/>
              </a:rPr>
              <a:t>  É reduzir o número de passos NÃO verificados. Guardem esta frase para o Bloco 9.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C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D97706"/>
                </a:solidFill>
                <a:latin typeface="Liberation Sans"/>
              </a:rPr>
              <a:t>30 / 70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432304" cy="402336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43230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6 · PROTOCOLOS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O mapa: vertical (MCP) × horizontal (A2A)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EC54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29_protoc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512" y="1783080"/>
            <a:ext cx="8826669" cy="46177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C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E11D48"/>
                </a:solidFill>
                <a:latin typeface="Liberation Sans"/>
              </a:rPr>
              <a:t>31 / 70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432304" cy="402336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43230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6 · PROTOCOLOS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A família A2A e as alternativas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EC54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11094415" cy="1024128"/>
          </a:xfrm>
          <a:prstGeom prst="roundRect">
            <a:avLst>
              <a:gd name="adj" fmla="val 10000"/>
            </a:avLst>
          </a:prstGeom>
          <a:solidFill>
            <a:srgbClr val="FC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09728" cy="102412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1054577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11D48"/>
                </a:solidFill>
                <a:latin typeface="Liberation Sans"/>
              </a:rPr>
              <a:t>Extensões oficiais do A2A.</a:t>
            </a:r>
            <a:r>
              <a:rPr sz="1600" b="0" i="0">
                <a:solidFill>
                  <a:srgbClr val="161E33"/>
                </a:solidFill>
                <a:latin typeface="Liberation Sans"/>
              </a:rPr>
              <a:t>  Secure Passport (identidade), Timestamp, Traceability (rastreabilidade), Agent Gateway.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26664"/>
            <a:ext cx="11094415" cy="1024128"/>
          </a:xfrm>
          <a:prstGeom prst="roundRect">
            <a:avLst>
              <a:gd name="adj" fmla="val 10000"/>
            </a:avLst>
          </a:prstGeom>
          <a:solidFill>
            <a:srgbClr val="FC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026664"/>
            <a:ext cx="109728" cy="102412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026664"/>
            <a:ext cx="1054577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11D48"/>
                </a:solidFill>
                <a:latin typeface="Liberation Sans"/>
              </a:rPr>
              <a:t>A família: AP2, UCP, A2UI.</a:t>
            </a:r>
            <a:r>
              <a:rPr sz="1600" b="0" i="0">
                <a:solidFill>
                  <a:srgbClr val="161E33"/>
                </a:solidFill>
                <a:latin typeface="Liberation Sans"/>
              </a:rPr>
              <a:t>  Pagamentos iniciados por agente, comércio com consentimento criptográfico, e interface.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78808"/>
            <a:ext cx="11094415" cy="1024128"/>
          </a:xfrm>
          <a:prstGeom prst="roundRect">
            <a:avLst>
              <a:gd name="adj" fmla="val 10000"/>
            </a:avLst>
          </a:prstGeom>
          <a:solidFill>
            <a:srgbClr val="FC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178808"/>
            <a:ext cx="109728" cy="102412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178808"/>
            <a:ext cx="1054577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11D48"/>
                </a:solidFill>
                <a:latin typeface="Liberation Sans"/>
              </a:rPr>
              <a:t>Alternativas: ACP (IBM) e ANP.</a:t>
            </a:r>
            <a:r>
              <a:rPr sz="1600" b="0" i="0">
                <a:solidFill>
                  <a:srgbClr val="161E33"/>
                </a:solidFill>
                <a:latin typeface="Liberation Sans"/>
              </a:rPr>
              <a:t>  ACP herda a tradição FIPA-ACL com performativas tipadas; ANP aposta em identidade descentralizada.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330952"/>
            <a:ext cx="11094415" cy="1024128"/>
          </a:xfrm>
          <a:prstGeom prst="roundRect">
            <a:avLst>
              <a:gd name="adj" fmla="val 10000"/>
            </a:avLst>
          </a:prstGeom>
          <a:solidFill>
            <a:srgbClr val="FC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330952"/>
            <a:ext cx="109728" cy="1024128"/>
          </a:xfrm>
          <a:prstGeom prst="rect">
            <a:avLst/>
          </a:prstGeom>
          <a:solidFill>
            <a:srgbClr val="E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330952"/>
            <a:ext cx="1054577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06A00"/>
                </a:solidFill>
                <a:latin typeface="Liberation Sans"/>
              </a:rPr>
              <a:t>A crítica que dá valor ao slide: nenhum protocolo expressa GOVERNANÇA.</a:t>
            </a:r>
            <a:r>
              <a:rPr sz="1600" b="0" i="0">
                <a:solidFill>
                  <a:srgbClr val="161E33"/>
                </a:solidFill>
                <a:latin typeface="Liberation Sans"/>
              </a:rPr>
              <a:t>  Registram quem chamou quem — não sob qual política nem com que base legal. Em saúde, essa camada sobra para VOCÊS.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C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E11D48"/>
                </a:solidFill>
                <a:latin typeface="Liberation Sans"/>
              </a:rPr>
              <a:t>32 / 70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432304" cy="402336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43230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6 · PROTOCOLOS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OKF: um formato aberto de conhecimento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EC54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6766560" cy="824788"/>
          </a:xfrm>
          <a:prstGeom prst="roundRect">
            <a:avLst>
              <a:gd name="adj" fmla="val 10000"/>
            </a:avLst>
          </a:prstGeom>
          <a:solidFill>
            <a:srgbClr val="FC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109728" cy="82478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6217920" cy="8247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E11D48"/>
                </a:solidFill>
                <a:latin typeface="Liberation Sans"/>
              </a:rPr>
              <a:t>① Um pacote (bundle) é um diretório de arquivos markdown.</a:t>
            </a:r>
            <a:r>
              <a:rPr sz="1450" b="0" i="0">
                <a:solidFill>
                  <a:srgbClr val="161E33"/>
                </a:solidFill>
                <a:latin typeface="Liberation Sans"/>
              </a:rPr>
              <a:t>  Nada de banco de dados, nada de servidor.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754172"/>
            <a:ext cx="6766560" cy="824788"/>
          </a:xfrm>
          <a:prstGeom prst="roundRect">
            <a:avLst>
              <a:gd name="adj" fmla="val 10000"/>
            </a:avLst>
          </a:prstGeom>
          <a:solidFill>
            <a:srgbClr val="FC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754172"/>
            <a:ext cx="109728" cy="82478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754172"/>
            <a:ext cx="6217920" cy="8247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E11D48"/>
                </a:solidFill>
                <a:latin typeface="Liberation Sans"/>
              </a:rPr>
              <a:t>② Cada arquivo é um conceito; o caminho do arquivo é o identificador.</a:t>
            </a:r>
            <a:r>
              <a:rPr sz="1450" b="0" i="0">
                <a:solidFill>
                  <a:srgbClr val="161E33"/>
                </a:solidFill>
                <a:latin typeface="Liberation Sans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79545"/>
            <a:ext cx="6766560" cy="824788"/>
          </a:xfrm>
          <a:prstGeom prst="roundRect">
            <a:avLst>
              <a:gd name="adj" fmla="val 10000"/>
            </a:avLst>
          </a:prstGeom>
          <a:solidFill>
            <a:srgbClr val="FC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79545"/>
            <a:ext cx="109728" cy="82478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679545"/>
            <a:ext cx="6217920" cy="8247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E11D48"/>
                </a:solidFill>
                <a:latin typeface="Liberation Sans"/>
              </a:rPr>
              <a:t>③ Cada arquivo abre com frontmatter YAML — único campo obrigatório: type.</a:t>
            </a:r>
            <a:r>
              <a:rPr sz="1450" b="0" i="0">
                <a:solidFill>
                  <a:srgbClr val="161E33"/>
                </a:solidFill>
                <a:latin typeface="Liberation Sans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604918"/>
            <a:ext cx="6766560" cy="824788"/>
          </a:xfrm>
          <a:prstGeom prst="roundRect">
            <a:avLst>
              <a:gd name="adj" fmla="val 10000"/>
            </a:avLst>
          </a:prstGeom>
          <a:solidFill>
            <a:srgbClr val="FC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604918"/>
            <a:ext cx="109728" cy="82478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604918"/>
            <a:ext cx="6217920" cy="8247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E11D48"/>
                </a:solidFill>
                <a:latin typeface="Liberation Sans"/>
              </a:rPr>
              <a:t>④ Arquivos se referenciam por links markdown comuns.</a:t>
            </a:r>
            <a:r>
              <a:rPr sz="1450" b="0" i="0">
                <a:solidFill>
                  <a:srgbClr val="161E33"/>
                </a:solidFill>
                <a:latin typeface="Liberation Sans"/>
              </a:rPr>
              <a:t>  O que transforma o diretório num GRAFO, não numa lista.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530291"/>
            <a:ext cx="6766560" cy="824788"/>
          </a:xfrm>
          <a:prstGeom prst="roundRect">
            <a:avLst>
              <a:gd name="adj" fmla="val 10000"/>
            </a:avLst>
          </a:prstGeom>
          <a:solidFill>
            <a:srgbClr val="FC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5530291"/>
            <a:ext cx="109728" cy="82478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530291"/>
            <a:ext cx="6217920" cy="8247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E11D48"/>
                </a:solidFill>
                <a:latin typeface="Liberation Sans"/>
              </a:rPr>
              <a:t>⑤ Dois nomes reservados: index.md (listagem) e log.md (histórico).</a:t>
            </a:r>
            <a:r>
              <a:rPr sz="1450" b="0" i="0">
                <a:solidFill>
                  <a:srgbClr val="161E33"/>
                </a:solidFill>
                <a:latin typeface="Liberation Sans"/>
              </a:rPr>
              <a:t/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0" y="1828800"/>
            <a:ext cx="4190695" cy="4526280"/>
          </a:xfrm>
          <a:prstGeom prst="roundRect">
            <a:avLst>
              <a:gd name="adj" fmla="val 8000"/>
            </a:avLst>
          </a:prstGeom>
          <a:solidFill>
            <a:srgbClr val="FC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52360" y="1828800"/>
            <a:ext cx="109728" cy="452628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26679" y="2011680"/>
            <a:ext cx="368777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11D48"/>
                </a:solidFill>
                <a:latin typeface="Liberation Sans"/>
              </a:rPr>
              <a:t>Para vocês, direto: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61E33"/>
                </a:solidFill>
                <a:latin typeface="Liberation Sans"/>
              </a:rPr>
              <a:t>um pacote OKF com as definições de caso de IRAS, as fórmulas dos indicadores e os runbooks da CCIH.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61E33"/>
                </a:solidFill>
                <a:latin typeface="Liberation Sans"/>
              </a:rPr>
              <a:t>Legível por agente, revisável por infectologista, com log.md de histórico e “git blame” de autoria —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E11D48"/>
                </a:solidFill>
                <a:latin typeface="Liberation Sans"/>
              </a:rPr>
              <a:t>metade do que uma auditoria já pede.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1">
                <a:solidFill>
                  <a:srgbClr val="E06A00"/>
                </a:solidFill>
                <a:latin typeface="Liberation Sans"/>
              </a:rPr>
              <a:t>Ressalva: é v0.1 — padroniza o contêiner, não a semântica clínica.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C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E11D48"/>
                </a:solidFill>
                <a:latin typeface="Liberation Sans"/>
              </a:rPr>
              <a:t>33 / 70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432304" cy="402336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43230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6 · PROTOCOLOS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Os outros formatos em markdown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EC54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11094415" cy="1024128"/>
          </a:xfrm>
          <a:prstGeom prst="roundRect">
            <a:avLst>
              <a:gd name="adj" fmla="val 10000"/>
            </a:avLst>
          </a:prstGeom>
          <a:solidFill>
            <a:srgbClr val="FC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09728" cy="102412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1054577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11D48"/>
                </a:solidFill>
                <a:latin typeface="Liberation Sans"/>
              </a:rPr>
              <a:t>AGENTS.md.</a:t>
            </a:r>
            <a:r>
              <a:rPr sz="1600" b="0" i="0">
                <a:solidFill>
                  <a:srgbClr val="161E33"/>
                </a:solidFill>
                <a:latin typeface="Liberation Sans"/>
              </a:rPr>
              <a:t>  Contexto do projeto para agentes de código: comandos de build e teste, convenções, decisões. Markdown puro.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26664"/>
            <a:ext cx="11094415" cy="1024128"/>
          </a:xfrm>
          <a:prstGeom prst="roundRect">
            <a:avLst>
              <a:gd name="adj" fmla="val 10000"/>
            </a:avLst>
          </a:prstGeom>
          <a:solidFill>
            <a:srgbClr val="FC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026664"/>
            <a:ext cx="109728" cy="102412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026664"/>
            <a:ext cx="1054577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11D48"/>
                </a:solidFill>
                <a:latin typeface="Liberation Sans"/>
              </a:rPr>
              <a:t>DESIGN.md.</a:t>
            </a:r>
            <a:r>
              <a:rPr sz="1600" b="0" i="0">
                <a:solidFill>
                  <a:srgbClr val="161E33"/>
                </a:solidFill>
                <a:latin typeface="Liberation Sans"/>
              </a:rPr>
              <a:t>  Identidade visual: tokens de design em YAML mais o racional em prosa.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78808"/>
            <a:ext cx="11094415" cy="1024128"/>
          </a:xfrm>
          <a:prstGeom prst="roundRect">
            <a:avLst>
              <a:gd name="adj" fmla="val 10000"/>
            </a:avLst>
          </a:prstGeom>
          <a:solidFill>
            <a:srgbClr val="FC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178808"/>
            <a:ext cx="109728" cy="102412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178808"/>
            <a:ext cx="1054577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11D48"/>
                </a:solidFill>
                <a:latin typeface="Liberation Sans"/>
              </a:rPr>
              <a:t>Agent Skills.</a:t>
            </a:r>
            <a:r>
              <a:rPr sz="1600" b="0" i="0">
                <a:solidFill>
                  <a:srgbClr val="161E33"/>
                </a:solidFill>
                <a:latin typeface="Liberation Sans"/>
              </a:rPr>
              <a:t>  Capacidade empacotada como uma pasta com um arquivo markdown, com registros públicos.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330952"/>
            <a:ext cx="11094415" cy="1024128"/>
          </a:xfrm>
          <a:prstGeom prst="roundRect">
            <a:avLst>
              <a:gd name="adj" fmla="val 10000"/>
            </a:avLst>
          </a:prstGeom>
          <a:solidFill>
            <a:srgbClr val="E6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330952"/>
            <a:ext cx="109728" cy="1024128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330952"/>
            <a:ext cx="1054577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9D58"/>
                </a:solidFill>
                <a:latin typeface="Liberation Sans"/>
              </a:rPr>
              <a:t>O padrão por trás dos três: markdown versionado no repositório.</a:t>
            </a:r>
            <a:r>
              <a:rPr sz="1600" b="0" i="0">
                <a:solidFill>
                  <a:srgbClr val="161E33"/>
                </a:solidFill>
                <a:latin typeface="Liberation Sans"/>
              </a:rPr>
              <a:t>  A única coisa que humano e máquina leem, que o git versiona e que o revisor audita num diff.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C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E11D48"/>
                </a:solidFill>
                <a:latin typeface="Liberation Sans"/>
              </a:rPr>
              <a:t>34 / 70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432304" cy="402336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43230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6 · PROTOCOLOS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A ponte para o SDD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EC54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3515258" cy="2194560"/>
          </a:xfrm>
          <a:prstGeom prst="roundRect">
            <a:avLst>
              <a:gd name="adj" fmla="val 7000"/>
            </a:avLst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3515258" cy="5669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66543"/>
            <a:ext cx="324093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FFFFFF"/>
                </a:solidFill>
                <a:latin typeface="Liberation Sans"/>
              </a:rPr>
              <a:t>Especificação (SDD)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80360"/>
            <a:ext cx="314949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61E33"/>
                </a:solidFill>
                <a:latin typeface="Liberation Sans"/>
              </a:rPr>
              <a:t>o QUE o sistema deve fazer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011680"/>
            <a:ext cx="3515258" cy="2194560"/>
          </a:xfrm>
          <a:prstGeom prst="roundRect">
            <a:avLst>
              <a:gd name="adj" fmla="val 7000"/>
            </a:avLst>
          </a:prstGeom>
          <a:solidFill>
            <a:srgbClr val="E3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8218" y="2011680"/>
            <a:ext cx="3515258" cy="566928"/>
          </a:xfrm>
          <a:prstGeom prst="rect">
            <a:avLst/>
          </a:prstGeom>
          <a:solidFill>
            <a:srgbClr val="028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5378" y="2066543"/>
            <a:ext cx="324093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FFFFFF"/>
                </a:solidFill>
                <a:latin typeface="Liberation Sans"/>
              </a:rPr>
              <a:t>AGENTS.md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1098" y="2880360"/>
            <a:ext cx="314949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61E33"/>
                </a:solidFill>
                <a:latin typeface="Liberation Sans"/>
              </a:rPr>
              <a:t>COMO se trabalha no repositório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7796" y="2011680"/>
            <a:ext cx="3515258" cy="2194560"/>
          </a:xfrm>
          <a:prstGeom prst="roundRect">
            <a:avLst>
              <a:gd name="adj" fmla="val 7000"/>
            </a:avLst>
          </a:prstGeom>
          <a:solidFill>
            <a:srgbClr val="FC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27796" y="2011680"/>
            <a:ext cx="3515258" cy="56692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4956" y="2066543"/>
            <a:ext cx="324093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FFFFFF"/>
                </a:solidFill>
                <a:latin typeface="Liberation Sans"/>
              </a:rPr>
              <a:t>Pacote OKF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0676" y="2880360"/>
            <a:ext cx="314949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61E33"/>
                </a:solidFill>
                <a:latin typeface="Liberation Sans"/>
              </a:rPr>
              <a:t>o DOMÍNIO que ele modela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572000"/>
            <a:ext cx="11094415" cy="1188720"/>
          </a:xfrm>
          <a:prstGeom prst="roundRect">
            <a:avLst>
              <a:gd name="adj" fmla="val 8000"/>
            </a:avLst>
          </a:prstGeom>
          <a:solidFill>
            <a:srgbClr val="FC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572000"/>
            <a:ext cx="109728" cy="118872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572000"/>
            <a:ext cx="1050005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E11D48"/>
                </a:solidFill>
                <a:latin typeface="Liberation Sans"/>
              </a:rPr>
              <a:t>São a MESMA ideia em escopos diferentes: </a:t>
            </a:r>
            <a:r>
              <a:rPr sz="1500" b="0" i="0">
                <a:solidFill>
                  <a:srgbClr val="161E33"/>
                </a:solidFill>
                <a:latin typeface="Liberation Sans"/>
              </a:rPr>
              <a:t>conhecimento formalizado em markdown versionado, consumido por agente e revisável por humano. Os três convivem no mesmo repositório — e é isso que constrói a rastreabilidade (guardem para o S49).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C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E11D48"/>
                </a:solidFill>
                <a:latin typeface="Liberation Sans"/>
              </a:rPr>
              <a:t>35 / 70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1097280"/>
            <a:ext cx="3108960" cy="3108960"/>
          </a:xfrm>
          <a:prstGeom prst="ellipse">
            <a:avLst/>
          </a:prstGeom>
          <a:solidFill>
            <a:srgbClr val="EC54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62895" y="4846320"/>
            <a:ext cx="3657600" cy="3657600"/>
          </a:xfrm>
          <a:prstGeom prst="ellipse">
            <a:avLst/>
          </a:prstGeom>
          <a:solidFill>
            <a:srgbClr val="EC54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3628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 i="0">
                <a:solidFill>
                  <a:srgbClr val="FFFFFF"/>
                </a:solidFill>
                <a:latin typeface="Liberation Sans"/>
              </a:rPr>
              <a:t>INTERVALO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103628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0" i="0">
                <a:solidFill>
                  <a:srgbClr val="FFFFFF"/>
                </a:solidFill>
                <a:latin typeface="Liberation Sans"/>
              </a:rPr>
              <a:t>5 minutos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103628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1">
                <a:solidFill>
                  <a:srgbClr val="FFFFFF"/>
                </a:solidFill>
                <a:latin typeface="Liberation Sans"/>
              </a:rPr>
              <a:t>Na volta: frameworks, ambientes agênticos e o núcleo — o SDD.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432304" cy="40233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43230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7 · FRAMEWORKS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Critério de leitura para os cinco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7A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11094415" cy="1371600"/>
          </a:xfrm>
          <a:prstGeom prst="roundRect">
            <a:avLst>
              <a:gd name="adj" fmla="val 6000"/>
            </a:avLst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146304" cy="13716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920240"/>
            <a:ext cx="10271455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4F46E5"/>
                </a:solidFill>
                <a:latin typeface="Liberation Sans"/>
              </a:rPr>
              <a:t>A pergunta única para cada framework: </a:t>
            </a:r>
            <a:r>
              <a:rPr sz="2100" b="1" i="0">
                <a:solidFill>
                  <a:srgbClr val="0283C9"/>
                </a:solidFill>
                <a:latin typeface="Liberation Sans"/>
              </a:rPr>
              <a:t>o que ele controla por mim — o laço, o estado, ou nenhum dos dois?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57600"/>
            <a:ext cx="11094415" cy="1051560"/>
          </a:xfrm>
          <a:prstGeom prst="roundRect">
            <a:avLst>
              <a:gd name="adj" fmla="val 10000"/>
            </a:avLst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657600"/>
            <a:ext cx="109728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657600"/>
            <a:ext cx="1054577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4F46E5"/>
                </a:solidFill>
                <a:latin typeface="Liberation Sans"/>
              </a:rPr>
              <a:t>O mesmo agente do S26 aparece nos cinco.</a:t>
            </a:r>
            <a:r>
              <a:rPr sz="1650" b="0" i="0">
                <a:solidFill>
                  <a:srgbClr val="161E33"/>
                </a:solidFill>
                <a:latin typeface="Liberation Sans"/>
              </a:rPr>
              <a:t>  Para comparar o custo da abstração — não a sintaxe.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837176"/>
            <a:ext cx="11094415" cy="1051560"/>
          </a:xfrm>
          <a:prstGeom prst="roundRect">
            <a:avLst>
              <a:gd name="adj" fmla="val 10000"/>
            </a:avLst>
          </a:prstGeom>
          <a:solidFill>
            <a:srgbClr val="E6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837176"/>
            <a:ext cx="109728" cy="1051560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837176"/>
            <a:ext cx="1054577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9D58"/>
                </a:solidFill>
                <a:latin typeface="Liberation Sans"/>
              </a:rPr>
              <a:t>Frameworks não são mágica; são conveniência sobre o laço de 30 linhas do S23.</a:t>
            </a:r>
            <a:r>
              <a:rPr sz="1650" b="0" i="0">
                <a:solidFill>
                  <a:srgbClr val="161E33"/>
                </a:solidFill>
                <a:latin typeface="Liberation Sans"/>
              </a:rPr>
              <a:t>  A pergunta certa não é “qual é mais bonito”, é “o que ele assume por você e o que ele esconde”.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4F46E5"/>
                </a:solidFill>
                <a:latin typeface="Liberation Sans"/>
              </a:rPr>
              <a:t>36 / 70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432304" cy="40233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43230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7 · FRAMEWORKS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OpenAI Agents SDK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7A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5943600" cy="1051560"/>
          </a:xfrm>
          <a:prstGeom prst="roundRect">
            <a:avLst>
              <a:gd name="adj" fmla="val 10000"/>
            </a:avLst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09728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53949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F46E5"/>
                </a:solidFill>
                <a:latin typeface="Liberation Sans"/>
              </a:rPr>
              <a:t>Peças: Agent, handoffs, guardrails, sessions.</a:t>
            </a:r>
            <a:r>
              <a:rPr sz="1600" b="0" i="0">
                <a:solidFill>
                  <a:srgbClr val="161E33"/>
                </a:solidFill>
                <a:latin typeface="Liberation Sans"/>
              </a:rPr>
              <a:t>  Repasse entre agentes (handoff), proteções e sessões, com rastreamento embutido.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54096"/>
            <a:ext cx="5943600" cy="1051560"/>
          </a:xfrm>
          <a:prstGeom prst="roundRect">
            <a:avLst>
              <a:gd name="adj" fmla="val 10000"/>
            </a:avLst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054096"/>
            <a:ext cx="109728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054096"/>
            <a:ext cx="53949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F46E5"/>
                </a:solidFill>
                <a:latin typeface="Liberation Sans"/>
              </a:rPr>
              <a:t>Modelo de controle: o SDK controla o laço; o estado vive na sessão.</a:t>
            </a:r>
            <a:r>
              <a:rPr sz="1600" b="0" i="0">
                <a:solidFill>
                  <a:srgbClr val="161E33"/>
                </a:solidFill>
                <a:latin typeface="Liberation Sans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33672"/>
            <a:ext cx="5943600" cy="1051560"/>
          </a:xfrm>
          <a:prstGeom prst="roundRect">
            <a:avLst>
              <a:gd name="adj" fmla="val 10000"/>
            </a:avLst>
          </a:prstGeom>
          <a:solidFill>
            <a:srgbClr val="FC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233672"/>
            <a:ext cx="109728" cy="1051560"/>
          </a:xfrm>
          <a:prstGeom prst="rect">
            <a:avLst/>
          </a:prstGeom>
          <a:solidFill>
            <a:srgbClr val="E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33672"/>
            <a:ext cx="53949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06A00"/>
                </a:solidFill>
                <a:latin typeface="Liberation Sans"/>
              </a:rPr>
              <a:t>Rastreamento (tracing) de primeira linha — porém acoplado ao provedor.</a:t>
            </a:r>
            <a:r>
              <a:rPr sz="1600" b="0" i="0">
                <a:solidFill>
                  <a:srgbClr val="161E33"/>
                </a:solidFill>
                <a:latin typeface="Liberation Sans"/>
              </a:rPr>
              <a:t>  Ótima observabilidade, ao custo de amarrar você à OpenAI.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1874519"/>
            <a:ext cx="5013655" cy="2121408"/>
          </a:xfrm>
          <a:prstGeom prst="roundRect">
            <a:avLst>
              <a:gd name="adj" fmla="val 5000"/>
            </a:avLst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30568" y="2057400"/>
            <a:ext cx="109728" cy="109728"/>
          </a:xfrm>
          <a:prstGeom prst="ellipse">
            <a:avLst/>
          </a:prstGeom>
          <a:solidFill>
            <a:srgbClr val="F26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13448" y="2057400"/>
            <a:ext cx="109728" cy="109728"/>
          </a:xfrm>
          <a:prstGeom prst="ellipse">
            <a:avLst/>
          </a:prstGeom>
          <a:solidFill>
            <a:srgbClr val="F4B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196328" y="2057400"/>
            <a:ext cx="109728" cy="109728"/>
          </a:xfrm>
          <a:prstGeom prst="ellipse">
            <a:avLst/>
          </a:prstGeom>
          <a:solidFill>
            <a:srgbClr val="62C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03720" y="2331720"/>
            <a:ext cx="4465015" cy="1572767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EAEFFA"/>
                </a:solidFill>
                <a:latin typeface="DejaVu Sans Mono"/>
              </a:rPr>
              <a:t># triagem -&gt; especialista por infecção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EAEFFA"/>
                </a:solidFill>
                <a:latin typeface="DejaVu Sans Mono"/>
              </a:rPr>
              <a:t>triagem = Agent(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EAEFFA"/>
                </a:solidFill>
                <a:latin typeface="DejaVu Sans Mono"/>
              </a:rPr>
              <a:t>  name="triagem",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EAEFFA"/>
                </a:solidFill>
                <a:latin typeface="DejaVu Sans Mono"/>
              </a:rPr>
              <a:t>  handoffs=[uti_agent,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EAEFFA"/>
                </a:solidFill>
                <a:latin typeface="DejaVu Sans Mono"/>
              </a:rPr>
              <a:t>           cirurgia_agent])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EAEFFA"/>
                </a:solidFill>
                <a:latin typeface="DejaVu Sans Mono"/>
              </a:rPr>
              <a:t># o SDK cuida do laço e do repasse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4F46E5"/>
                </a:solidFill>
                <a:latin typeface="Liberation Sans"/>
              </a:rPr>
              <a:t>37 / 70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432304" cy="40233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43230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7 · FRAMEWORKS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Anthropic Claude Agent SDK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7A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11094415" cy="1051560"/>
          </a:xfrm>
          <a:prstGeom prst="roundRect">
            <a:avLst>
              <a:gd name="adj" fmla="val 10000"/>
            </a:avLst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09728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1054577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4F46E5"/>
                </a:solidFill>
                <a:latin typeface="Liberation Sans"/>
              </a:rPr>
              <a:t>O laço do Claude Code exposto como biblioteca.</a:t>
            </a:r>
            <a:r>
              <a:rPr sz="1650" b="0" i="0">
                <a:solidFill>
                  <a:srgbClr val="161E33"/>
                </a:solidFill>
                <a:latin typeface="Liberation Sans"/>
              </a:rPr>
              <a:t>  Busca agêntica no sistema de arquivos SEM indexação prévia, subagentes com contexto isolado, hooks.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54096"/>
            <a:ext cx="11094415" cy="1051560"/>
          </a:xfrm>
          <a:prstGeom prst="roundRect">
            <a:avLst>
              <a:gd name="adj" fmla="val 10000"/>
            </a:avLst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054096"/>
            <a:ext cx="109728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054096"/>
            <a:ext cx="1054577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4F46E5"/>
                </a:solidFill>
                <a:latin typeface="Liberation Sans"/>
              </a:rPr>
              <a:t>Sistema de permissões + MCP nativo + modo headless.</a:t>
            </a:r>
            <a:r>
              <a:rPr sz="1650" b="0" i="0">
                <a:solidFill>
                  <a:srgbClr val="161E33"/>
                </a:solidFill>
                <a:latin typeface="Liberation Sans"/>
              </a:rPr>
              <a:t>  Controle fino do que o agente pode fazer, e execução sem interface para rodar em CI.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33672"/>
            <a:ext cx="11094415" cy="1051560"/>
          </a:xfrm>
          <a:prstGeom prst="roundRect">
            <a:avLst>
              <a:gd name="adj" fmla="val 10000"/>
            </a:avLst>
          </a:prstGeom>
          <a:solidFill>
            <a:srgbClr val="E6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233672"/>
            <a:ext cx="109728" cy="1051560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33672"/>
            <a:ext cx="1054577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9D58"/>
                </a:solidFill>
                <a:latin typeface="Liberation Sans"/>
              </a:rPr>
              <a:t>Diferencial: projetado em torno de CÓDIGO e ARQUIVOS, não de conversa.</a:t>
            </a:r>
            <a:r>
              <a:rPr sz="1650" b="0" i="0">
                <a:solidFill>
                  <a:srgbClr val="161E33"/>
                </a:solidFill>
                <a:latin typeface="Liberation Sans"/>
              </a:rPr>
              <a:t>  É o mais relevante para o Bloco 9 (o SDD roda sobre arquivos versionados).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4F46E5"/>
                </a:solidFill>
                <a:latin typeface="Liberation Sans"/>
              </a:rPr>
              <a:t>38 / 70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432304" cy="40233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43230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7 · FRAMEWORKS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LangChain e LangGraph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7A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37_lang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10861"/>
            <a:ext cx="6766560" cy="351643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52360" y="1874519"/>
            <a:ext cx="4190695" cy="1051560"/>
          </a:xfrm>
          <a:prstGeom prst="roundRect">
            <a:avLst>
              <a:gd name="adj" fmla="val 10000"/>
            </a:avLst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52360" y="1874519"/>
            <a:ext cx="109728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364205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F46E5"/>
                </a:solidFill>
                <a:latin typeface="Liberation Sans"/>
              </a:rPr>
              <a:t>LangChain compõe componentes; LangGraph é máquina de estados.</a:t>
            </a:r>
            <a:r>
              <a:rPr sz="1500" b="0" i="0">
                <a:solidFill>
                  <a:srgbClr val="161E33"/>
                </a:solidFill>
                <a:latin typeface="Liberation Sans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3054096"/>
            <a:ext cx="4190695" cy="1051560"/>
          </a:xfrm>
          <a:prstGeom prst="roundRect">
            <a:avLst>
              <a:gd name="adj" fmla="val 10000"/>
            </a:avLst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52360" y="3054096"/>
            <a:ext cx="109728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3054096"/>
            <a:ext cx="364205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F46E5"/>
                </a:solidFill>
                <a:latin typeface="Liberation Sans"/>
              </a:rPr>
              <a:t>Estado durável (checkpointer) + parada para aprovação (interrupt).</a:t>
            </a:r>
            <a:r>
              <a:rPr sz="1500" b="0" i="0">
                <a:solidFill>
                  <a:srgbClr val="161E33"/>
                </a:solidFill>
                <a:latin typeface="Liberation Sans"/>
              </a:rPr>
              <a:t>  Nativos — e decisivos aqui.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4233672"/>
            <a:ext cx="4190695" cy="1051560"/>
          </a:xfrm>
          <a:prstGeom prst="roundRect">
            <a:avLst>
              <a:gd name="adj" fmla="val 10000"/>
            </a:avLst>
          </a:prstGeom>
          <a:solidFill>
            <a:srgbClr val="E6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52360" y="4233672"/>
            <a:ext cx="109728" cy="1051560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4233672"/>
            <a:ext cx="364205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9D58"/>
                </a:solidFill>
                <a:latin typeface="Liberation Sans"/>
              </a:rPr>
              <a:t>Para IRAS: a notificação NÃO sai sem aprovação, e o processo sobrevive a reinício.</a:t>
            </a:r>
            <a:r>
              <a:rPr sz="1500" b="0" i="0">
                <a:solidFill>
                  <a:srgbClr val="161E33"/>
                </a:solidFill>
                <a:latin typeface="Liberation Sans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4F46E5"/>
                </a:solidFill>
                <a:latin typeface="Liberation Sans"/>
              </a:rPr>
              <a:t>39 / 70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432304" cy="40233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43230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7 · FRAMEWORKS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CrewAI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7A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11094415" cy="1024128"/>
          </a:xfrm>
          <a:prstGeom prst="roundRect">
            <a:avLst>
              <a:gd name="adj" fmla="val 10000"/>
            </a:avLst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09728" cy="10241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1054577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4F46E5"/>
                </a:solidFill>
                <a:latin typeface="Liberation Sans"/>
              </a:rPr>
              <a:t>Modelo mental: organização, não grafo.</a:t>
            </a:r>
            <a:r>
              <a:rPr sz="1550" b="0" i="0">
                <a:solidFill>
                  <a:srgbClr val="161E33"/>
                </a:solidFill>
                <a:latin typeface="Liberation Sans"/>
              </a:rPr>
              <a:t>  Agent com papel, objetivo e história; Task com saída esperada; Crew reunindo; Process sequencial ou hierárquico.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26664"/>
            <a:ext cx="11094415" cy="1024128"/>
          </a:xfrm>
          <a:prstGeom prst="roundRect">
            <a:avLst>
              <a:gd name="adj" fmla="val 10000"/>
            </a:avLst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026664"/>
            <a:ext cx="109728" cy="10241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026664"/>
            <a:ext cx="1054577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4F46E5"/>
                </a:solidFill>
                <a:latin typeface="Liberation Sans"/>
              </a:rPr>
              <a:t>Onde brilha: protótipo e demonstração.</a:t>
            </a:r>
            <a:r>
              <a:rPr sz="1550" b="0" i="0">
                <a:solidFill>
                  <a:srgbClr val="161E33"/>
                </a:solidFill>
                <a:latin typeface="Liberation Sans"/>
              </a:rPr>
              <a:t>  A menor curva de entrada; decompor por papel força o time a escrever o que cada agente faz — meio caminho para uma spec.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78808"/>
            <a:ext cx="11094415" cy="1024128"/>
          </a:xfrm>
          <a:prstGeom prst="roundRect">
            <a:avLst>
              <a:gd name="adj" fmla="val 10000"/>
            </a:avLst>
          </a:prstGeom>
          <a:solidFill>
            <a:srgbClr val="FC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178808"/>
            <a:ext cx="109728" cy="1024128"/>
          </a:xfrm>
          <a:prstGeom prst="rect">
            <a:avLst/>
          </a:prstGeom>
          <a:solidFill>
            <a:srgbClr val="E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178808"/>
            <a:ext cx="1054577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E06A00"/>
                </a:solidFill>
                <a:latin typeface="Liberation Sans"/>
              </a:rPr>
              <a:t>Onde dói: a metáfora de papéis ESCONDE o laço.</a:t>
            </a:r>
            <a:r>
              <a:rPr sz="1550" b="0" i="0">
                <a:solidFill>
                  <a:srgbClr val="161E33"/>
                </a:solidFill>
                <a:latin typeface="Liberation Sans"/>
              </a:rPr>
              <a:t>  Quando falha, você depura uma abstração, não uma sequência de chamadas. Estado e durabilidade fracos vs. LangGraph.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330952"/>
            <a:ext cx="11094415" cy="1024128"/>
          </a:xfrm>
          <a:prstGeom prst="roundRect">
            <a:avLst>
              <a:gd name="adj" fmla="val 10000"/>
            </a:avLst>
          </a:prstGeom>
          <a:solidFill>
            <a:srgbClr val="E6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330952"/>
            <a:ext cx="109728" cy="1024128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330952"/>
            <a:ext cx="1054577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F9D58"/>
                </a:solidFill>
                <a:latin typeface="Liberation Sans"/>
              </a:rPr>
              <a:t>Veredito: ótimo para levantar um piloto numa tarde.</a:t>
            </a:r>
            <a:r>
              <a:rPr sz="1550" b="0" i="0">
                <a:solidFill>
                  <a:srgbClr val="161E33"/>
                </a:solidFill>
                <a:latin typeface="Liberation Sans"/>
              </a:rPr>
              <a:t>  Pense duas vezes antes de pôr em produção regulada. (É o framework do nosso LangNet — Bloco 11.)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4F46E5"/>
                </a:solidFill>
                <a:latin typeface="Liberation Sans"/>
              </a:rPr>
              <a:t>40 / 70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432304" cy="40233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43230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7 · FRAMEWORKS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AutoGen / AG2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7A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11094415" cy="1024128"/>
          </a:xfrm>
          <a:prstGeom prst="roundRect">
            <a:avLst>
              <a:gd name="adj" fmla="val 10000"/>
            </a:avLst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09728" cy="10241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1054577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4F46E5"/>
                </a:solidFill>
                <a:latin typeface="Liberation Sans"/>
              </a:rPr>
              <a:t>Modelo mental: conversa entre agentes.</a:t>
            </a:r>
            <a:r>
              <a:rPr sz="1550" b="0" i="0">
                <a:solidFill>
                  <a:srgbClr val="161E33"/>
                </a:solidFill>
                <a:latin typeface="Liberation Sans"/>
              </a:rPr>
              <a:t>  ConversableAgent como unidade; GroupChat com um gerente que escolhe quem fala; executor de código embutido.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26664"/>
            <a:ext cx="11094415" cy="1024128"/>
          </a:xfrm>
          <a:prstGeom prst="roundRect">
            <a:avLst>
              <a:gd name="adj" fmla="val 10000"/>
            </a:avLst>
          </a:prstGeom>
          <a:solidFill>
            <a:srgbClr val="E6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026664"/>
            <a:ext cx="109728" cy="1024128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026664"/>
            <a:ext cx="1054577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F9D58"/>
                </a:solidFill>
                <a:latin typeface="Liberation Sans"/>
              </a:rPr>
              <a:t>Humano-no-laço nativo e granular.</a:t>
            </a:r>
            <a:r>
              <a:rPr sz="1550" b="0" i="0">
                <a:solidFill>
                  <a:srgbClr val="161E33"/>
                </a:solidFill>
                <a:latin typeface="Liberation Sans"/>
              </a:rPr>
              <a:t>  O modo de intervenção é configurável por agente (sempre, nunca, só ao terminar) — direto no gate de notificação de vocês.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78808"/>
            <a:ext cx="11094415" cy="1024128"/>
          </a:xfrm>
          <a:prstGeom prst="roundRect">
            <a:avLst>
              <a:gd name="adj" fmla="val 10000"/>
            </a:avLst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178808"/>
            <a:ext cx="109728" cy="10241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178808"/>
            <a:ext cx="1054577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4F46E5"/>
                </a:solidFill>
                <a:latin typeface="Liberation Sans"/>
              </a:rPr>
              <a:t>Onde brilha: exploração e pesquisa, caminho não conhecido de antemão.</a:t>
            </a:r>
            <a:r>
              <a:rPr sz="1550" b="0" i="0">
                <a:solidFill>
                  <a:srgbClr val="161E33"/>
                </a:solidFill>
                <a:latin typeface="Liberation Sans"/>
              </a:rPr>
              <a:t>  É o parente mais próximo do AI Co-Scientist (S62).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330952"/>
            <a:ext cx="11094415" cy="1024128"/>
          </a:xfrm>
          <a:prstGeom prst="roundRect">
            <a:avLst>
              <a:gd name="adj" fmla="val 10000"/>
            </a:avLst>
          </a:prstGeom>
          <a:solidFill>
            <a:srgbClr val="FC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330952"/>
            <a:ext cx="109728" cy="1024128"/>
          </a:xfrm>
          <a:prstGeom prst="rect">
            <a:avLst/>
          </a:prstGeom>
          <a:solidFill>
            <a:srgbClr val="E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330952"/>
            <a:ext cx="1054577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E06A00"/>
                </a:solidFill>
                <a:latin typeface="Liberation Sans"/>
              </a:rPr>
              <a:t>Onde dói: comportamento emergente — a conversa pode divergir e gastar tokens sem convergir.</a:t>
            </a:r>
            <a:r>
              <a:rPr sz="1550" b="0" i="0">
                <a:solidFill>
                  <a:srgbClr val="161E33"/>
                </a:solidFill>
                <a:latin typeface="Liberation Sans"/>
              </a:rPr>
              <a:t>  E cuidado com a linhagem: Microsoft × fork comunitário AG2, exemplos incompatíveis.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4F46E5"/>
                </a:solidFill>
                <a:latin typeface="Liberation Sans"/>
              </a:rPr>
              <a:t>41 / 70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432304" cy="40233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43230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7 · FRAMEWORKS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Comparativo e a opinião contrária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7A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874519"/>
          <a:ext cx="11094415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883"/>
                <a:gridCol w="2218883"/>
                <a:gridCol w="2218883"/>
                <a:gridCol w="2218883"/>
                <a:gridCol w="2218883"/>
              </a:tblGrid>
              <a:tr h="444137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Liberation Sans"/>
                        </a:rPr>
                        <a:t>Framework</a:t>
                      </a:r>
                    </a:p>
                  </a:txBody>
                  <a:tcPr anchor="ctr" marL="73152" marR="73152" marT="27432" marB="27432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Liberation Sans"/>
                        </a:rPr>
                        <a:t>Controle do laço</a:t>
                      </a:r>
                    </a:p>
                  </a:txBody>
                  <a:tcPr anchor="ctr" marL="73152" marR="73152" marT="27432" marB="27432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Liberation Sans"/>
                        </a:rPr>
                        <a:t>Estado</a:t>
                      </a:r>
                    </a:p>
                  </a:txBody>
                  <a:tcPr anchor="ctr" marL="73152" marR="73152" marT="27432" marB="27432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Liberation Sans"/>
                        </a:rPr>
                        <a:t>Humano-no-laço</a:t>
                      </a:r>
                    </a:p>
                  </a:txBody>
                  <a:tcPr anchor="ctr" marL="73152" marR="73152" marT="27432" marB="27432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Liberation Sans"/>
                        </a:rPr>
                        <a:t>Caso ideal</a:t>
                      </a:r>
                    </a:p>
                  </a:txBody>
                  <a:tcPr anchor="ctr" marL="73152" marR="73152" marT="27432" marB="27432">
                    <a:solidFill>
                      <a:srgbClr val="4F46E5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61E33"/>
                          </a:solidFill>
                          <a:latin typeface="Liberation Sans"/>
                        </a:rPr>
                        <a:t>OpenAI SDK</a:t>
                      </a:r>
                    </a:p>
                  </a:txBody>
                  <a:tcPr anchor="ctr" marL="73152" marR="73152" marT="18288" marB="18288">
                    <a:solidFill>
                      <a:srgbClr val="ECEB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61E33"/>
                          </a:solidFill>
                          <a:latin typeface="Liberation Sans"/>
                        </a:rPr>
                        <a:t>controla o laço</a:t>
                      </a:r>
                    </a:p>
                  </a:txBody>
                  <a:tcPr anchor="ctr" marL="73152" marR="73152" marT="18288" marB="18288">
                    <a:solidFill>
                      <a:srgbClr val="ECEB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61E33"/>
                          </a:solidFill>
                          <a:latin typeface="Liberation Sans"/>
                        </a:rPr>
                        <a:t>sessão</a:t>
                      </a:r>
                    </a:p>
                  </a:txBody>
                  <a:tcPr anchor="ctr" marL="73152" marR="73152" marT="18288" marB="18288">
                    <a:solidFill>
                      <a:srgbClr val="ECEB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61E33"/>
                          </a:solidFill>
                          <a:latin typeface="Liberation Sans"/>
                        </a:rPr>
                        <a:t>guardrails</a:t>
                      </a:r>
                    </a:p>
                  </a:txBody>
                  <a:tcPr anchor="ctr" marL="73152" marR="73152" marT="18288" marB="18288">
                    <a:solidFill>
                      <a:srgbClr val="ECEB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61E33"/>
                          </a:solidFill>
                          <a:latin typeface="Liberation Sans"/>
                        </a:rPr>
                        <a:t>produtos OpenAI</a:t>
                      </a:r>
                    </a:p>
                  </a:txBody>
                  <a:tcPr anchor="ctr" marL="73152" marR="73152" marT="18288" marB="18288">
                    <a:solidFill>
                      <a:srgbClr val="ECEBFD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61E33"/>
                          </a:solidFill>
                          <a:latin typeface="Liberation Sans"/>
                        </a:rPr>
                        <a:t>Claude Agent SDK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61E33"/>
                          </a:solidFill>
                          <a:latin typeface="Liberation Sans"/>
                        </a:rPr>
                        <a:t>controla o laço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61E33"/>
                          </a:solidFill>
                          <a:latin typeface="Liberation Sans"/>
                        </a:rPr>
                        <a:t>arquivos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61E33"/>
                          </a:solidFill>
                          <a:latin typeface="Liberation Sans"/>
                        </a:rPr>
                        <a:t>hooks + permissões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61E33"/>
                          </a:solidFill>
                          <a:latin typeface="Liberation Sans"/>
                        </a:rPr>
                        <a:t>código / arquivos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4F46E5"/>
                          </a:solidFill>
                          <a:latin typeface="Liberation Sans"/>
                        </a:rPr>
                        <a:t>LangGraph</a:t>
                      </a:r>
                    </a:p>
                  </a:txBody>
                  <a:tcPr anchor="ctr" marL="73152" marR="73152" marT="18288" marB="18288">
                    <a:solidFill>
                      <a:srgbClr val="ECEB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4F46E5"/>
                          </a:solidFill>
                          <a:latin typeface="Liberation Sans"/>
                        </a:rPr>
                        <a:t>máquina de estados</a:t>
                      </a:r>
                    </a:p>
                  </a:txBody>
                  <a:tcPr anchor="ctr" marL="73152" marR="73152" marT="18288" marB="18288">
                    <a:solidFill>
                      <a:srgbClr val="ECEB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4F46E5"/>
                          </a:solidFill>
                          <a:latin typeface="Liberation Sans"/>
                        </a:rPr>
                        <a:t>durável</a:t>
                      </a:r>
                    </a:p>
                  </a:txBody>
                  <a:tcPr anchor="ctr" marL="73152" marR="73152" marT="18288" marB="18288">
                    <a:solidFill>
                      <a:srgbClr val="ECEB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4F46E5"/>
                          </a:solidFill>
                          <a:latin typeface="Liberation Sans"/>
                        </a:rPr>
                        <a:t>nativo (interrupt)</a:t>
                      </a:r>
                    </a:p>
                  </a:txBody>
                  <a:tcPr anchor="ctr" marL="73152" marR="73152" marT="18288" marB="18288">
                    <a:solidFill>
                      <a:srgbClr val="ECEB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4F46E5"/>
                          </a:solidFill>
                          <a:latin typeface="Liberation Sans"/>
                        </a:rPr>
                        <a:t>produção regulada</a:t>
                      </a:r>
                    </a:p>
                  </a:txBody>
                  <a:tcPr anchor="ctr" marL="73152" marR="73152" marT="18288" marB="18288">
                    <a:solidFill>
                      <a:srgbClr val="ECEBFD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61E33"/>
                          </a:solidFill>
                          <a:latin typeface="Liberation Sans"/>
                        </a:rPr>
                        <a:t>CrewAI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61E33"/>
                          </a:solidFill>
                          <a:latin typeface="Liberation Sans"/>
                        </a:rPr>
                        <a:t>esconde o laço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61E33"/>
                          </a:solidFill>
                          <a:latin typeface="Liberation Sans"/>
                        </a:rPr>
                        <a:t>fraco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61E33"/>
                          </a:solidFill>
                          <a:latin typeface="Liberation Sans"/>
                        </a:rPr>
                        <a:t>limitado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61E33"/>
                          </a:solidFill>
                          <a:latin typeface="Liberation Sans"/>
                        </a:rPr>
                        <a:t>protótipo rápido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61E33"/>
                          </a:solidFill>
                          <a:latin typeface="Liberation Sans"/>
                        </a:rPr>
                        <a:t>AutoGen / AG2</a:t>
                      </a:r>
                    </a:p>
                  </a:txBody>
                  <a:tcPr anchor="ctr" marL="73152" marR="73152" marT="18288" marB="18288">
                    <a:solidFill>
                      <a:srgbClr val="ECEB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61E33"/>
                          </a:solidFill>
                          <a:latin typeface="Liberation Sans"/>
                        </a:rPr>
                        <a:t>conversa</a:t>
                      </a:r>
                    </a:p>
                  </a:txBody>
                  <a:tcPr anchor="ctr" marL="73152" marR="73152" marT="18288" marB="18288">
                    <a:solidFill>
                      <a:srgbClr val="ECEB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61E33"/>
                          </a:solidFill>
                          <a:latin typeface="Liberation Sans"/>
                        </a:rPr>
                        <a:t>fraco</a:t>
                      </a:r>
                    </a:p>
                  </a:txBody>
                  <a:tcPr anchor="ctr" marL="73152" marR="73152" marT="18288" marB="18288">
                    <a:solidFill>
                      <a:srgbClr val="ECEB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61E33"/>
                          </a:solidFill>
                          <a:latin typeface="Liberation Sans"/>
                        </a:rPr>
                        <a:t>granular</a:t>
                      </a:r>
                    </a:p>
                  </a:txBody>
                  <a:tcPr anchor="ctr" marL="73152" marR="73152" marT="18288" marB="18288">
                    <a:solidFill>
                      <a:srgbClr val="ECEB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61E33"/>
                          </a:solidFill>
                          <a:latin typeface="Liberation Sans"/>
                        </a:rPr>
                        <a:t>exploração / pesquisa</a:t>
                      </a:r>
                    </a:p>
                  </a:txBody>
                  <a:tcPr anchor="ctr" marL="73152" marR="73152" marT="18288" marB="18288">
                    <a:solidFill>
                      <a:srgbClr val="ECEBFD"/>
                    </a:solidFill>
                  </a:tcPr>
                </a:tc>
              </a:tr>
              <a:tr h="44413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61E33"/>
                          </a:solidFill>
                          <a:latin typeface="Liberation Sans"/>
                        </a:rPr>
                        <a:t>laço próprio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61E33"/>
                          </a:solidFill>
                          <a:latin typeface="Liberation Sans"/>
                        </a:rPr>
                        <a:t>você controla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61E33"/>
                          </a:solidFill>
                          <a:latin typeface="Liberation Sans"/>
                        </a:rPr>
                        <a:t>você faz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61E33"/>
                          </a:solidFill>
                          <a:latin typeface="Liberation Sans"/>
                        </a:rPr>
                        <a:t>você faz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61E33"/>
                          </a:solidFill>
                          <a:latin typeface="Liberation Sans"/>
                        </a:rPr>
                        <a:t>70% dos casos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5120640"/>
            <a:ext cx="11094415" cy="1005840"/>
          </a:xfrm>
          <a:prstGeom prst="roundRect">
            <a:avLst>
              <a:gd name="adj" fmla="val 8000"/>
            </a:avLst>
          </a:prstGeom>
          <a:solidFill>
            <a:srgbClr val="FC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5120640"/>
            <a:ext cx="109728" cy="1005840"/>
          </a:xfrm>
          <a:prstGeom prst="rect">
            <a:avLst/>
          </a:prstGeom>
          <a:solidFill>
            <a:srgbClr val="E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120640"/>
            <a:ext cx="10500055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06A00"/>
                </a:solidFill>
                <a:latin typeface="Liberation Sans"/>
              </a:rPr>
              <a:t>A opinião contrária: </a:t>
            </a:r>
            <a:r>
              <a:rPr sz="1500" b="0" i="0">
                <a:solidFill>
                  <a:srgbClr val="161E33"/>
                </a:solidFill>
                <a:latin typeface="Liberation Sans"/>
              </a:rPr>
              <a:t>para uns 70% dos casos, o laço direto é mais simples de depurar. Framework se justifica por durabilidade, observabilidade e humano-no-laço — não por elegância. “Não adotem framework antes de ter o eval do S20.”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4F46E5"/>
                </a:solidFill>
                <a:latin typeface="Liberation Sans"/>
              </a:rPr>
              <a:t>42 / 70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333548" cy="40233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33354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8 · AMBIENTES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Mudou a unidade de trabalho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2CB1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11094415" cy="1280160"/>
          </a:xfrm>
          <a:prstGeom prst="roundRect">
            <a:avLst>
              <a:gd name="adj" fmla="val 6000"/>
            </a:avLst>
          </a:prstGeom>
          <a:solidFill>
            <a:srgbClr val="E1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146304" cy="1280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10271455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0D9488"/>
                </a:solidFill>
                <a:latin typeface="Liberation Sans"/>
              </a:rPr>
              <a:t>Do autocompletar de uma linha para a </a:t>
            </a:r>
            <a:r>
              <a:rPr sz="2100" b="1" i="0">
                <a:solidFill>
                  <a:srgbClr val="0D9488"/>
                </a:solidFill>
                <a:latin typeface="Liberation Sans"/>
              </a:rPr>
              <a:t>tarefa sobre o repositório inteiro.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49039"/>
            <a:ext cx="11094415" cy="1005840"/>
          </a:xfrm>
          <a:prstGeom prst="roundRect">
            <a:avLst>
              <a:gd name="adj" fmla="val 10000"/>
            </a:avLst>
          </a:prstGeom>
          <a:solidFill>
            <a:srgbClr val="FC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749039"/>
            <a:ext cx="109728" cy="1005840"/>
          </a:xfrm>
          <a:prstGeom prst="rect">
            <a:avLst/>
          </a:prstGeom>
          <a:solidFill>
            <a:srgbClr val="E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749039"/>
            <a:ext cx="10545775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E06A00"/>
                </a:solidFill>
                <a:latin typeface="Liberation Sans"/>
              </a:rPr>
              <a:t>A revisão passa a ser de um diff inteiro, não de uma sugestão de linha.</a:t>
            </a:r>
            <a:r>
              <a:rPr sz="1700" b="0" i="0">
                <a:solidFill>
                  <a:srgbClr val="161E33"/>
                </a:solidFill>
                <a:latin typeface="Liberation Sans"/>
              </a:rPr>
              <a:t>  Isso muda o code review do time — e é uma mudança de processo, não de ferramenta.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1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D9488"/>
                </a:solidFill>
                <a:latin typeface="Liberation Sans"/>
              </a:rPr>
              <a:t>43 / 70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333548" cy="40233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33354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8 · AMBIENTES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Claude 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2CB1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11094415" cy="1051560"/>
          </a:xfrm>
          <a:prstGeom prst="roundRect">
            <a:avLst>
              <a:gd name="adj" fmla="val 10000"/>
            </a:avLst>
          </a:prstGeom>
          <a:solidFill>
            <a:srgbClr val="E1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09728" cy="10515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1054577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D9488"/>
                </a:solidFill>
                <a:latin typeface="Liberation Sans"/>
              </a:rPr>
              <a:t>CLI com busca agêntica sem indexação prévia.</a:t>
            </a:r>
            <a:r>
              <a:rPr sz="1650" b="0" i="0">
                <a:solidFill>
                  <a:srgbClr val="161E33"/>
                </a:solidFill>
                <a:latin typeface="Liberation Sans"/>
              </a:rPr>
              <a:t>  Explora o repositório na hora, em vez de manter um índice que envelhece.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54096"/>
            <a:ext cx="11094415" cy="1051560"/>
          </a:xfrm>
          <a:prstGeom prst="roundRect">
            <a:avLst>
              <a:gd name="adj" fmla="val 10000"/>
            </a:avLst>
          </a:prstGeom>
          <a:solidFill>
            <a:srgbClr val="E1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054096"/>
            <a:ext cx="109728" cy="10515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054096"/>
            <a:ext cx="1054577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D9488"/>
                </a:solidFill>
                <a:latin typeface="Liberation Sans"/>
              </a:rPr>
              <a:t>CLAUDE.md, subagentes, skills, MCP, modo headless para CI.</a:t>
            </a:r>
            <a:r>
              <a:rPr sz="1650" b="0" i="0">
                <a:solidFill>
                  <a:srgbClr val="161E33"/>
                </a:solidFill>
                <a:latin typeface="Liberation Sans"/>
              </a:rPr>
              <a:t>  O contexto do projeto e as capacidades ficam versionados no repositório.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33672"/>
            <a:ext cx="11094415" cy="1051560"/>
          </a:xfrm>
          <a:prstGeom prst="roundRect">
            <a:avLst>
              <a:gd name="adj" fmla="val 10000"/>
            </a:avLst>
          </a:prstGeom>
          <a:solidFill>
            <a:srgbClr val="E6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233672"/>
            <a:ext cx="109728" cy="1051560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33672"/>
            <a:ext cx="1054577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9D58"/>
                </a:solidFill>
                <a:latin typeface="Liberation Sans"/>
              </a:rPr>
              <a:t>Hooks são o mecanismo de PORTÃO.</a:t>
            </a:r>
            <a:r>
              <a:rPr sz="1650" b="0" i="0">
                <a:solidFill>
                  <a:srgbClr val="161E33"/>
                </a:solidFill>
                <a:latin typeface="Liberation Sans"/>
              </a:rPr>
              <a:t>  Lint, teste e política rodam DENTRO do laço — não depois. É o gate do Bloco 9 acontecendo na prática.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1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D9488"/>
                </a:solidFill>
                <a:latin typeface="Liberation Sans"/>
              </a:rPr>
              <a:t>44 / 70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333548" cy="40233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33354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8 · AMBIENTES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Cursor e o panorama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2CB1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11094415" cy="1051560"/>
          </a:xfrm>
          <a:prstGeom prst="roundRect">
            <a:avLst>
              <a:gd name="adj" fmla="val 10000"/>
            </a:avLst>
          </a:prstGeom>
          <a:solidFill>
            <a:srgbClr val="E1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09728" cy="10515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1054577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D9488"/>
                </a:solidFill>
                <a:latin typeface="Liberation Sans"/>
              </a:rPr>
              <a:t>Cursor: IDE com indexação prévia, Composer/Agent, regras de projeto.</a:t>
            </a:r>
            <a:r>
              <a:rPr sz="1650" b="0" i="0">
                <a:solidFill>
                  <a:srgbClr val="161E33"/>
                </a:solidFill>
                <a:latin typeface="Liberation Sans"/>
              </a:rPr>
              <a:t>  Indexa antes (rápido, mas o índice pode ficar defasado).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54096"/>
            <a:ext cx="11094415" cy="1051560"/>
          </a:xfrm>
          <a:prstGeom prst="roundRect">
            <a:avLst>
              <a:gd name="adj" fmla="val 10000"/>
            </a:avLst>
          </a:prstGeom>
          <a:solidFill>
            <a:srgbClr val="E1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054096"/>
            <a:ext cx="109728" cy="10515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054096"/>
            <a:ext cx="1054577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D9488"/>
                </a:solidFill>
                <a:latin typeface="Liberation Sans"/>
              </a:rPr>
              <a:t>O trade-off de fundo:</a:t>
            </a:r>
            <a:r>
              <a:rPr sz="1650" b="0" i="0">
                <a:solidFill>
                  <a:srgbClr val="161E33"/>
                </a:solidFill>
                <a:latin typeface="Liberation Sans"/>
              </a:rPr>
              <a:t>  indexação prévia (rápida, risco de índice velho) × exploração sob demanda (lenta, sempre atual).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33672"/>
            <a:ext cx="11094415" cy="1051560"/>
          </a:xfrm>
          <a:prstGeom prst="roundRect">
            <a:avLst>
              <a:gd name="adj" fmla="val 10000"/>
            </a:avLst>
          </a:prstGeom>
          <a:solidFill>
            <a:srgbClr val="E1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233672"/>
            <a:ext cx="109728" cy="10515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33672"/>
            <a:ext cx="1054577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D9488"/>
                </a:solidFill>
                <a:latin typeface="Liberation Sans"/>
              </a:rPr>
              <a:t>O resto do panorama, numa linha:</a:t>
            </a:r>
            <a:r>
              <a:rPr sz="1650" b="0" i="0">
                <a:solidFill>
                  <a:srgbClr val="161E33"/>
                </a:solidFill>
                <a:latin typeface="Liberation Sans"/>
              </a:rPr>
              <a:t>  Copilot, Windsurf, Aider, Codex, Devin — variações do mesmo tema.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1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D9488"/>
                </a:solidFill>
                <a:latin typeface="Liberation Sans"/>
              </a:rPr>
              <a:t>45 / 70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741017" cy="40233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1741017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9 · SDD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O problema: “vibe coding”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7A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11094415" cy="1051560"/>
          </a:xfrm>
          <a:prstGeom prst="roundRect">
            <a:avLst>
              <a:gd name="adj" fmla="val 10000"/>
            </a:avLst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09728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1054577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4F46E5"/>
                </a:solidFill>
                <a:latin typeface="Liberation Sans"/>
              </a:rPr>
              <a:t>Programar “no feeling” funciona no protótipo e colapsa no sistema.</a:t>
            </a:r>
            <a:r>
              <a:rPr sz="1700" b="0" i="0">
                <a:solidFill>
                  <a:srgbClr val="161E33"/>
                </a:solidFill>
                <a:latin typeface="Liberation Sans"/>
              </a:rPr>
              <a:t>  Enquanto é pequeno, tudo bem. Quando cresce, ninguém mais segura na cabeça.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54096"/>
            <a:ext cx="11094415" cy="1051560"/>
          </a:xfrm>
          <a:prstGeom prst="roundRect">
            <a:avLst>
              <a:gd name="adj" fmla="val 10000"/>
            </a:avLst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054096"/>
            <a:ext cx="109728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054096"/>
            <a:ext cx="1054577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4F46E5"/>
                </a:solidFill>
                <a:latin typeface="Liberation Sans"/>
              </a:rPr>
              <a:t>O sintoma:</a:t>
            </a:r>
            <a:r>
              <a:rPr sz="1700" b="0" i="0">
                <a:solidFill>
                  <a:srgbClr val="161E33"/>
                </a:solidFill>
                <a:latin typeface="Liberation Sans"/>
              </a:rPr>
              <a:t>  o código existe, funciona — e ninguém sabe qual requisito ele atende, nem se ainda atende.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33672"/>
            <a:ext cx="11094415" cy="1051560"/>
          </a:xfrm>
          <a:prstGeom prst="roundRect">
            <a:avLst>
              <a:gd name="adj" fmla="val 10000"/>
            </a:avLst>
          </a:prstGeom>
          <a:solidFill>
            <a:srgbClr val="FC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233672"/>
            <a:ext cx="109728" cy="1051560"/>
          </a:xfrm>
          <a:prstGeom prst="rect">
            <a:avLst/>
          </a:prstGeom>
          <a:solidFill>
            <a:srgbClr val="E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33672"/>
            <a:ext cx="1054577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E06A00"/>
                </a:solidFill>
                <a:latin typeface="Liberation Sans"/>
              </a:rPr>
              <a:t>Em domínio regulado, isso tem outro nome: NÃO CONFORMIDADE.</a:t>
            </a:r>
            <a:r>
              <a:rPr sz="1700" b="0" i="0">
                <a:solidFill>
                  <a:srgbClr val="161E33"/>
                </a:solidFill>
                <a:latin typeface="Liberation Sans"/>
              </a:rPr>
              <a:t>  Não é dívida técnica; é risco regulatório.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4F46E5"/>
                </a:solidFill>
                <a:latin typeface="Liberation Sans"/>
              </a:rPr>
              <a:t>46 / 70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741017" cy="40233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1741017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9 · SDD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A inversão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7A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11094415" cy="1234440"/>
          </a:xfrm>
          <a:prstGeom prst="roundRect">
            <a:avLst>
              <a:gd name="adj" fmla="val 6000"/>
            </a:avLst>
          </a:prstGeom>
          <a:solidFill>
            <a:srgbClr val="FC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09728" cy="123444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65960"/>
            <a:ext cx="1063721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11D48"/>
                </a:solidFill>
                <a:latin typeface="Liberation Sans"/>
              </a:rPr>
              <a:t>(a) O jeito de hoje:  </a:t>
            </a:r>
            <a:r>
              <a:rPr sz="1600" b="0" i="0">
                <a:solidFill>
                  <a:srgbClr val="161E33"/>
                </a:solidFill>
                <a:latin typeface="Liberation Sans"/>
              </a:rPr>
              <a:t>requisito informal → código → documentação que já nasce desatualizada.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91840"/>
            <a:ext cx="11094415" cy="1234440"/>
          </a:xfrm>
          <a:prstGeom prst="roundRect">
            <a:avLst>
              <a:gd name="adj" fmla="val 6000"/>
            </a:avLst>
          </a:prstGeom>
          <a:solidFill>
            <a:srgbClr val="E2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291840"/>
            <a:ext cx="109728" cy="12344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383280"/>
            <a:ext cx="1063721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59669"/>
                </a:solidFill>
                <a:latin typeface="Liberation Sans"/>
              </a:rPr>
              <a:t>(b) O SDD:  </a:t>
            </a:r>
            <a:r>
              <a:rPr sz="1600" b="0" i="0">
                <a:solidFill>
                  <a:srgbClr val="161E33"/>
                </a:solidFill>
                <a:latin typeface="Liberation Sans"/>
              </a:rPr>
              <a:t>especificação PRIMÁRIA → plano → tarefas → código DERIVADO.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754880"/>
            <a:ext cx="11094415" cy="1234440"/>
          </a:xfrm>
          <a:prstGeom prst="roundRect">
            <a:avLst>
              <a:gd name="adj" fmla="val 6000"/>
            </a:avLst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754880"/>
            <a:ext cx="146304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754880"/>
            <a:ext cx="10271455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4F46E5"/>
                </a:solidFill>
                <a:latin typeface="Liberation Sans"/>
              </a:rPr>
              <a:t>A spec é o que se versiona, revisa e mantém. O código é o que se regenera. </a:t>
            </a:r>
            <a:r>
              <a:rPr sz="1800" b="0" i="1">
                <a:solidFill>
                  <a:srgbClr val="161E33"/>
                </a:solidFill>
                <a:latin typeface="Liberation Sans"/>
              </a:rPr>
              <a:t>“É a relação entre código-fonte e binário — ninguém revisa o binário.”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4F46E5"/>
                </a:solidFill>
                <a:latin typeface="Liberation Sans"/>
              </a:rPr>
              <a:t>47 / 70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741017" cy="40233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1741017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9 · SDD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O ciclo SDD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7A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46_sd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500" y="1783080"/>
            <a:ext cx="10510694" cy="46177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4F46E5"/>
                </a:solidFill>
                <a:latin typeface="Liberation Sans"/>
              </a:rPr>
              <a:t>48 / 70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741017" cy="40233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1741017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9 · SDD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Anatomia de uma especificação útil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7A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5852160" cy="1051560"/>
          </a:xfrm>
          <a:prstGeom prst="roundRect">
            <a:avLst>
              <a:gd name="adj" fmla="val 10000"/>
            </a:avLst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09728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530352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4F46E5"/>
                </a:solidFill>
                <a:latin typeface="Liberation Sans"/>
              </a:rPr>
              <a:t>Contexto e escopo · NÃO-objetivos · requisitos em EARS.</a:t>
            </a:r>
            <a:r>
              <a:rPr sz="1550" b="0" i="0">
                <a:solidFill>
                  <a:srgbClr val="161E33"/>
                </a:solidFill>
                <a:latin typeface="Liberation Sans"/>
              </a:rPr>
              <a:t>  Dizer o que está fora é tão importante quanto o que está dentro.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54096"/>
            <a:ext cx="5852160" cy="1051560"/>
          </a:xfrm>
          <a:prstGeom prst="roundRect">
            <a:avLst>
              <a:gd name="adj" fmla="val 10000"/>
            </a:avLst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054096"/>
            <a:ext cx="109728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054096"/>
            <a:ext cx="530352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4F46E5"/>
                </a:solidFill>
                <a:latin typeface="Liberation Sans"/>
              </a:rPr>
              <a:t>Critérios de aceitação verificáveis · contratos · invariantes · referências normativas.</a:t>
            </a:r>
            <a:r>
              <a:rPr sz="1550" b="0" i="0">
                <a:solidFill>
                  <a:srgbClr val="161E33"/>
                </a:solidFill>
                <a:latin typeface="Liberation Sans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1874519"/>
            <a:ext cx="5105095" cy="3566160"/>
          </a:xfrm>
          <a:prstGeom prst="roundRect">
            <a:avLst>
              <a:gd name="adj" fmla="val 8000"/>
            </a:avLst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37960" y="1874519"/>
            <a:ext cx="109728" cy="35661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2011680"/>
            <a:ext cx="4556455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1" i="0">
                <a:solidFill>
                  <a:srgbClr val="059669"/>
                </a:solidFill>
                <a:latin typeface="Liberation Sans"/>
              </a:rPr>
              <a:t>Requisito em EARS (bom):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161E33"/>
                </a:solidFill>
                <a:latin typeface="Liberation Sans"/>
              </a:rPr>
              <a:t>“Quando uma hemocultura positiva for registrada, o sistema deve avaliar os critérios de ICSAC dentro de 48 h e produzir um parecer com evidência citada.”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1" i="0">
                <a:solidFill>
                  <a:srgbClr val="E06A00"/>
                </a:solidFill>
                <a:latin typeface="Liberation Sans"/>
              </a:rPr>
              <a:t>Requisito ruim (não verificável):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1">
                <a:solidFill>
                  <a:srgbClr val="161E33"/>
                </a:solidFill>
                <a:latin typeface="Liberation Sans"/>
              </a:rPr>
              <a:t>“O sistema deve detectar infecções corretamente.”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4F46E5"/>
                </a:solidFill>
                <a:latin typeface="Liberation Sans"/>
              </a:rPr>
              <a:t>49 / 70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741017" cy="40233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1741017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9 · SDD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Exemplo ponta a ponta: da spec ao código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7A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3515258" cy="2743200"/>
          </a:xfrm>
          <a:prstGeom prst="roundRect">
            <a:avLst>
              <a:gd name="adj" fmla="val 7000"/>
            </a:avLst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65960"/>
            <a:ext cx="3515258" cy="5486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333237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Liberation Sans"/>
              </a:rPr>
              <a:t>SPEC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88920"/>
            <a:ext cx="314949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61E33"/>
                </a:solidFill>
                <a:latin typeface="DejaVu Sans Mono"/>
              </a:rPr>
              <a:t>critério ICSAC +
janela de 48 h
(requisito R-014)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26738" y="301752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5A667E"/>
                </a:solidFill>
                <a:latin typeface="Liberation San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8218" y="1965960"/>
            <a:ext cx="3515258" cy="2743200"/>
          </a:xfrm>
          <a:prstGeom prst="roundRect">
            <a:avLst>
              <a:gd name="adj" fmla="val 7000"/>
            </a:avLst>
          </a:prstGeom>
          <a:solidFill>
            <a:srgbClr val="E2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8218" y="1965960"/>
            <a:ext cx="3515258" cy="5486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2011680"/>
            <a:ext cx="333237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Liberation Sans"/>
              </a:rPr>
              <a:t>TESTE gerado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1098" y="2788920"/>
            <a:ext cx="314949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61E33"/>
                </a:solidFill>
                <a:latin typeface="DejaVu Sans Mono"/>
              </a:rPr>
              <a:t>test_r014_janela_48h
confere as bordas
da janela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6316" y="301752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5A667E"/>
                </a:solidFill>
                <a:latin typeface="Liberation San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1965960"/>
            <a:ext cx="3515258" cy="2743200"/>
          </a:xfrm>
          <a:prstGeom prst="roundRect">
            <a:avLst>
              <a:gd name="adj" fmla="val 7000"/>
            </a:avLst>
          </a:prstGeom>
          <a:solidFill>
            <a:srgbClr val="E3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27796" y="1965960"/>
            <a:ext cx="3515258" cy="548640"/>
          </a:xfrm>
          <a:prstGeom prst="rect">
            <a:avLst/>
          </a:prstGeom>
          <a:solidFill>
            <a:srgbClr val="028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9236" y="2011680"/>
            <a:ext cx="333237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Liberation Sans"/>
              </a:rPr>
              <a:t>IMPLEMENTAÇÃO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0676" y="2788920"/>
            <a:ext cx="314949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61E33"/>
                </a:solidFill>
                <a:latin typeface="DejaVu Sans Mono"/>
              </a:rPr>
              <a:t>avaliar_icsac()
derivada da spec,
não o contrário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892040"/>
            <a:ext cx="11094415" cy="1005840"/>
          </a:xfrm>
          <a:prstGeom prst="roundRect">
            <a:avLst>
              <a:gd name="adj" fmla="val 8000"/>
            </a:avLst>
          </a:prstGeom>
          <a:solidFill>
            <a:srgbClr val="E6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892040"/>
            <a:ext cx="109728" cy="1005840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892040"/>
            <a:ext cx="10500055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4F46E5"/>
                </a:solidFill>
                <a:latin typeface="Liberation Sans"/>
              </a:rPr>
              <a:t>Rastreabilidade: </a:t>
            </a:r>
            <a:r>
              <a:rPr sz="1500" b="0" i="0">
                <a:solidFill>
                  <a:srgbClr val="161E33"/>
                </a:solidFill>
                <a:latin typeface="Liberation Sans"/>
              </a:rPr>
              <a:t>R-014 → test_r014_janela_48h → avaliar_icsac().  O teste nasceu do CRITÉRIO, não do código — por isso não herda os bugs da implementação.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4F46E5"/>
                </a:solidFill>
                <a:latin typeface="Liberation Sans"/>
              </a:rPr>
              <a:t>50 / 70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741017" cy="40233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1741017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9 · SDD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Ferramental de SDD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7A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11094415" cy="1024128"/>
          </a:xfrm>
          <a:prstGeom prst="roundRect">
            <a:avLst>
              <a:gd name="adj" fmla="val 10000"/>
            </a:avLst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09728" cy="10241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1054577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F46E5"/>
                </a:solidFill>
                <a:latin typeface="Liberation Sans"/>
              </a:rPr>
              <a:t>GitHub Spec Kit.</a:t>
            </a:r>
            <a:r>
              <a:rPr sz="1600" b="0" i="0">
                <a:solidFill>
                  <a:srgbClr val="161E33"/>
                </a:solidFill>
                <a:latin typeface="Liberation Sans"/>
              </a:rPr>
              <a:t>  Comandos /specify, /plan, /tasks, /implement — o ciclo do S46 como fluxo de trabalho.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26664"/>
            <a:ext cx="11094415" cy="1024128"/>
          </a:xfrm>
          <a:prstGeom prst="roundRect">
            <a:avLst>
              <a:gd name="adj" fmla="val 10000"/>
            </a:avLst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026664"/>
            <a:ext cx="109728" cy="10241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026664"/>
            <a:ext cx="1054577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F46E5"/>
                </a:solidFill>
                <a:latin typeface="Liberation Sans"/>
              </a:rPr>
              <a:t>Kiro.</a:t>
            </a:r>
            <a:r>
              <a:rPr sz="1600" b="0" i="0">
                <a:solidFill>
                  <a:srgbClr val="161E33"/>
                </a:solidFill>
                <a:latin typeface="Liberation Sans"/>
              </a:rPr>
              <a:t>  Organiza requirements.md, design.md e tasks.md no repositório.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78808"/>
            <a:ext cx="11094415" cy="1024128"/>
          </a:xfrm>
          <a:prstGeom prst="roundRect">
            <a:avLst>
              <a:gd name="adj" fmla="val 10000"/>
            </a:avLst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178808"/>
            <a:ext cx="109728" cy="10241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178808"/>
            <a:ext cx="1054577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F46E5"/>
                </a:solidFill>
                <a:latin typeface="Liberation Sans"/>
              </a:rPr>
              <a:t>Tessl.</a:t>
            </a:r>
            <a:r>
              <a:rPr sz="1600" b="0" i="0">
                <a:solidFill>
                  <a:srgbClr val="161E33"/>
                </a:solidFill>
                <a:latin typeface="Liberation Sans"/>
              </a:rPr>
              <a:t>  Outra aposta no mesmo princípio: a spec como artefato primário.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330952"/>
            <a:ext cx="11094415" cy="1024128"/>
          </a:xfrm>
          <a:prstGeom prst="roundRect">
            <a:avLst>
              <a:gd name="adj" fmla="val 10000"/>
            </a:avLst>
          </a:prstGeom>
          <a:solidFill>
            <a:srgbClr val="E6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330952"/>
            <a:ext cx="109728" cy="1024128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330952"/>
            <a:ext cx="1054577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9D58"/>
                </a:solidFill>
                <a:latin typeface="Liberation Sans"/>
              </a:rPr>
              <a:t>Feche a promessa do S33: specs/ + AGENTS.md + pacote OKF no MESMO repositório.</a:t>
            </a:r>
            <a:r>
              <a:rPr sz="1600" b="0" i="0">
                <a:solidFill>
                  <a:srgbClr val="161E33"/>
                </a:solidFill>
                <a:latin typeface="Liberation Sans"/>
              </a:rPr>
              <a:t>  O que o sistema faz, como se trabalha nele e o domínio que ele modela — tudo markdown versionado.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4F46E5"/>
                </a:solidFill>
                <a:latin typeface="Liberation Sans"/>
              </a:rPr>
              <a:t>51 / 70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741017" cy="40233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1741017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9 · SDD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Onde o SDD encontra os agentes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7A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2103120"/>
            <a:ext cx="2331720" cy="1188720"/>
          </a:xfrm>
          <a:prstGeom prst="roundRect">
            <a:avLst>
              <a:gd name="adj" fmla="val 10000"/>
            </a:avLst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103120"/>
            <a:ext cx="2331720" cy="14630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423160"/>
            <a:ext cx="2331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4F46E5"/>
                </a:solidFill>
                <a:latin typeface="Liberation Sans"/>
              </a:rPr>
              <a:t>Especificador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799" y="2468879"/>
            <a:ext cx="548640" cy="457200"/>
          </a:xfrm>
          <a:prstGeom prst="roundRect">
            <a:avLst>
              <a:gd name="adj" fmla="val 20000"/>
            </a:avLst>
          </a:prstGeom>
          <a:solidFill>
            <a:srgbClr val="E2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44368" y="2487168"/>
            <a:ext cx="640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1" i="0">
                <a:solidFill>
                  <a:srgbClr val="059669"/>
                </a:solidFill>
                <a:latin typeface="Liberation Sans"/>
              </a:rPr>
              <a:t>GATE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59" y="2103120"/>
            <a:ext cx="2331720" cy="1188720"/>
          </a:xfrm>
          <a:prstGeom prst="roundRect">
            <a:avLst>
              <a:gd name="adj" fmla="val 10000"/>
            </a:avLst>
          </a:prstGeom>
          <a:solidFill>
            <a:srgbClr val="E3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66159" y="2103120"/>
            <a:ext cx="2331720" cy="146304"/>
          </a:xfrm>
          <a:prstGeom prst="rect">
            <a:avLst/>
          </a:prstGeom>
          <a:solidFill>
            <a:srgbClr val="028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59" y="2423160"/>
            <a:ext cx="2331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283C9"/>
                </a:solidFill>
                <a:latin typeface="Liberation Sans"/>
              </a:rPr>
              <a:t>Arquiteto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599" y="2468879"/>
            <a:ext cx="548640" cy="457200"/>
          </a:xfrm>
          <a:prstGeom prst="roundRect">
            <a:avLst>
              <a:gd name="adj" fmla="val 20000"/>
            </a:avLst>
          </a:prstGeom>
          <a:solidFill>
            <a:srgbClr val="E2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16167" y="2487168"/>
            <a:ext cx="640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1" i="0">
                <a:solidFill>
                  <a:srgbClr val="059669"/>
                </a:solidFill>
                <a:latin typeface="Liberation Sans"/>
              </a:rPr>
              <a:t>GATE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59" y="2103120"/>
            <a:ext cx="2331720" cy="1188720"/>
          </a:xfrm>
          <a:prstGeom prst="roundRect">
            <a:avLst>
              <a:gd name="adj" fmla="val 10000"/>
            </a:avLst>
          </a:prstGeom>
          <a:solidFill>
            <a:srgbClr val="E1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37959" y="2103120"/>
            <a:ext cx="2331720" cy="14630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59" y="2423160"/>
            <a:ext cx="2331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D9488"/>
                </a:solidFill>
                <a:latin typeface="Liberation Sans"/>
              </a:rPr>
              <a:t>Implementador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400" y="2468879"/>
            <a:ext cx="548640" cy="457200"/>
          </a:xfrm>
          <a:prstGeom prst="roundRect">
            <a:avLst>
              <a:gd name="adj" fmla="val 20000"/>
            </a:avLst>
          </a:prstGeom>
          <a:solidFill>
            <a:srgbClr val="E2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87967" y="2487168"/>
            <a:ext cx="640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1" i="0">
                <a:solidFill>
                  <a:srgbClr val="059669"/>
                </a:solidFill>
                <a:latin typeface="Liberation Sans"/>
              </a:rPr>
              <a:t>GATE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59" y="2103120"/>
            <a:ext cx="2331720" cy="1188720"/>
          </a:xfrm>
          <a:prstGeom prst="roundRect">
            <a:avLst>
              <a:gd name="adj" fmla="val 10000"/>
            </a:avLst>
          </a:prstGeom>
          <a:solidFill>
            <a:srgbClr val="E2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509759" y="2103120"/>
            <a:ext cx="2331720" cy="14630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59" y="2423160"/>
            <a:ext cx="2331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59669"/>
                </a:solidFill>
                <a:latin typeface="Liberation Sans"/>
              </a:rPr>
              <a:t>Verificador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749039"/>
            <a:ext cx="11094415" cy="783336"/>
          </a:xfrm>
          <a:prstGeom prst="roundRect">
            <a:avLst>
              <a:gd name="adj" fmla="val 10000"/>
            </a:avLst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749039"/>
            <a:ext cx="109728" cy="78333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3749039"/>
            <a:ext cx="10545775" cy="783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F46E5"/>
                </a:solidFill>
                <a:latin typeface="Liberation Sans"/>
              </a:rPr>
              <a:t>Contexto isolado por etapa, e o GATE em código DETERMINÍSTICO — não em outro modelo.</a:t>
            </a:r>
            <a:r>
              <a:rPr sz="1500" b="0" i="0">
                <a:solidFill>
                  <a:srgbClr val="161E33"/>
                </a:solidFill>
                <a:latin typeface="Liberation Sans"/>
              </a:rPr>
              <a:t>  Verificar com um segundo LLM só empilha incerteza; o portão tem que ser código que passa ou não passa.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660392"/>
            <a:ext cx="11094415" cy="783336"/>
          </a:xfrm>
          <a:prstGeom prst="roundRect">
            <a:avLst>
              <a:gd name="adj" fmla="val 10000"/>
            </a:avLst>
          </a:prstGeom>
          <a:solidFill>
            <a:srgbClr val="E6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4660392"/>
            <a:ext cx="109728" cy="783336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4660392"/>
            <a:ext cx="10545775" cy="783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9D58"/>
                </a:solidFill>
                <a:latin typeface="Liberation Sans"/>
              </a:rPr>
              <a:t>Feche o S28: o monólito de 20 passos tem 36% de sucesso; a cadeia com gate se comporta de forma inteiramente diferente — o erro não se propaga.</a:t>
            </a:r>
            <a:r>
              <a:rPr sz="1500" b="0" i="0">
                <a:solidFill>
                  <a:srgbClr val="161E33"/>
                </a:solidFill>
                <a:latin typeface="Liberation Sans"/>
              </a:rPr>
              <a:t/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571744"/>
            <a:ext cx="11094415" cy="783336"/>
          </a:xfrm>
          <a:prstGeom prst="roundRect">
            <a:avLst>
              <a:gd name="adj" fmla="val 10000"/>
            </a:avLst>
          </a:prstGeom>
          <a:solidFill>
            <a:srgbClr val="FC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5571744"/>
            <a:ext cx="109728" cy="783336"/>
          </a:xfrm>
          <a:prstGeom prst="rect">
            <a:avLst/>
          </a:prstGeom>
          <a:solidFill>
            <a:srgbClr val="E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5571744"/>
            <a:ext cx="10545775" cy="783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06A00"/>
                </a:solidFill>
                <a:latin typeface="Liberation Sans"/>
              </a:rPr>
              <a:t>É isto que vou mostrar rodando no Bloco 11: um gerador cujo portão determinístico pega o erro do agente ANTES do deploy.</a:t>
            </a:r>
            <a:r>
              <a:rPr sz="1500" b="0" i="0">
                <a:solidFill>
                  <a:srgbClr val="161E33"/>
                </a:solidFill>
                <a:latin typeface="Liberation Sans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4F46E5"/>
                </a:solidFill>
                <a:latin typeface="Liberation Sans"/>
              </a:rPr>
              <a:t>52 / 70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741017" cy="40233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1741017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9 · SDD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O SDD entrega o artefato regulatório de graça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7A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11094415" cy="1051560"/>
          </a:xfrm>
          <a:prstGeom prst="roundRect">
            <a:avLst>
              <a:gd name="adj" fmla="val 10000"/>
            </a:avLst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09728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1054577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4F46E5"/>
                </a:solidFill>
                <a:latin typeface="Liberation Sans"/>
              </a:rPr>
              <a:t>Software de saúde exige rastreabilidade requisito → projeto → teste → código.</a:t>
            </a:r>
            <a:r>
              <a:rPr sz="1650" b="0" i="0">
                <a:solidFill>
                  <a:srgbClr val="161E33"/>
                </a:solidFill>
                <a:latin typeface="Liberation Sans"/>
              </a:rPr>
              <a:t>  Mais gestão de risco documentada e ciclo de vida controlado: IEC 62304, ISO 14971 e a RDC da ANVISA.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54096"/>
            <a:ext cx="11094415" cy="1051560"/>
          </a:xfrm>
          <a:prstGeom prst="roundRect">
            <a:avLst>
              <a:gd name="adj" fmla="val 10000"/>
            </a:avLst>
          </a:prstGeom>
          <a:solidFill>
            <a:srgbClr val="E6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054096"/>
            <a:ext cx="109728" cy="1051560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054096"/>
            <a:ext cx="1054577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9D58"/>
                </a:solidFill>
                <a:latin typeface="Liberation Sans"/>
              </a:rPr>
              <a:t>Quem faz SDD JÁ TEM a matriz de rastreabilidade — como subproduto, versionada, com autoria e histórico.</a:t>
            </a:r>
            <a:r>
              <a:rPr sz="1650" b="0" i="0">
                <a:solidFill>
                  <a:srgbClr val="161E33"/>
                </a:solidFill>
                <a:latin typeface="Liberation Sans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33672"/>
            <a:ext cx="11094415" cy="1051560"/>
          </a:xfrm>
          <a:prstGeom prst="roundRect">
            <a:avLst>
              <a:gd name="adj" fmla="val 10000"/>
            </a:avLst>
          </a:prstGeom>
          <a:solidFill>
            <a:srgbClr val="FC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233672"/>
            <a:ext cx="109728" cy="1051560"/>
          </a:xfrm>
          <a:prstGeom prst="rect">
            <a:avLst/>
          </a:prstGeom>
          <a:solidFill>
            <a:srgbClr val="E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33672"/>
            <a:ext cx="1054577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E06A00"/>
                </a:solidFill>
                <a:latin typeface="Liberation Sans"/>
              </a:rPr>
              <a:t>A inversão da objeção: o SDD é o que torna código gerado por IA AUDITÁVEL.</a:t>
            </a:r>
            <a:r>
              <a:rPr sz="1650" b="0" i="0">
                <a:solidFill>
                  <a:srgbClr val="161E33"/>
                </a:solidFill>
                <a:latin typeface="Liberation Sans"/>
              </a:rPr>
              <a:t>  O que NÃO é auditável é código escrito à mão sem especificação.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4F46E5"/>
                </a:solidFill>
                <a:latin typeface="Liberation Sans"/>
              </a:rPr>
              <a:t>53 / 70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741017" cy="40233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1741017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9 · SDD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Antipadrões: como o SDD morre na prática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7A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11094415" cy="1024128"/>
          </a:xfrm>
          <a:prstGeom prst="roundRect">
            <a:avLst>
              <a:gd name="adj" fmla="val 10000"/>
            </a:avLst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09728" cy="10241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1054577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F46E5"/>
                </a:solidFill>
                <a:latin typeface="Liberation Sans"/>
              </a:rPr>
              <a:t>Spec inflada.</a:t>
            </a:r>
            <a:r>
              <a:rPr sz="1600" b="0" i="0">
                <a:solidFill>
                  <a:srgbClr val="161E33"/>
                </a:solidFill>
                <a:latin typeface="Liberation Sans"/>
              </a:rPr>
              <a:t>  Escreve o que não vai verificar. Antídoto: só entra o que tem critério de aceitação.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26664"/>
            <a:ext cx="11094415" cy="1024128"/>
          </a:xfrm>
          <a:prstGeom prst="roundRect">
            <a:avLst>
              <a:gd name="adj" fmla="val 10000"/>
            </a:avLst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026664"/>
            <a:ext cx="109728" cy="10241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026664"/>
            <a:ext cx="1054577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F46E5"/>
                </a:solidFill>
                <a:latin typeface="Liberation Sans"/>
              </a:rPr>
              <a:t>Spec envelhecida.</a:t>
            </a:r>
            <a:r>
              <a:rPr sz="1600" b="0" i="0">
                <a:solidFill>
                  <a:srgbClr val="161E33"/>
                </a:solidFill>
                <a:latin typeface="Liberation Sans"/>
              </a:rPr>
              <a:t>  Código andou, spec não. Antídoto: CI que falha quando o código diverge da spec.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78808"/>
            <a:ext cx="11094415" cy="1024128"/>
          </a:xfrm>
          <a:prstGeom prst="roundRect">
            <a:avLst>
              <a:gd name="adj" fmla="val 10000"/>
            </a:avLst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178808"/>
            <a:ext cx="109728" cy="10241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178808"/>
            <a:ext cx="1054577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F46E5"/>
                </a:solidFill>
                <a:latin typeface="Liberation Sans"/>
              </a:rPr>
              <a:t>Gate humano virado carimbo.</a:t>
            </a:r>
            <a:r>
              <a:rPr sz="1600" b="0" i="0">
                <a:solidFill>
                  <a:srgbClr val="161E33"/>
                </a:solidFill>
                <a:latin typeface="Liberation Sans"/>
              </a:rPr>
              <a:t>  Aprova sem ler. Antídoto: o revisor assina o diff, não o PDF.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330952"/>
            <a:ext cx="11094415" cy="1024128"/>
          </a:xfrm>
          <a:prstGeom prst="roundRect">
            <a:avLst>
              <a:gd name="adj" fmla="val 10000"/>
            </a:avLst>
          </a:prstGeom>
          <a:solidFill>
            <a:srgbClr val="FC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330952"/>
            <a:ext cx="109728" cy="1024128"/>
          </a:xfrm>
          <a:prstGeom prst="rect">
            <a:avLst/>
          </a:prstGeom>
          <a:solidFill>
            <a:srgbClr val="E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330952"/>
            <a:ext cx="1054577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06A00"/>
                </a:solidFill>
                <a:latin typeface="Liberation Sans"/>
              </a:rPr>
              <a:t>Spec gerada por IA e aprovada sem leitura — a PIOR.</a:t>
            </a:r>
            <a:r>
              <a:rPr sz="1600" b="0" i="0">
                <a:solidFill>
                  <a:srgbClr val="161E33"/>
                </a:solidFill>
                <a:latin typeface="Liberation Sans"/>
              </a:rPr>
              <a:t>  Produz aparência de rastreabilidade sem substância. Se ninguém leu, não há SDD, há teatro.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C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4F46E5"/>
                </a:solidFill>
                <a:latin typeface="Liberation Sans"/>
              </a:rPr>
              <a:t>54 / 70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432304" cy="40233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43230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10 · ADAPTAÇÃO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A escada da adaptação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2EB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11094415" cy="1051560"/>
          </a:xfrm>
          <a:prstGeom prst="roundRect">
            <a:avLst>
              <a:gd name="adj" fmla="val 10000"/>
            </a:avLst>
          </a:prstGeom>
          <a:solidFill>
            <a:srgbClr val="E2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09728" cy="10515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1054577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59669"/>
                </a:solidFill>
                <a:latin typeface="Liberation Sans"/>
              </a:rPr>
              <a:t>Os degraus, do mais barato ao mais caro:</a:t>
            </a:r>
            <a:r>
              <a:rPr sz="1650" b="0" i="0">
                <a:solidFill>
                  <a:srgbClr val="161E33"/>
                </a:solidFill>
                <a:latin typeface="Liberation Sans"/>
              </a:rPr>
              <a:t>  prompt → poucos exemplos (few-shot) → RAG → ajuste fino / LoRA → aprendizado por reforço → pré-treino contínuo.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54096"/>
            <a:ext cx="11094415" cy="1051560"/>
          </a:xfrm>
          <a:prstGeom prst="roundRect">
            <a:avLst>
              <a:gd name="adj" fmla="val 10000"/>
            </a:avLst>
          </a:prstGeom>
          <a:solidFill>
            <a:srgbClr val="FC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054096"/>
            <a:ext cx="109728" cy="1051560"/>
          </a:xfrm>
          <a:prstGeom prst="rect">
            <a:avLst/>
          </a:prstGeom>
          <a:solidFill>
            <a:srgbClr val="E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054096"/>
            <a:ext cx="1054577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E06A00"/>
                </a:solidFill>
                <a:latin typeface="Liberation Sans"/>
              </a:rPr>
              <a:t>Só suba um degrau quando o anterior falhar COM EVIDÊNCIA MEDIDA.</a:t>
            </a:r>
            <a:r>
              <a:rPr sz="1650" b="0" i="0">
                <a:solidFill>
                  <a:srgbClr val="161E33"/>
                </a:solidFill>
                <a:latin typeface="Liberation Sans"/>
              </a:rPr>
              <a:t>  E a evidência é o conjunto de avaliação do S20 — não o “achismo”.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33672"/>
            <a:ext cx="11094415" cy="1051560"/>
          </a:xfrm>
          <a:prstGeom prst="roundRect">
            <a:avLst>
              <a:gd name="adj" fmla="val 10000"/>
            </a:avLst>
          </a:prstGeom>
          <a:solidFill>
            <a:srgbClr val="E2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233672"/>
            <a:ext cx="109728" cy="10515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33672"/>
            <a:ext cx="1054577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59669"/>
                </a:solidFill>
                <a:latin typeface="Liberation Sans"/>
              </a:rPr>
              <a:t>Retome a seta do S4:</a:t>
            </a:r>
            <a:r>
              <a:rPr sz="1650" b="0" i="0">
                <a:solidFill>
                  <a:srgbClr val="161E33"/>
                </a:solidFill>
                <a:latin typeface="Liberation Sans"/>
              </a:rPr>
              <a:t>  é aqui que se faz “o transplante em cima do modelo pronto” que prometi no começo.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2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59669"/>
                </a:solidFill>
                <a:latin typeface="Liberation Sans"/>
              </a:rPr>
              <a:t>55 / 70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432304" cy="40233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43230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10 · ADAPTAÇÃO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Ajuste fino (SFT) e os dados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2EB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6035040" cy="2706624"/>
          </a:xfrm>
          <a:prstGeom prst="roundRect">
            <a:avLst>
              <a:gd name="adj" fmla="val 5000"/>
            </a:avLst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2103120"/>
            <a:ext cx="109728" cy="109728"/>
          </a:xfrm>
          <a:prstGeom prst="ellipse">
            <a:avLst/>
          </a:prstGeom>
          <a:solidFill>
            <a:srgbClr val="F26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2103120"/>
            <a:ext cx="109728" cy="109728"/>
          </a:xfrm>
          <a:prstGeom prst="ellipse">
            <a:avLst/>
          </a:prstGeom>
          <a:solidFill>
            <a:srgbClr val="F4B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15568" y="2103120"/>
            <a:ext cx="109728" cy="109728"/>
          </a:xfrm>
          <a:prstGeom prst="ellipse">
            <a:avLst/>
          </a:prstGeom>
          <a:solidFill>
            <a:srgbClr val="62C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2377440"/>
            <a:ext cx="5486400" cy="21579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AEFFA"/>
                </a:solidFill>
                <a:latin typeface="DejaVu Sans Mono"/>
              </a:rPr>
              <a:t>{"messages": [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AEFFA"/>
                </a:solidFill>
                <a:latin typeface="DejaVu Sans Mono"/>
              </a:rPr>
              <a:t>  {"role": "system",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AEFFA"/>
                </a:solidFill>
                <a:latin typeface="DejaVu Sans Mono"/>
              </a:rPr>
              <a:t>   "content": "Você classifica critérios de IRAS."},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AEFFA"/>
                </a:solidFill>
                <a:latin typeface="DejaVu Sans Mono"/>
              </a:rPr>
              <a:t>  {"role": "user",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AEFFA"/>
                </a:solidFill>
                <a:latin typeface="DejaVu Sans Mono"/>
              </a:rPr>
              <a:t>   "content": "&lt;evolução clínica...&gt;"},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AEFFA"/>
                </a:solidFill>
                <a:latin typeface="DejaVu Sans Mono"/>
              </a:rPr>
              <a:t>  {"role": "assistant",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AEFFA"/>
                </a:solidFill>
                <a:latin typeface="DejaVu Sans Mono"/>
              </a:rPr>
              <a:t>   "content": "{criterio: ..., atendido: true}"}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AEFFA"/>
                </a:solidFill>
                <a:latin typeface="DejaVu Sans Mono"/>
              </a:rPr>
              <a:t>]}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1920240"/>
            <a:ext cx="4922215" cy="1051560"/>
          </a:xfrm>
          <a:prstGeom prst="roundRect">
            <a:avLst>
              <a:gd name="adj" fmla="val 10000"/>
            </a:avLst>
          </a:prstGeom>
          <a:solidFill>
            <a:srgbClr val="E2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20840" y="1920240"/>
            <a:ext cx="109728" cy="10515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79" y="1920240"/>
            <a:ext cx="437357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59669"/>
                </a:solidFill>
                <a:latin typeface="Liberation Sans"/>
              </a:rPr>
              <a:t>Ajuste fino supervisionado = ensinar por exemplos rotulados.</a:t>
            </a:r>
            <a:r>
              <a:rPr sz="1450" b="0" i="0">
                <a:solidFill>
                  <a:srgbClr val="161E33"/>
                </a:solidFill>
                <a:latin typeface="Liberation Sans"/>
              </a:rPr>
              <a:t>  O formato é JSONL: cada linha é uma conversa completa (sistema, usuário, resposta).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3099816"/>
            <a:ext cx="4922215" cy="1051560"/>
          </a:xfrm>
          <a:prstGeom prst="roundRect">
            <a:avLst>
              <a:gd name="adj" fmla="val 10000"/>
            </a:avLst>
          </a:prstGeom>
          <a:solidFill>
            <a:srgbClr val="E6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20840" y="3099816"/>
            <a:ext cx="109728" cy="1051560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79" y="3099816"/>
            <a:ext cx="437357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F9D58"/>
                </a:solidFill>
                <a:latin typeface="Liberation Sans"/>
              </a:rPr>
              <a:t>500 a 5.000 exemplos BEM curados superam 100 mil sujos.</a:t>
            </a:r>
            <a:r>
              <a:rPr sz="1450" b="0" i="0">
                <a:solidFill>
                  <a:srgbClr val="161E33"/>
                </a:solidFill>
                <a:latin typeface="Liberation Sans"/>
              </a:rPr>
              <a:t>  Qualidade vence quantidade — de longe.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20840" y="4279392"/>
            <a:ext cx="4922215" cy="1051560"/>
          </a:xfrm>
          <a:prstGeom prst="roundRect">
            <a:avLst>
              <a:gd name="adj" fmla="val 10000"/>
            </a:avLst>
          </a:prstGeom>
          <a:solidFill>
            <a:srgbClr val="FC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20840" y="4279392"/>
            <a:ext cx="109728" cy="1051560"/>
          </a:xfrm>
          <a:prstGeom prst="rect">
            <a:avLst/>
          </a:prstGeom>
          <a:solidFill>
            <a:srgbClr val="E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79" y="4279392"/>
            <a:ext cx="437357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E06A00"/>
                </a:solidFill>
                <a:latin typeface="Liberation Sans"/>
              </a:rPr>
              <a:t>O custo real de um dataset clínico é tempo de infectologista, não GPU.</a:t>
            </a:r>
            <a:r>
              <a:rPr sz="1450" b="0" i="0">
                <a:solidFill>
                  <a:srgbClr val="161E33"/>
                </a:solidFill>
                <a:latin typeface="Liberation Sans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2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59669"/>
                </a:solidFill>
                <a:latin typeface="Liberation Sans"/>
              </a:rPr>
              <a:t>56 / 70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432304" cy="40233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43230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10 · ADAPTAÇÃO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LoRA e QLoRA: ajuste fino que cabe numa GPU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2EB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6126480" cy="2414016"/>
          </a:xfrm>
          <a:prstGeom prst="roundRect">
            <a:avLst>
              <a:gd name="adj" fmla="val 5000"/>
            </a:avLst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2103120"/>
            <a:ext cx="109728" cy="109728"/>
          </a:xfrm>
          <a:prstGeom prst="ellipse">
            <a:avLst/>
          </a:prstGeom>
          <a:solidFill>
            <a:srgbClr val="F26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2103120"/>
            <a:ext cx="109728" cy="109728"/>
          </a:xfrm>
          <a:prstGeom prst="ellipse">
            <a:avLst/>
          </a:prstGeom>
          <a:solidFill>
            <a:srgbClr val="F4B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15568" y="2103120"/>
            <a:ext cx="109728" cy="109728"/>
          </a:xfrm>
          <a:prstGeom prst="ellipse">
            <a:avLst/>
          </a:prstGeom>
          <a:solidFill>
            <a:srgbClr val="62C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2377440"/>
            <a:ext cx="5577840" cy="186537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EAEFFA"/>
                </a:solidFill>
                <a:latin typeface="DejaVu Sans Mono"/>
              </a:rPr>
              <a:t>LoraConfig(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EAEFFA"/>
                </a:solidFill>
                <a:latin typeface="DejaVu Sans Mono"/>
              </a:rPr>
              <a:t>  r=16,            # posto: quão “grande” é o remendo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EAEFFA"/>
                </a:solidFill>
                <a:latin typeface="DejaVu Sans Mono"/>
              </a:rPr>
              <a:t>  lora_alpha=32,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EAEFFA"/>
                </a:solidFill>
                <a:latin typeface="DejaVu Sans Mono"/>
              </a:rPr>
              <a:t>  lora_dropout=0.05,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EAEFFA"/>
                </a:solidFill>
                <a:latin typeface="DejaVu Sans Mono"/>
              </a:rPr>
              <a:t>  target_modules=["q_proj","k_proj",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EAEFFA"/>
                </a:solidFill>
                <a:latin typeface="DejaVu Sans Mono"/>
              </a:rPr>
              <a:t>                  "v_proj","o_proj"],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EAEFFA"/>
                </a:solidFill>
                <a:latin typeface="DejaVu Sans Mono"/>
              </a:rPr>
              <a:t>  task_type="CAUSAL_LM")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1920240"/>
            <a:ext cx="4830775" cy="1051560"/>
          </a:xfrm>
          <a:prstGeom prst="roundRect">
            <a:avLst>
              <a:gd name="adj" fmla="val 10000"/>
            </a:avLst>
          </a:prstGeom>
          <a:solidFill>
            <a:srgbClr val="E2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12280" y="1920240"/>
            <a:ext cx="109728" cy="10515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1920240"/>
            <a:ext cx="428213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59669"/>
                </a:solidFill>
                <a:latin typeface="Liberation Sans"/>
              </a:rPr>
              <a:t>A ideia: congela o modelo W e treina só um remendo pequeno (ΔW = B·A).</a:t>
            </a:r>
            <a:r>
              <a:rPr sz="1400" b="0" i="0">
                <a:solidFill>
                  <a:srgbClr val="161E33"/>
                </a:solidFill>
                <a:latin typeface="Liberation Sans"/>
              </a:rPr>
              <a:t>  Treina 0,1–1% dos parâmetros — daí caber numa GPU de consumo.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2280" y="3099816"/>
            <a:ext cx="4830775" cy="1051560"/>
          </a:xfrm>
          <a:prstGeom prst="roundRect">
            <a:avLst>
              <a:gd name="adj" fmla="val 10000"/>
            </a:avLst>
          </a:prstGeom>
          <a:solidFill>
            <a:srgbClr val="E2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12280" y="3099816"/>
            <a:ext cx="109728" cy="10515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3099816"/>
            <a:ext cx="428213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59669"/>
                </a:solidFill>
                <a:latin typeface="Liberation Sans"/>
              </a:rPr>
              <a:t>QLoRA: base em 4 bits + adaptadores em precisão maior.</a:t>
            </a:r>
            <a:r>
              <a:rPr sz="1400" b="0" i="0">
                <a:solidFill>
                  <a:srgbClr val="161E33"/>
                </a:solidFill>
                <a:latin typeface="Liberation Sans"/>
              </a:rPr>
              <a:t>  É o que permite ajustar um modelo grande em 24 GB.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12280" y="4279392"/>
            <a:ext cx="4830775" cy="1051560"/>
          </a:xfrm>
          <a:prstGeom prst="roundRect">
            <a:avLst>
              <a:gd name="adj" fmla="val 10000"/>
            </a:avLst>
          </a:prstGeom>
          <a:solidFill>
            <a:srgbClr val="E6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12280" y="4279392"/>
            <a:ext cx="109728" cy="1051560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0" y="4279392"/>
            <a:ext cx="428213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9D58"/>
                </a:solidFill>
                <a:latin typeface="Liberation Sans"/>
              </a:rPr>
              <a:t>Vantagem operacional: adaptadores são arquivos de dezenas de MB — versionáveis e trocáveis em runtime.</a:t>
            </a:r>
            <a:r>
              <a:rPr sz="1400" b="0" i="0">
                <a:solidFill>
                  <a:srgbClr val="161E33"/>
                </a:solidFill>
                <a:latin typeface="Liberation Sans"/>
              </a:rPr>
              <a:t>  Um adaptador por especialidade, a MESMA base (pode ser o Qwen3.8-27B do S12).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2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59669"/>
                </a:solidFill>
                <a:latin typeface="Liberation Sans"/>
              </a:rPr>
              <a:t>57 / 70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432304" cy="40233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43230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10 · ADAPTAÇÃO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RLHF e sucessores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2EB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11094415" cy="1051560"/>
          </a:xfrm>
          <a:prstGeom prst="roundRect">
            <a:avLst>
              <a:gd name="adj" fmla="val 10000"/>
            </a:avLst>
          </a:prstGeom>
          <a:solidFill>
            <a:srgbClr val="E2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09728" cy="10515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1054577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59669"/>
                </a:solidFill>
                <a:latin typeface="Liberation Sans"/>
              </a:rPr>
              <a:t>RLHF = aprendizado por reforço com feedback humano.</a:t>
            </a:r>
            <a:r>
              <a:rPr sz="1650" b="0" i="0">
                <a:solidFill>
                  <a:srgbClr val="161E33"/>
                </a:solidFill>
                <a:latin typeface="Liberation Sans"/>
              </a:rPr>
              <a:t>  Comparações humanas → modelo de recompensa → otimização por reforço (PPO).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54096"/>
            <a:ext cx="11094415" cy="1051560"/>
          </a:xfrm>
          <a:prstGeom prst="roundRect">
            <a:avLst>
              <a:gd name="adj" fmla="val 10000"/>
            </a:avLst>
          </a:prstGeom>
          <a:solidFill>
            <a:srgbClr val="E2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054096"/>
            <a:ext cx="109728" cy="10515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054096"/>
            <a:ext cx="1054577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59669"/>
                </a:solidFill>
                <a:latin typeface="Liberation Sans"/>
              </a:rPr>
              <a:t>Sucessores: DPO (sem modelo de recompensa), GRPO (raciocínio), RLAIF / IA Constitucional.</a:t>
            </a:r>
            <a:r>
              <a:rPr sz="1650" b="0" i="0">
                <a:solidFill>
                  <a:srgbClr val="161E33"/>
                </a:solidFill>
                <a:latin typeface="Liberation Sans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33672"/>
            <a:ext cx="11094415" cy="1051560"/>
          </a:xfrm>
          <a:prstGeom prst="roundRect">
            <a:avLst>
              <a:gd name="adj" fmla="val 10000"/>
            </a:avLst>
          </a:prstGeom>
          <a:solidFill>
            <a:srgbClr val="E6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233672"/>
            <a:ext cx="109728" cy="1051560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33672"/>
            <a:ext cx="1054577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9D58"/>
                </a:solidFill>
                <a:latin typeface="Liberation Sans"/>
              </a:rPr>
              <a:t>Por que importa mesmo sem treinar: explica o comportamento do modelo que vocês CONSOMEM.</a:t>
            </a:r>
            <a:r>
              <a:rPr sz="1650" b="0" i="0">
                <a:solidFill>
                  <a:srgbClr val="161E33"/>
                </a:solidFill>
                <a:latin typeface="Liberation Sans"/>
              </a:rPr>
              <a:t>  Bajulação, recusa e excesso de ressalvas são artefatos do alinhamento — não do pré-treino.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2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59669"/>
                </a:solidFill>
                <a:latin typeface="Liberation Sans"/>
              </a:rPr>
              <a:t>58 / 70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432304" cy="40233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43230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10 · ADAPTAÇÃO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Quando NÃO treinar, e o modelo local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2EB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11094415" cy="1051560"/>
          </a:xfrm>
          <a:prstGeom prst="roundRect">
            <a:avLst>
              <a:gd name="adj" fmla="val 10000"/>
            </a:avLst>
          </a:prstGeom>
          <a:solidFill>
            <a:srgbClr val="FC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09728" cy="1051560"/>
          </a:xfrm>
          <a:prstGeom prst="rect">
            <a:avLst/>
          </a:prstGeom>
          <a:solidFill>
            <a:srgbClr val="E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1054577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06A00"/>
                </a:solidFill>
                <a:latin typeface="Liberation Sans"/>
              </a:rPr>
              <a:t>Não treine com conhecimento volátil (protocolo muda → use RAG), tarefa que muda toda semana, ou sem avaliação.</a:t>
            </a:r>
            <a:r>
              <a:rPr sz="1600" b="0" i="0">
                <a:solidFill>
                  <a:srgbClr val="161E33"/>
                </a:solidFill>
                <a:latin typeface="Liberation Sans"/>
              </a:rPr>
              <a:t>  Custos ocultos: esquecimento catastrófico e manutenção perpétua do modelo derivado.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54096"/>
            <a:ext cx="11094415" cy="1051560"/>
          </a:xfrm>
          <a:prstGeom prst="roundRect">
            <a:avLst>
              <a:gd name="adj" fmla="val 10000"/>
            </a:avLst>
          </a:prstGeom>
          <a:solidFill>
            <a:srgbClr val="E2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054096"/>
            <a:ext cx="109728" cy="10515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054096"/>
            <a:ext cx="1054577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59669"/>
                </a:solidFill>
                <a:latin typeface="Liberation Sans"/>
              </a:rPr>
              <a:t>O modelo LOCAL (retomando o S12): quantização (GGUF, AWQ) + runtimes (LM Studio, vLLM, Ollama).</a:t>
            </a:r>
            <a:r>
              <a:rPr sz="1600" b="0" i="0">
                <a:solidFill>
                  <a:srgbClr val="161E33"/>
                </a:solidFill>
                <a:latin typeface="Liberation Sans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33672"/>
            <a:ext cx="11094415" cy="1051560"/>
          </a:xfrm>
          <a:prstGeom prst="roundRect">
            <a:avLst>
              <a:gd name="adj" fmla="val 10000"/>
            </a:avLst>
          </a:prstGeom>
          <a:solidFill>
            <a:srgbClr val="E6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233672"/>
            <a:ext cx="109728" cy="1051560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33672"/>
            <a:ext cx="1054577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9D58"/>
                </a:solidFill>
                <a:latin typeface="Liberation Sans"/>
              </a:rPr>
              <a:t>Três argumentos que fecham a palestra técnica:</a:t>
            </a:r>
            <a:r>
              <a:rPr sz="1600" b="0" i="0">
                <a:solidFill>
                  <a:srgbClr val="161E33"/>
                </a:solidFill>
                <a:latin typeface="Liberation Sans"/>
              </a:rPr>
              <a:t>  o dado do paciente não sai da rede · custo marginal previsível · independência de fornecedor.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2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59669"/>
                </a:solidFill>
                <a:latin typeface="Liberation Sans"/>
              </a:rPr>
              <a:t>59 / 70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333548" cy="40233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33354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11 · SISTEMAS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Ponte: o Co-Scientist e o domínio de vocês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9B6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11094415" cy="1051560"/>
          </a:xfrm>
          <a:prstGeom prst="roundRect">
            <a:avLst>
              <a:gd name="adj" fmla="val 10000"/>
            </a:avLst>
          </a:prstGeom>
          <a:solidFill>
            <a:srgbClr val="F2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09728" cy="1051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1054577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7C3AED"/>
                </a:solidFill>
                <a:latin typeface="Liberation Sans"/>
              </a:rPr>
              <a:t>O AI Co-Scientist da Google foi validado em laboratório (Nature, 2026) em três cenários.</a:t>
            </a:r>
            <a:r>
              <a:rPr sz="1550" b="0" i="0">
                <a:solidFill>
                  <a:srgbClr val="161E33"/>
                </a:solidFill>
                <a:latin typeface="Liberation Sans"/>
              </a:rPr>
              <a:t>  Repurposing de fármaco para leucemia · alvos para fibrose hepática · e um mecanismo de RESISTÊNCIA ANTIMICROBIANA.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54096"/>
            <a:ext cx="11094415" cy="1051560"/>
          </a:xfrm>
          <a:prstGeom prst="roundRect">
            <a:avLst>
              <a:gd name="adj" fmla="val 10000"/>
            </a:avLst>
          </a:prstGeom>
          <a:solidFill>
            <a:srgbClr val="F2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054096"/>
            <a:ext cx="109728" cy="1051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054096"/>
            <a:ext cx="1054577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7C3AED"/>
                </a:solidFill>
                <a:latin typeface="Liberation Sans"/>
              </a:rPr>
              <a:t>O caso de RAM, nas palavras deles:</a:t>
            </a:r>
            <a:r>
              <a:rPr sz="1550" b="0" i="0">
                <a:solidFill>
                  <a:srgbClr val="161E33"/>
                </a:solidFill>
                <a:latin typeface="Liberation Sans"/>
              </a:rPr>
              <a:t>  com pouca informação de fundo, o sistema propôs — sozinho — que os cf-PICIs carregam genes de resistência entre espécies, incluindo E. coli e K. pneumoniae.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33672"/>
            <a:ext cx="11094415" cy="1051560"/>
          </a:xfrm>
          <a:prstGeom prst="roundRect">
            <a:avLst>
              <a:gd name="adj" fmla="val 10000"/>
            </a:avLst>
          </a:prstGeom>
          <a:solidFill>
            <a:srgbClr val="E6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233672"/>
            <a:ext cx="109728" cy="1051560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33672"/>
            <a:ext cx="1054577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F9D58"/>
                </a:solidFill>
                <a:latin typeface="Liberation Sans"/>
              </a:rPr>
              <a:t>Isso recapitulou um achado experimental AINDA NÃO PUBLICADO — uma década de bancada.</a:t>
            </a:r>
            <a:r>
              <a:rPr sz="1550" b="0" i="0">
                <a:solidFill>
                  <a:srgbClr val="161E33"/>
                </a:solidFill>
                <a:latin typeface="Liberation Sans"/>
              </a:rPr>
              <a:t>  O segundo sistema que vou mostrar foi validado, na origem, exatamente no problema de vocês.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7C3AED"/>
                </a:solidFill>
                <a:latin typeface="Liberation Sans"/>
              </a:rPr>
              <a:t>60 / 70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333548" cy="40233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33354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11 · SISTEMAS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LangNet: arquitetura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9B6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2103120" cy="1051560"/>
          </a:xfrm>
          <a:prstGeom prst="roundRect">
            <a:avLst>
              <a:gd name="adj" fmla="val 10000"/>
            </a:avLst>
          </a:prstGeom>
          <a:solidFill>
            <a:srgbClr val="F2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65960"/>
            <a:ext cx="2103120" cy="1280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40279"/>
            <a:ext cx="192023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7C3AED"/>
                </a:solidFill>
                <a:latin typeface="Liberation Sans"/>
              </a:rPr>
              <a:t>Intenção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33472" y="2258568"/>
            <a:ext cx="3474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5A667E"/>
                </a:solidFill>
                <a:latin typeface="Liberation San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07791" y="1965960"/>
            <a:ext cx="2103120" cy="1051560"/>
          </a:xfrm>
          <a:prstGeom prst="roundRect">
            <a:avLst>
              <a:gd name="adj" fmla="val 10000"/>
            </a:avLst>
          </a:prstGeom>
          <a:solidFill>
            <a:srgbClr val="F2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07791" y="1965960"/>
            <a:ext cx="2103120" cy="1280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9232" y="2240279"/>
            <a:ext cx="192023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7C3AED"/>
                </a:solidFill>
                <a:latin typeface="Liberation Sans"/>
              </a:rPr>
              <a:t>Especificação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2624" y="2258568"/>
            <a:ext cx="3474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5A667E"/>
                </a:solidFill>
                <a:latin typeface="Liberation San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66944" y="1965960"/>
            <a:ext cx="2103120" cy="1051560"/>
          </a:xfrm>
          <a:prstGeom prst="roundRect">
            <a:avLst>
              <a:gd name="adj" fmla="val 10000"/>
            </a:avLst>
          </a:prstGeom>
          <a:solidFill>
            <a:srgbClr val="F2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66944" y="1965960"/>
            <a:ext cx="2103120" cy="1280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58383" y="2240279"/>
            <a:ext cx="192023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7C3AED"/>
                </a:solidFill>
                <a:latin typeface="Liberation Sans"/>
              </a:rPr>
              <a:t>Plano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51775" y="2258568"/>
            <a:ext cx="3474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5A667E"/>
                </a:solidFill>
                <a:latin typeface="Liberation San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26095" y="1965960"/>
            <a:ext cx="2103120" cy="1051560"/>
          </a:xfrm>
          <a:prstGeom prst="roundRect">
            <a:avLst>
              <a:gd name="adj" fmla="val 10000"/>
            </a:avLst>
          </a:prstGeom>
          <a:solidFill>
            <a:srgbClr val="F2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26095" y="1965960"/>
            <a:ext cx="2103120" cy="1280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17535" y="2240279"/>
            <a:ext cx="192023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7C3AED"/>
                </a:solidFill>
                <a:latin typeface="Liberation Sans"/>
              </a:rPr>
              <a:t>Geração de código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10927" y="2258568"/>
            <a:ext cx="3474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5A667E"/>
                </a:solidFill>
                <a:latin typeface="Liberation San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85247" y="1965960"/>
            <a:ext cx="2103120" cy="1051560"/>
          </a:xfrm>
          <a:prstGeom prst="roundRect">
            <a:avLst>
              <a:gd name="adj" fmla="val 10000"/>
            </a:avLst>
          </a:prstGeom>
          <a:solidFill>
            <a:srgbClr val="E2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985247" y="1965960"/>
            <a:ext cx="2103120" cy="128016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76687" y="2240279"/>
            <a:ext cx="192023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059669"/>
                </a:solidFill>
                <a:latin typeface="Liberation Sans"/>
              </a:rPr>
              <a:t>Verificação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383280"/>
            <a:ext cx="11094415" cy="1051560"/>
          </a:xfrm>
          <a:prstGeom prst="roundRect">
            <a:avLst>
              <a:gd name="adj" fmla="val 10000"/>
            </a:avLst>
          </a:prstGeom>
          <a:solidFill>
            <a:srgbClr val="F2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3383280"/>
            <a:ext cx="109728" cy="1051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3383280"/>
            <a:ext cx="1054577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C3AED"/>
                </a:solidFill>
                <a:latin typeface="Liberation Sans"/>
              </a:rPr>
              <a:t>Modelo local no centro: Qwen2.5-Coder-32B via LM Studio, contexto de 64 mil tokens; framework CrewAI.</a:t>
            </a:r>
            <a:r>
              <a:rPr sz="1600" b="0" i="0">
                <a:solidFill>
                  <a:srgbClr val="161E33"/>
                </a:solidFill>
                <a:latin typeface="Liberation Sans"/>
              </a:rPr>
              <a:t>  Com avaliação em curso do Qwen3.8-27B — por visão, uso de ferramentas e raciocínio, sem perder geração de código.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562856"/>
            <a:ext cx="11094415" cy="1051560"/>
          </a:xfrm>
          <a:prstGeom prst="roundRect">
            <a:avLst>
              <a:gd name="adj" fmla="val 10000"/>
            </a:avLst>
          </a:prstGeom>
          <a:solidFill>
            <a:srgbClr val="E6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562856"/>
            <a:ext cx="109728" cy="1051560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562856"/>
            <a:ext cx="1054577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9D58"/>
                </a:solidFill>
                <a:latin typeface="Liberation Sans"/>
              </a:rPr>
              <a:t>Amarre com o S12: o modelo em avaliação roda em 24 GB e é o melhor denso multimodal da faixa.</a:t>
            </a:r>
            <a:r>
              <a:rPr sz="1600" b="0" i="0">
                <a:solidFill>
                  <a:srgbClr val="161E33"/>
                </a:solidFill>
                <a:latin typeface="Liberation Sans"/>
              </a:rPr>
              <a:t>  O argumento inteiro do LangNet só existe porque essa faixa chegou a esse patamar em 2026.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7C3AED"/>
                </a:solidFill>
                <a:latin typeface="Liberation Sans"/>
              </a:rPr>
              <a:t>61 / 70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333548" cy="40233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33354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11 · SISTEMAS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LangNet: evidência medida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9B6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11094415" cy="1051560"/>
          </a:xfrm>
          <a:prstGeom prst="roundRect">
            <a:avLst>
              <a:gd name="adj" fmla="val 10000"/>
            </a:avLst>
          </a:prstGeom>
          <a:solidFill>
            <a:srgbClr val="F2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09728" cy="1051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1054577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C3AED"/>
                </a:solidFill>
                <a:latin typeface="Liberation Sans"/>
              </a:rPr>
              <a:t>CINCO portões determinísticos, todos verdes.</a:t>
            </a:r>
            <a:r>
              <a:rPr sz="1600" b="0" i="0">
                <a:solidFill>
                  <a:srgbClr val="161E33"/>
                </a:solidFill>
                <a:latin typeface="Liberation Sans"/>
              </a:rPr>
              <a:t>  Lógica das tarefas, ferramentas, contrato de tela, módulos do servidor e rede de fluxo — medido a cada geração, não por confiança no modelo.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54096"/>
            <a:ext cx="11094415" cy="1051560"/>
          </a:xfrm>
          <a:prstGeom prst="roundRect">
            <a:avLst>
              <a:gd name="adj" fmla="val 10000"/>
            </a:avLst>
          </a:prstGeom>
          <a:solidFill>
            <a:srgbClr val="F2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054096"/>
            <a:ext cx="109728" cy="1051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054096"/>
            <a:ext cx="1054577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C3AED"/>
                </a:solidFill>
                <a:latin typeface="Liberation Sans"/>
              </a:rPr>
              <a:t>A implantação RECUSOU subir com lacuna conhecida.</a:t>
            </a:r>
            <a:r>
              <a:rPr sz="1600" b="0" i="0">
                <a:solidFill>
                  <a:srgbClr val="161E33"/>
                </a:solidFill>
                <a:latin typeface="Liberation Sans"/>
              </a:rPr>
              <a:t>  Três portões vermelhos e a etapa respondeu: ‘implantar assim sobe um sistema com lacuna conhecida’. Só subiu quando os cinco fecharam.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33672"/>
            <a:ext cx="11094415" cy="1051560"/>
          </a:xfrm>
          <a:prstGeom prst="roundRect">
            <a:avLst>
              <a:gd name="adj" fmla="val 10000"/>
            </a:avLst>
          </a:prstGeom>
          <a:solidFill>
            <a:srgbClr val="E6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233672"/>
            <a:ext cx="109728" cy="1051560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33672"/>
            <a:ext cx="1054577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9D58"/>
                </a:solidFill>
                <a:latin typeface="Liberation Sans"/>
              </a:rPr>
              <a:t>8 defeitos que só aparecem EXECUTANDO.</a:t>
            </a:r>
            <a:r>
              <a:rPr sz="1600" b="0" i="0">
                <a:solidFill>
                  <a:srgbClr val="161E33"/>
                </a:solidFill>
                <a:latin typeface="Liberation Sans"/>
              </a:rPr>
              <a:t>  Coluna de 20 caracteres para um valor de 24 vindo da integração; campo obrigatório que o serviço externo não entrega; o mesmo dado com dois nomes.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943600"/>
            <a:ext cx="11094415" cy="685800"/>
          </a:xfrm>
          <a:prstGeom prst="roundRect">
            <a:avLst>
              <a:gd name="adj" fmla="val 8000"/>
            </a:avLst>
          </a:prstGeom>
          <a:solidFill>
            <a:srgbClr val="F2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943600"/>
            <a:ext cx="109728" cy="6858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943600"/>
            <a:ext cx="1050005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161E33"/>
                </a:solidFill>
                <a:latin typeface="Liberation Sans"/>
              </a:rPr>
              <a:t>O número não é a taxa de acerto do modelo — é a taxa em que o portão </a:t>
            </a:r>
            <a:r>
              <a:rPr sz="1550" b="1" i="0">
                <a:solidFill>
                  <a:srgbClr val="7C3AED"/>
                </a:solidFill>
                <a:latin typeface="Liberation Sans"/>
              </a:rPr>
              <a:t>pega o erro antes de virar produção</a:t>
            </a:r>
            <a:r>
              <a:rPr sz="1550" b="0" i="0">
                <a:solidFill>
                  <a:srgbClr val="161E33"/>
                </a:solidFill>
                <a:latin typeface="Liberation Sans"/>
              </a:rPr>
              <a:t>. É o S50 acontecendo. (Remeça no exemplo clínico do vídeo.)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7C3AED"/>
                </a:solidFill>
                <a:latin typeface="Liberation Sans"/>
              </a:rPr>
              <a:t>62 / 70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333548" cy="40233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33354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11 · SISTEMAS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DEMONSTRAÇÃO GRAVADA: da spec à aplicação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9B6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5120640" cy="3566160"/>
          </a:xfrm>
          <a:prstGeom prst="roundRect">
            <a:avLst>
              <a:gd name="adj" fmla="val 6000"/>
            </a:avLst>
          </a:prstGeom>
          <a:solidFill>
            <a:srgbClr val="F2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51206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56816"/>
            <a:ext cx="51206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Liberation Sans"/>
              </a:rPr>
              <a:t>▶  VÍDEO — até 3 min, sem áudio, legendas grandes</a:t>
            </a:r>
          </a:p>
        </p:txBody>
      </p:sp>
      <p:sp>
        <p:nvSpPr>
          <p:cNvPr id="11" name="Oval 10"/>
          <p:cNvSpPr/>
          <p:nvPr/>
        </p:nvSpPr>
        <p:spPr>
          <a:xfrm>
            <a:off x="2697480" y="3246120"/>
            <a:ext cx="914400" cy="9144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0292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5A667E"/>
                </a:solidFill>
                <a:latin typeface="Liberation Sans"/>
              </a:rPr>
              <a:t>(inserir a gravação da tela do LangNet)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1965960"/>
            <a:ext cx="5653735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C3AED"/>
                </a:solidFill>
                <a:latin typeface="Liberation Sans"/>
              </a:rPr>
              <a:t>●  </a:t>
            </a:r>
            <a:r>
              <a:rPr sz="1500" b="0" i="0">
                <a:solidFill>
                  <a:srgbClr val="161E33"/>
                </a:solidFill>
                <a:latin typeface="Liberation Sans"/>
              </a:rPr>
              <a:t>1. você escreve uma spec curta (15–20 linhas) — deixe na tela para ler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C3AED"/>
                </a:solidFill>
                <a:latin typeface="Liberation Sans"/>
              </a:rPr>
              <a:t>●  </a:t>
            </a:r>
            <a:r>
              <a:rPr sz="1500" b="0" i="0">
                <a:solidFill>
                  <a:srgbClr val="161E33"/>
                </a:solidFill>
                <a:latin typeface="Liberation Sans"/>
              </a:rPr>
              <a:t>2. geração do plano e das tarefas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C3AED"/>
                </a:solidFill>
                <a:latin typeface="Liberation Sans"/>
              </a:rPr>
              <a:t>●  </a:t>
            </a:r>
            <a:r>
              <a:rPr sz="1500" b="0" i="0">
                <a:solidFill>
                  <a:srgbClr val="161E33"/>
                </a:solidFill>
                <a:latin typeface="Liberation Sans"/>
              </a:rPr>
              <a:t>3. app completo: modelo de dados, lógica, API e </a:t>
            </a:r>
            <a:r>
              <a:rPr sz="1500" b="1" i="0">
                <a:solidFill>
                  <a:srgbClr val="7C3AED"/>
                </a:solidFill>
                <a:latin typeface="Liberation Sans"/>
              </a:rPr>
              <a:t>interface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C3AED"/>
                </a:solidFill>
                <a:latin typeface="Liberation Sans"/>
              </a:rPr>
              <a:t>●  </a:t>
            </a:r>
            <a:r>
              <a:rPr sz="1500" b="0" i="0">
                <a:solidFill>
                  <a:srgbClr val="161E33"/>
                </a:solidFill>
                <a:latin typeface="Liberation Sans"/>
              </a:rPr>
              <a:t>4. execução da suíte derivada dos critérios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C3AED"/>
                </a:solidFill>
                <a:latin typeface="Liberation Sans"/>
              </a:rPr>
              <a:t>●  </a:t>
            </a:r>
            <a:r>
              <a:rPr sz="1500" b="0" i="0">
                <a:solidFill>
                  <a:srgbClr val="161E33"/>
                </a:solidFill>
                <a:latin typeface="Liberation Sans"/>
              </a:rPr>
              <a:t>5. uma falha de teste e a correção — </a:t>
            </a:r>
            <a:r>
              <a:rPr sz="1500" b="1" i="0">
                <a:solidFill>
                  <a:srgbClr val="E06A00"/>
                </a:solidFill>
                <a:latin typeface="Liberation Sans"/>
              </a:rPr>
              <a:t>não corte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C3AED"/>
                </a:solidFill>
                <a:latin typeface="Liberation Sans"/>
              </a:rPr>
              <a:t>●  </a:t>
            </a:r>
            <a:r>
              <a:rPr sz="1500" b="0" i="0">
                <a:solidFill>
                  <a:srgbClr val="161E33"/>
                </a:solidFill>
                <a:latin typeface="Liberation Sans"/>
              </a:rPr>
              <a:t>6. a aplicação rodando com a interface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C3AED"/>
                </a:solidFill>
                <a:latin typeface="Liberation Sans"/>
              </a:rPr>
              <a:t>●  </a:t>
            </a:r>
            <a:r>
              <a:rPr sz="1500" b="0" i="0">
                <a:solidFill>
                  <a:srgbClr val="161E33"/>
                </a:solidFill>
                <a:latin typeface="Liberation Sans"/>
              </a:rPr>
              <a:t>7. volta à spec, com o </a:t>
            </a:r>
            <a:r>
              <a:rPr sz="1500" b="1" i="0">
                <a:solidFill>
                  <a:srgbClr val="0F9D58"/>
                </a:solidFill>
                <a:latin typeface="Liberation Sans"/>
              </a:rPr>
              <a:t>portão de rastreabilidade VERDE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7C3AED"/>
                </a:solidFill>
                <a:latin typeface="Liberation Sans"/>
              </a:rPr>
              <a:t>63 / 70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333548" cy="40233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33354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11 · SISTEMAS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Como funciona o AI Co-Scientist (Nature, 2026)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9B6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62_coscient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847" y="1737360"/>
            <a:ext cx="9054000" cy="46634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7C3AED"/>
                </a:solidFill>
                <a:latin typeface="Liberation Sans"/>
              </a:rPr>
              <a:t>64 / 70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333548" cy="40233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33354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11 · SISTEMAS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A nossa replicação: QuanticaResearch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9B6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11094415" cy="1024128"/>
          </a:xfrm>
          <a:prstGeom prst="roundRect">
            <a:avLst>
              <a:gd name="adj" fmla="val 10000"/>
            </a:avLst>
          </a:prstGeom>
          <a:solidFill>
            <a:srgbClr val="F2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09728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1054577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7C3AED"/>
                </a:solidFill>
                <a:latin typeface="Liberation Sans"/>
              </a:rPr>
              <a:t>O que MANTIVEMOS do paper (no código).</a:t>
            </a:r>
            <a:r>
              <a:rPr sz="1450" b="0" i="0">
                <a:solidFill>
                  <a:srgbClr val="161E33"/>
                </a:solidFill>
                <a:latin typeface="Liberation Sans"/>
              </a:rPr>
              <a:t>  Os 6 agentes + Supervisor em LangGraph; torneio Elo (nota inicial 1200, K=32), debate multi-turno guiado pelo grafo de proximidade; meta-revisão realimentando os prompts.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26664"/>
            <a:ext cx="11094415" cy="1024128"/>
          </a:xfrm>
          <a:prstGeom prst="roundRect">
            <a:avLst>
              <a:gd name="adj" fmla="val 10000"/>
            </a:avLst>
          </a:prstGeom>
          <a:solidFill>
            <a:srgbClr val="F2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026664"/>
            <a:ext cx="109728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026664"/>
            <a:ext cx="1054577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7C3AED"/>
                </a:solidFill>
                <a:latin typeface="Liberation Sans"/>
              </a:rPr>
              <a:t>O que MUDAMOS, e por quê (aqui está a engenharia).</a:t>
            </a:r>
            <a:r>
              <a:rPr sz="1450" b="0" i="0">
                <a:solidFill>
                  <a:srgbClr val="161E33"/>
                </a:solidFill>
                <a:latin typeface="Liberation Sans"/>
              </a:rPr>
              <a:t>  LLM agnóstico de fornecedor — inclusive LOCAL (Ollama, LM Studio) — no lugar do “só Gemini”; fila durável própria (FastAPI + MariaDB) no lugar do agendador do Google; grafo de proximidade com NetworkX + Louvain.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78808"/>
            <a:ext cx="11094415" cy="1024128"/>
          </a:xfrm>
          <a:prstGeom prst="roundRect">
            <a:avLst>
              <a:gd name="adj" fmla="val 10000"/>
            </a:avLst>
          </a:prstGeom>
          <a:solidFill>
            <a:srgbClr val="E6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178808"/>
            <a:ext cx="109728" cy="1024128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178808"/>
            <a:ext cx="1054577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F9D58"/>
                </a:solidFill>
                <a:latin typeface="Liberation Sans"/>
              </a:rPr>
              <a:t>Resultado exercitado (run UC-10).</a:t>
            </a:r>
            <a:r>
              <a:rPr sz="1450" b="0" i="0">
                <a:solidFill>
                  <a:srgbClr val="161E33"/>
                </a:solidFill>
                <a:latin typeface="Liberation Sans"/>
              </a:rPr>
              <a:t>  Rodou ponta a ponta: revisão de literatura + 4 hipóteses + 1º torneio + 1ª meta-revisão, em ~2,8 h com DeepSeek.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330952"/>
            <a:ext cx="11094415" cy="1024128"/>
          </a:xfrm>
          <a:prstGeom prst="roundRect">
            <a:avLst>
              <a:gd name="adj" fmla="val 10000"/>
            </a:avLst>
          </a:prstGeom>
          <a:solidFill>
            <a:srgbClr val="FC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330952"/>
            <a:ext cx="109728" cy="1024128"/>
          </a:xfrm>
          <a:prstGeom prst="rect">
            <a:avLst/>
          </a:prstGeom>
          <a:solidFill>
            <a:srgbClr val="E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330952"/>
            <a:ext cx="1054577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E06A00"/>
                </a:solidFill>
                <a:latin typeface="Liberation Sans"/>
              </a:rPr>
              <a:t>Honestidade: réplica funcional PRONTA PARA PILOTO, não produção.</a:t>
            </a:r>
            <a:r>
              <a:rPr sz="1450" b="0" i="0">
                <a:solidFill>
                  <a:srgbClr val="161E33"/>
                </a:solidFill>
                <a:latin typeface="Liberation Sans"/>
              </a:rPr>
              <a:t>  A sincronização com o banco ainda tem um bug conhecido (alfa).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7C3AED"/>
                </a:solidFill>
                <a:latin typeface="Liberation Sans"/>
              </a:rPr>
              <a:t>65 / 70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333548" cy="40233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33354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11 · SISTEMAS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A camada que amarra tudo: Redes de Petri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9B6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11094415" cy="1051560"/>
          </a:xfrm>
          <a:prstGeom prst="roundRect">
            <a:avLst>
              <a:gd name="adj" fmla="val 10000"/>
            </a:avLst>
          </a:prstGeom>
          <a:solidFill>
            <a:srgbClr val="F2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09728" cy="1051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1054577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7C3AED"/>
                </a:solidFill>
                <a:latin typeface="Liberation Sans"/>
              </a:rPr>
              <a:t>VisualTasksExec: sincroniza agentes com propriedades VERIFICÁVEIS.</a:t>
            </a:r>
            <a:r>
              <a:rPr sz="1550" b="0" i="0">
                <a:solidFill>
                  <a:srgbClr val="161E33"/>
                </a:solidFill>
                <a:latin typeface="Liberation Sans"/>
              </a:rPr>
              <a:t>  Ausência de deadlock (travamento), alcançabilidade, invariantes de estado — provados na estrutura, não testados por amostragem.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54096"/>
            <a:ext cx="11094415" cy="1051560"/>
          </a:xfrm>
          <a:prstGeom prst="roundRect">
            <a:avLst>
              <a:gd name="adj" fmla="val 10000"/>
            </a:avLst>
          </a:prstGeom>
          <a:solidFill>
            <a:srgbClr val="F2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054096"/>
            <a:ext cx="109728" cy="1051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054096"/>
            <a:ext cx="1054577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7C3AED"/>
                </a:solidFill>
                <a:latin typeface="Liberation Sans"/>
              </a:rPr>
              <a:t>Feche o arco inteiro da palestra:</a:t>
            </a:r>
            <a:r>
              <a:rPr sz="1550" b="0" i="0">
                <a:solidFill>
                  <a:srgbClr val="161E33"/>
                </a:solidFill>
                <a:latin typeface="Liberation Sans"/>
              </a:rPr>
              <a:t>  o S28 mostrou que agentes degradam de forma previsível; o S50, que gates cortam a cadeia; o S30, que nenhum protocolo expressa governança; o S62, um sistema que se autoavalia por Elo.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33672"/>
            <a:ext cx="11094415" cy="1051560"/>
          </a:xfrm>
          <a:prstGeom prst="roundRect">
            <a:avLst>
              <a:gd name="adj" fmla="val 10000"/>
            </a:avLst>
          </a:prstGeom>
          <a:solidFill>
            <a:srgbClr val="E6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233672"/>
            <a:ext cx="109728" cy="1051560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33672"/>
            <a:ext cx="1054577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F9D58"/>
                </a:solidFill>
                <a:latin typeface="Liberation Sans"/>
              </a:rPr>
              <a:t>Mas o Elo mede qualidade de HIPÓTESE, não corretude de EXECUÇÃO.</a:t>
            </a:r>
            <a:r>
              <a:rPr sz="1550" b="0" i="0">
                <a:solidFill>
                  <a:srgbClr val="161E33"/>
                </a:solidFill>
                <a:latin typeface="Liberation Sans"/>
              </a:rPr>
              <a:t>  As Redes de Petri mostram que a estrutura da orquestração pode ser VERIFICADA FORMALMENTE — não apenas testada ou pontuada.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7C3AED"/>
                </a:solidFill>
                <a:latin typeface="Liberation Sans"/>
              </a:rPr>
              <a:t>66 / 70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34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531059" cy="402336"/>
          </a:xfrm>
          <a:prstGeom prst="roundRect">
            <a:avLst>
              <a:gd name="adj" fmla="val 50000"/>
            </a:avLst>
          </a:prstGeom>
          <a:solidFill>
            <a:srgbClr val="334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5310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12 · FECHAMENTO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As três conclusões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5A6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11094415" cy="1024128"/>
          </a:xfrm>
          <a:prstGeom prst="roundRect">
            <a:avLst>
              <a:gd name="adj" fmla="val 10000"/>
            </a:avLst>
          </a:prstGeom>
          <a:solidFill>
            <a:srgbClr val="EA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09728" cy="1024128"/>
          </a:xfrm>
          <a:prstGeom prst="rect">
            <a:avLst/>
          </a:prstGeom>
          <a:solidFill>
            <a:srgbClr val="334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1054577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34166"/>
                </a:solidFill>
                <a:latin typeface="Liberation Sans"/>
              </a:rPr>
              <a:t>① A capacidade virou mercadoria comum; o método, não.</a:t>
            </a:r>
            <a:r>
              <a:rPr sz="1600" b="0" i="0">
                <a:solidFill>
                  <a:srgbClr val="161E33"/>
                </a:solidFill>
                <a:latin typeface="Liberation Sans"/>
              </a:rPr>
              <a:t>  O que separa os times é especificar e verificar — não o acesso ao modelo.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26664"/>
            <a:ext cx="11094415" cy="1024128"/>
          </a:xfrm>
          <a:prstGeom prst="roundRect">
            <a:avLst>
              <a:gd name="adj" fmla="val 10000"/>
            </a:avLst>
          </a:prstGeom>
          <a:solidFill>
            <a:srgbClr val="EA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026664"/>
            <a:ext cx="109728" cy="1024128"/>
          </a:xfrm>
          <a:prstGeom prst="rect">
            <a:avLst/>
          </a:prstGeom>
          <a:solidFill>
            <a:srgbClr val="334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026664"/>
            <a:ext cx="1054577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34166"/>
                </a:solidFill>
                <a:latin typeface="Liberation Sans"/>
              </a:rPr>
              <a:t>② Agente sem portão degrada de forma previsível.</a:t>
            </a:r>
            <a:r>
              <a:rPr sz="1600" b="0" i="0">
                <a:solidFill>
                  <a:srgbClr val="161E33"/>
                </a:solidFill>
                <a:latin typeface="Liberation Sans"/>
              </a:rPr>
              <a:t>  Confiabilidade vem de reduzir passos não verificados (S28, S50).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78808"/>
            <a:ext cx="11094415" cy="1024128"/>
          </a:xfrm>
          <a:prstGeom prst="roundRect">
            <a:avLst>
              <a:gd name="adj" fmla="val 10000"/>
            </a:avLst>
          </a:prstGeom>
          <a:solidFill>
            <a:srgbClr val="EA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178808"/>
            <a:ext cx="109728" cy="1024128"/>
          </a:xfrm>
          <a:prstGeom prst="rect">
            <a:avLst/>
          </a:prstGeom>
          <a:solidFill>
            <a:srgbClr val="334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178808"/>
            <a:ext cx="1054577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34166"/>
                </a:solidFill>
                <a:latin typeface="Liberation Sans"/>
              </a:rPr>
              <a:t>③ A especificação executável é o que torna código de IA auditável.</a:t>
            </a:r>
            <a:r>
              <a:rPr sz="1600" b="0" i="0">
                <a:solidFill>
                  <a:srgbClr val="161E33"/>
                </a:solidFill>
                <a:latin typeface="Liberation Sans"/>
              </a:rPr>
              <a:t>  E, em software de saúde, entrega o artefato regulatório de graça (S51).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330952"/>
            <a:ext cx="11094415" cy="1024128"/>
          </a:xfrm>
          <a:prstGeom prst="roundRect">
            <a:avLst>
              <a:gd name="adj" fmla="val 10000"/>
            </a:avLst>
          </a:prstGeom>
          <a:solidFill>
            <a:srgbClr val="E6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330952"/>
            <a:ext cx="109728" cy="1024128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330952"/>
            <a:ext cx="10545775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F9D58"/>
                </a:solidFill>
                <a:latin typeface="Liberation Sans"/>
              </a:rPr>
              <a:t>Recomendação acionável, uma só: construam PRIMEIRO o conjunto de avaliação (S20).</a:t>
            </a:r>
            <a:r>
              <a:rPr sz="1600" b="0" i="0">
                <a:solidFill>
                  <a:srgbClr val="161E33"/>
                </a:solidFill>
                <a:latin typeface="Liberation Sans"/>
              </a:rPr>
              <a:t>  Antes de framework, antes de agente, antes de trocar de modelo.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A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334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334166"/>
                </a:solidFill>
                <a:latin typeface="Liberation Sans"/>
              </a:rPr>
              <a:t>67 / 70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34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531059" cy="402336"/>
          </a:xfrm>
          <a:prstGeom prst="roundRect">
            <a:avLst>
              <a:gd name="adj" fmla="val 50000"/>
            </a:avLst>
          </a:prstGeom>
          <a:solidFill>
            <a:srgbClr val="334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25310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Liberation Sans"/>
              </a:rPr>
              <a:t>BLOCO 12 · FECHAMENTO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9264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161E33"/>
                </a:solidFill>
                <a:latin typeface="Liberation Sans"/>
              </a:rPr>
              <a:t>Referências e contato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2103120" cy="82296"/>
          </a:xfrm>
          <a:prstGeom prst="rect">
            <a:avLst/>
          </a:prstGeom>
          <a:solidFill>
            <a:srgbClr val="5A6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11094415" cy="1051560"/>
          </a:xfrm>
          <a:prstGeom prst="roundRect">
            <a:avLst>
              <a:gd name="adj" fmla="val 10000"/>
            </a:avLst>
          </a:prstGeom>
          <a:solidFill>
            <a:srgbClr val="EA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09728" cy="1051560"/>
          </a:xfrm>
          <a:prstGeom prst="rect">
            <a:avLst/>
          </a:prstGeom>
          <a:solidFill>
            <a:srgbClr val="334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1054577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334166"/>
                </a:solidFill>
                <a:latin typeface="Liberation Sans"/>
              </a:rPr>
              <a:t>Papers e specs.</a:t>
            </a:r>
            <a:r>
              <a:rPr sz="1650" b="0" i="0">
                <a:solidFill>
                  <a:srgbClr val="161E33"/>
                </a:solidFill>
                <a:latin typeface="Liberation Sans"/>
              </a:rPr>
              <a:t>  Co-Scientist: Gottweis et al., Nature 2026 (s41586-026-10644-y) / arXiv 2502.18864. Specs: MCP, A2A, OKF, GitHub Spec Kit.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54096"/>
            <a:ext cx="11094415" cy="1051560"/>
          </a:xfrm>
          <a:prstGeom prst="roundRect">
            <a:avLst>
              <a:gd name="adj" fmla="val 10000"/>
            </a:avLst>
          </a:prstGeom>
          <a:solidFill>
            <a:srgbClr val="EA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054096"/>
            <a:ext cx="109728" cy="1051560"/>
          </a:xfrm>
          <a:prstGeom prst="rect">
            <a:avLst/>
          </a:prstGeom>
          <a:solidFill>
            <a:srgbClr val="334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054096"/>
            <a:ext cx="1054577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334166"/>
                </a:solidFill>
                <a:latin typeface="Liberation Sans"/>
              </a:rPr>
              <a:t>Modelos.</a:t>
            </a:r>
            <a:r>
              <a:rPr sz="1650" b="0" i="0">
                <a:solidFill>
                  <a:srgbClr val="161E33"/>
                </a:solidFill>
                <a:latin typeface="Liberation Sans"/>
              </a:rPr>
              <a:t>  A tabela do S12, com os links — reconferida na semana da palestra.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33672"/>
            <a:ext cx="11094415" cy="1051560"/>
          </a:xfrm>
          <a:prstGeom prst="roundRect">
            <a:avLst>
              <a:gd name="adj" fmla="val 10000"/>
            </a:avLst>
          </a:prstGeom>
          <a:solidFill>
            <a:srgbClr val="E6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233672"/>
            <a:ext cx="109728" cy="1051560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33672"/>
            <a:ext cx="1054577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9D58"/>
                </a:solidFill>
                <a:latin typeface="Liberation Sans"/>
              </a:rPr>
              <a:t>Repositórios e contato.</a:t>
            </a:r>
            <a:r>
              <a:rPr sz="1650" b="0" i="0">
                <a:solidFill>
                  <a:srgbClr val="161E33"/>
                </a:solidFill>
                <a:latin typeface="Liberation Sans"/>
              </a:rPr>
              <a:t>  QR do repositório do LangNet e do QuanticaResearch; seu e-mail e perfil.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A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109728" cy="274320"/>
          </a:xfrm>
          <a:prstGeom prst="rect">
            <a:avLst/>
          </a:prstGeom>
          <a:solidFill>
            <a:srgbClr val="334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92824"/>
            <a:ext cx="8686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A667E"/>
                </a:solidFill>
                <a:latin typeface="Liberation Sans"/>
              </a:rPr>
              <a:t>Engenharia de IA &amp; Desenvolvimento Orientado a Especificação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37215" y="6592824"/>
            <a:ext cx="10058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334166"/>
                </a:solidFill>
                <a:latin typeface="Liberation Sans"/>
              </a:rPr>
              <a:t>68 / 70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4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4846320"/>
            <a:ext cx="3657600" cy="3657600"/>
          </a:xfrm>
          <a:prstGeom prst="ellipse">
            <a:avLst/>
          </a:prstGeom>
          <a:solidFill>
            <a:srgbClr val="5A6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80015" y="-1280160"/>
            <a:ext cx="3291840" cy="3291840"/>
          </a:xfrm>
          <a:prstGeom prst="ellipse">
            <a:avLst/>
          </a:prstGeom>
          <a:solidFill>
            <a:srgbClr val="5A6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3628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5200" b="1" i="0">
                <a:solidFill>
                  <a:srgbClr val="FFFFFF"/>
                </a:solidFill>
                <a:latin typeface="Liberation Sans"/>
              </a:rPr>
              <a:t>Perguntas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628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FFFFFF"/>
                </a:solidFill>
                <a:latin typeface="Liberation Sans"/>
              </a:rPr>
              <a:t>“O gargalo deixou de ser escrever código. Passou a ser especificar e verificar.”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Liberation Sans"/>
              </a:rPr>
              <a:t>Obrigado.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