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Intervalo de 5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Perguntas — 3,5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28016" cy="6858000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97135" y="-1097280"/>
            <a:ext cx="3291840" cy="3291840"/>
          </a:xfrm>
          <a:prstGeom prst="ellipse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02975" y="5394960"/>
            <a:ext cx="2377440" cy="2377440"/>
          </a:xfrm>
          <a:prstGeom prst="ellipse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160020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PALESTRA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31720"/>
            <a:ext cx="94484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3700" b="1" i="0">
                <a:solidFill>
                  <a:srgbClr val="4F46E5"/>
                </a:solidFill>
                <a:latin typeface="Liberation Sans"/>
              </a:rPr>
              <a:t>Engenharia de IA e Desenvolvimento de Software Orientado a Especificação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8992" y="4343400"/>
            <a:ext cx="2377440" cy="822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92656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61E33"/>
                </a:solidFill>
                <a:latin typeface="Liberation Sans"/>
              </a:rPr>
              <a:t>Do modelo à spec: como times de software crítico incorporam IA sem perder auditabilidade.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98932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A667E"/>
                </a:solidFill>
                <a:latin typeface="Liberation Sans"/>
              </a:rPr>
              <a:t>120 minutos · desenvolvedores sêniores · sistemas de controle de infecção hospitalar (IRAS)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0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Agenda: doze blocos, três pilares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795527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59"/>
                <a:gridCol w="2651759"/>
                <a:gridCol w="2651761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Bloco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Tema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min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0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Abertura e agenda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3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Linha do tempo: do Perceptron aos agentes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3,5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2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MODELOS DE LINGUAGEM (LLMs) — arquitetura e panorama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14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O que mudou para quem escreve software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4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Engenharia de contexto e RAG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8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Agentes: anatomia, ferramentas, padrões, falhas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14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6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Protocolos e formatos de interoperabilidade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7,5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9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DESENVOLVIMENTO ORIENTADO A ESPECIFICAÇÃO (SDD)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19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11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F46E5"/>
                          </a:solidFill>
                          <a:latin typeface="Liberation Sans"/>
                        </a:rPr>
                        <a:t>OS SISTEMAS: LangNet, demonstração, AI Co-Scientist, Redes de Petri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15,5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823960" y="1828800"/>
            <a:ext cx="2834640" cy="1188720"/>
          </a:xfrm>
          <a:prstGeom prst="roundRect">
            <a:avLst>
              <a:gd name="adj" fmla="val 9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23960" y="1828800"/>
            <a:ext cx="109728" cy="11887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93852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F46E5"/>
                </a:solidFill>
                <a:latin typeface="Liberation Sans"/>
              </a:rPr>
              <a:t>①  </a:t>
            </a:r>
            <a:r>
              <a:rPr sz="1900" b="1" i="0">
                <a:solidFill>
                  <a:srgbClr val="4F46E5"/>
                </a:solidFill>
                <a:latin typeface="Liberation Sans"/>
              </a:rPr>
              <a:t>LLMs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2450592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61E33"/>
                </a:solidFill>
                <a:latin typeface="Liberation Sans"/>
              </a:rPr>
              <a:t>o motor: o que o modelo é e o que não 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3154680"/>
            <a:ext cx="2834640" cy="1188720"/>
          </a:xfrm>
          <a:prstGeom prst="roundRect">
            <a:avLst>
              <a:gd name="adj" fmla="val 9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3154680"/>
            <a:ext cx="109728" cy="1188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326440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3AED"/>
                </a:solidFill>
                <a:latin typeface="Liberation Sans"/>
              </a:rPr>
              <a:t>②  </a:t>
            </a:r>
            <a:r>
              <a:rPr sz="1900" b="1" i="0">
                <a:solidFill>
                  <a:srgbClr val="7C3AED"/>
                </a:solidFill>
                <a:latin typeface="Liberation Sans"/>
              </a:rPr>
              <a:t>SDD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3776472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61E33"/>
                </a:solidFill>
                <a:latin typeface="Liberation Sans"/>
              </a:rPr>
              <a:t>o método: especificar e verificar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4480560"/>
            <a:ext cx="2834640" cy="1188720"/>
          </a:xfrm>
          <a:prstGeom prst="roundRect">
            <a:avLst>
              <a:gd name="adj" fmla="val 9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4480560"/>
            <a:ext cx="109728" cy="11887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459028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283C9"/>
                </a:solidFill>
                <a:latin typeface="Liberation Sans"/>
              </a:rPr>
              <a:t>③  </a:t>
            </a:r>
            <a:r>
              <a:rPr sz="1900" b="1" i="0">
                <a:solidFill>
                  <a:srgbClr val="0283C9"/>
                </a:solidFill>
                <a:latin typeface="Liberation Sans"/>
              </a:rPr>
              <a:t>Sistemas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5102352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61E33"/>
                </a:solidFill>
                <a:latin typeface="Liberation Sans"/>
              </a:rPr>
              <a:t>a prova: nossos sistemas rodando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02 / 70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0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tese central da palestra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46304" cy="13716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27145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4F46E5"/>
                </a:solidFill>
                <a:latin typeface="Liberation Sans"/>
              </a:rPr>
              <a:t>“O gargalo deixou de ser escrever código.  </a:t>
            </a:r>
            <a:r>
              <a:rPr sz="2500" b="1" i="0">
                <a:solidFill>
                  <a:srgbClr val="0283C9"/>
                </a:solidFill>
                <a:latin typeface="Liberation Sans"/>
              </a:rPr>
              <a:t>Passou a ser especificar e verificar.”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11094415" cy="85953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520440"/>
            <a:ext cx="109728" cy="8595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20440"/>
            <a:ext cx="1054577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4F46E5"/>
                </a:solidFill>
                <a:latin typeface="Liberation Sans"/>
              </a:rPr>
              <a:t>Capacidade virou mercadoria comum (commodity).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Qualquer um chama uma API e gera código; o que separa os times é o método — não o acesso ao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07992"/>
            <a:ext cx="11094415" cy="85953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507992"/>
            <a:ext cx="109728" cy="8595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07992"/>
            <a:ext cx="1054577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4F46E5"/>
                </a:solidFill>
                <a:latin typeface="Liberation Sans"/>
              </a:rPr>
              <a:t>Agente sem portão de verificação degrada de forma previsível.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Sem um “gate” (portão que confere cada passo), a taxa de erro cai de um jeito que a matemática prevê — mostramos a curva no S28.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95544"/>
            <a:ext cx="11094415" cy="85953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495544"/>
            <a:ext cx="109728" cy="8595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495544"/>
            <a:ext cx="1054577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4F46E5"/>
                </a:solidFill>
                <a:latin typeface="Liberation Sans"/>
              </a:rPr>
              <a:t>Especificação executável é o que torna código de IA auditável.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Condição inegociável em software de saúde: sem spec verificável, não há como provar conformidade.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03 /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 · LINHA DO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Do Perceptron ao desenvolvimento agêntico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4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537" y="1783080"/>
            <a:ext cx="8714619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04 / 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3321100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33211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 · IA NA ÁREA DE VOCÊS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IA na saúde (1/3) — Prognóstico e avaliação de risco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61E33"/>
                </a:solidFill>
                <a:latin typeface="Liberation Sans"/>
              </a:rPr>
              <a:t>Prognóstico = </a:t>
            </a:r>
            <a:r>
              <a:rPr sz="1450" b="1" i="0">
                <a:solidFill>
                  <a:srgbClr val="7C3AED"/>
                </a:solidFill>
                <a:latin typeface="Liberation Sans"/>
              </a:rPr>
              <a:t>prever o risco de um evento futuro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(adoecer, agravar, morrer). A IA já fazia isto sobre tabelas; agora, lendo o </a:t>
            </a:r>
            <a:r>
              <a:rPr sz="1450" b="1" i="0">
                <a:solidFill>
                  <a:srgbClr val="7C3AED"/>
                </a:solidFill>
                <a:latin typeface="Liberation Sans"/>
              </a:rPr>
              <a:t>texto livre do prontuário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, passa a fazê-lo sobre a narrativa clínica.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95728"/>
          <a:ext cx="11094415" cy="2660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434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Algoritmo (nome por extenso)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O que faz — para que serve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Onde entra na infectologia (IRAS)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  <a:latin typeface="Liberation Sans"/>
                        </a:rPr>
                        <a:t>Escore de Risco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Soma ponderada dos fatores do paciente e devolve um número que estima o risco.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Risco de infecção por paciente (sítio cirúrgico, corrente sanguínea) a partir de dispositivos, tempo de internação e comorbidades.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  <a:latin typeface="Liberation Sans"/>
                        </a:rPr>
                        <a:t>Regressão Logística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Traça a fronteira que separa 'o evento vai ocorrer' de 'não vai'.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Classificar quem tem alto risco de infectar e priorizar a vigilância ativa.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  <a:latin typeface="Liberation Sans"/>
                        </a:rPr>
                        <a:t>Análise de Sobrevivência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Modela o tempo até o evento e o risco instantâneo (função de perigo) ao longo do tempo.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Tempo até a infecção associada a dispositivo (por dia de cateter, sonda ou ventilador).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  <a:latin typeface="Liberation Sans"/>
                        </a:rPr>
                        <a:t>Modelo de Perigos Proporcionais de Cox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Mede quanto cada fator multiplica o risco (ex.: fumar aumenta o risco em 9%).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Quanto cada fator (dias de dispositivo, UTI, idade) multiplica o risco — alvo dos pacotes de prevenção.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  <a:latin typeface="Liberation Sans"/>
                        </a:rPr>
                        <a:t>Índice de Concordância (C-Index)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Avalia se o escore de risco discrimina bem (0,5 = acaso; 1,0 = perfeito).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Validar se o escore de risco de infecção realmente separa quem vai infectar de quem não vai.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05 / 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3321100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33211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 · IA NA ÁREA DE VOCÊS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IA na saúde (2/3) — Diagnóstico de doenças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61E33"/>
                </a:solidFill>
                <a:latin typeface="Liberation Sans"/>
              </a:rPr>
              <a:t>Diagnóstico = </a:t>
            </a:r>
            <a:r>
              <a:rPr sz="1450" b="1" i="0">
                <a:solidFill>
                  <a:srgbClr val="7C3AED"/>
                </a:solidFill>
                <a:latin typeface="Liberation Sans"/>
              </a:rPr>
              <a:t>dizer se a doença está presente agora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— um problema de classificação, sobre imagens ou sobre exames.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04288"/>
          <a:ext cx="11094415" cy="3081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4021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Algoritmo (nome por extenso)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O que faz — para que serve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Onde entra na infectologia (IRAS)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</a:tr>
              <a:tr h="44021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C3AED"/>
                          </a:solidFill>
                          <a:latin typeface="Liberation Sans"/>
                        </a:rPr>
                        <a:t>Rede Neural Convolucional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Aprende padrões em imagens e classifica (ex.: COVID-19 em tomografia; achados em raio-X).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Ler raio-X / tomografia de pneumonia associada à ventilação; triagem automática de imagem.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  <a:tr h="44021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C3AED"/>
                          </a:solidFill>
                          <a:latin typeface="Liberation Sans"/>
                        </a:rPr>
                        <a:t>Rede U-Net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Segmenta a imagem — delimita e mede a lesão ou a estrutura de interesse.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Localizar e medir consolidações pulmonares; segmentar o achado radiológico para acompanhar.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021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C3AED"/>
                          </a:solidFill>
                          <a:latin typeface="Liberation Sans"/>
                        </a:rPr>
                        <a:t>Florestas Aleatórias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Combina muitas árvores de decisão para classificar a partir de exames em tabela.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Prever multirresistência a partir do perfil do paciente e da microbiologia.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  <a:tr h="44021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C3AED"/>
                          </a:solidFill>
                          <a:latin typeface="Liberation Sans"/>
                        </a:rPr>
                        <a:t>Máquinas de Vetores de Suporte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Separa as classes pela melhor fronteira possível entre os dados.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Classificar culturas (positiva/negativa, resistente/sensível) a partir dos exames.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021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C3AED"/>
                          </a:solidFill>
                          <a:latin typeface="Liberation Sans"/>
                        </a:rPr>
                        <a:t>K-Vizinhos Mais Próximos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Classifica um caso pelo que é mais parecido entre os casos vizinhos conhecidos.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Sugerir o patógeno provável por semelhança com casos anteriores da própria base.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  <a:tr h="4402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C3AED"/>
                          </a:solidFill>
                          <a:latin typeface="Liberation Sans"/>
                        </a:rPr>
                        <a:t>Árvore de Decisão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Encadeia perguntas sobre os exames até chegar a uma conclusão — regras legíveis.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61E33"/>
                          </a:solidFill>
                          <a:latin typeface="Liberation Sans"/>
                        </a:rPr>
                        <a:t>Materializar as definições de caso (encadeamento de critérios) de forma auditável.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06 / 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3321100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33211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 · IA NA ÁREA DE VOCÊS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IA na saúde (3/3) — Tratamento de doenças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61E33"/>
                </a:solidFill>
                <a:latin typeface="Liberation Sans"/>
              </a:rPr>
              <a:t>Tratamento = </a:t>
            </a:r>
            <a:r>
              <a:rPr sz="1450" b="1" i="0">
                <a:solidFill>
                  <a:srgbClr val="7C3AED"/>
                </a:solidFill>
                <a:latin typeface="Liberation Sans"/>
              </a:rPr>
              <a:t>medir o efeito real de uma intervenção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— o terreno da inferência causal, e não só da correlação.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95728"/>
          <a:ext cx="11094415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Algoritmo / método (nome por extenso)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O que faz — para que serve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Onde entra na infectologia (IRAS)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  <a:latin typeface="Liberation Sans"/>
                        </a:rPr>
                        <a:t>Ensaio Clínico Randomizado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Aloca pacientes por sorteio em tratamento e controle e compara os desfechos.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Provar, sem viés, se um pacote de prevenção ou um protocolo reduz a taxa de infecção.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  <a:latin typeface="Liberation Sans"/>
                        </a:rPr>
                        <a:t>Redução de Risco Absoluta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Diferença entre o risco de quem recebeu o tratamento e o de quem não recebeu.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Quanto um bundle ou uma precaução reduz, em pontos, a taxa de infecção.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  <a:latin typeface="Liberation Sans"/>
                        </a:rPr>
                        <a:t>Inferência Causal (Modelo Causal de Neyman-Rubin)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Estima o efeito real de tratar comparando o resultado com e sem o tratamento.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Efeito real do controle de antimicrobianos (stewardship) sobre a resistência, controlando confundidores.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C3AED"/>
                          </a:solidFill>
                          <a:latin typeface="Liberation Sans"/>
                        </a:rPr>
                        <a:t>Efeito Médio do Tratamento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A média, na população, da diferença entre tratar e não tratar (ex.: vacina reduziu o risco em 0,2).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61E33"/>
                          </a:solidFill>
                          <a:latin typeface="Liberation Sans"/>
                        </a:rPr>
                        <a:t>Efeito médio de uma política de higienização ou isolamento sobre a incidência de IRAS.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166360"/>
            <a:ext cx="109728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66360"/>
            <a:ext cx="1050005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161E33"/>
                </a:solidFill>
                <a:latin typeface="Liberation Sans"/>
              </a:rPr>
              <a:t>Estes algoritmos já existem; o que muda no </a:t>
            </a:r>
            <a:r>
              <a:rPr sz="1550" b="1" i="0">
                <a:solidFill>
                  <a:srgbClr val="7C3AED"/>
                </a:solidFill>
                <a:latin typeface="Liberation Sans"/>
              </a:rPr>
              <a:t>software de vocês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é rodá-los sobre o texto livre e mantê-los </a:t>
            </a:r>
            <a:r>
              <a:rPr sz="1550" b="1" i="0">
                <a:solidFill>
                  <a:srgbClr val="7C3AED"/>
                </a:solidFill>
                <a:latin typeface="Liberation Sans"/>
              </a:rPr>
              <a:t>auditáveis e rastreáveis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— o diferencial em saúde.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07 /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Anatomia do Transformer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6_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44823"/>
            <a:ext cx="5486400" cy="429423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874519"/>
            <a:ext cx="5333695" cy="105156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874519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874519"/>
            <a:ext cx="4785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Q, K, V (consulta, chave, valor).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Cada token faz uma pergunta; todos anunciam o que têm; a semelhança decide de quem ele copia informação.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054096"/>
            <a:ext cx="5333695" cy="105156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3054096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054096"/>
            <a:ext cx="4785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Multi-cabeça.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Várias relações capturadas em paralelo, cada cabeça olhando um aspecto diferente.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233672"/>
            <a:ext cx="533369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23367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4233672"/>
            <a:ext cx="4785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O ponto de engenharia: a atenção é O(n²).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Custo por token, tamanho da janela e toda a economia de contexto nascem dessa quadrática.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08 / 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Por que o Transformer venceu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283C9"/>
                </a:solidFill>
                <a:latin typeface="Liberation Sans"/>
              </a:rPr>
              <a:t>Recorrência (LSTM) é sequencial no treino.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Uma palavra depois da outra — não aproveita a placa de vídeo.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283C9"/>
                </a:solidFill>
                <a:latin typeface="Liberation Sans"/>
              </a:rPr>
              <a:t>Atenção é paralelizável.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Todos os tokens de uma vez, na GPU. Foi isso que mudou o jogo.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283C9"/>
                </a:solidFill>
                <a:latin typeface="Liberation Sans"/>
              </a:rPr>
              <a:t>Não venceu por qualidade por token — venceu por VAZÃO de treinamento.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Deu para treinar modelos muito maiores em tempo viável. Escala, não elegância.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283C9"/>
                </a:solidFill>
                <a:latin typeface="Liberation Sans"/>
              </a:rPr>
              <a:t>A arquitetura de hoje: decoder-only, autorregressiva, objetivo único.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Um só alvo de treino: prever o próximo token.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09 / 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Escala e o que emerge dela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Leis de escala.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Mais dados + mais parâmetros + mais processamento → menos erro, de forma previsível. Foi o que justificou o investimento.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O salto de 2020: aprendizado no contexto (in-context learning).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modelo aprende a tarefa na hora da resposta, pelos exemplos do próprio prompt, sem tocar nos pesos.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Consequência: prompt e RAG passam a funcionar.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E o ajuste fino (fine-tuning) deixou de ser o caminho obrigatório.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Deslocamento recente: do processamento no TREINO para o processamento na RESPOSTA.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modelo “pensa mais” na hora — volta idêntico no AI Co-Scientist (S62).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10 / 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MoE: mistura de especialistas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9_m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560" y="1783080"/>
            <a:ext cx="7244574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8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394960"/>
            <a:ext cx="109728" cy="77724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394960"/>
            <a:ext cx="105000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283C9"/>
                </a:solidFill>
                <a:latin typeface="Liberation Sans"/>
              </a:rPr>
              <a:t>MoE = </a:t>
            </a:r>
            <a:r>
              <a:rPr sz="1500" b="0" i="1">
                <a:solidFill>
                  <a:srgbClr val="5A667E"/>
                </a:solidFill>
                <a:latin typeface="Liberation Sans"/>
              </a:rPr>
              <a:t>Mixture of Experts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(mistura de especialistas). Ex.: DeepSeek-V4-Pro tem 1,6 trilhão de parâmetros totais, mas só 49 bilhões ativos por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11 /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Inferência: os parâmetros que importam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532120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498348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Temperatura e top-p.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Controlam se a amostragem é mais criativa ou mais determinística.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5532120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498348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Cache de chaves-valores (KV cache) e cache de prefixo.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Reaproveitam contas já feitas — menos custo, menos espera.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5532120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498348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Quantização.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Reduz a precisão dos pesos (ex.: 4 bits) para caber em menos memória de vídeo.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5532120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498348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Decodificação especulativa.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Um modelo pequeno adianta tokens; o grande confere.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874519"/>
            <a:ext cx="5287975" cy="2999232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56248" y="205740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39128" y="205740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22008" y="205740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331720"/>
            <a:ext cx="4739335" cy="24505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# a MESMA chamada, dois resultados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resp = modelo.gerar(prompt,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      temperatura=0.0)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# código / extração: baixa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resp = modelo.gerar(prompt,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      temperatura=1.0)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# exploração: alta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349240"/>
            <a:ext cx="109728" cy="8229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349240"/>
            <a:ext cx="105000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283C9"/>
                </a:solidFill>
                <a:latin typeface="Liberation Sans"/>
              </a:rPr>
              <a:t>Regra prática: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código e extração estruturada pedem temperatura baixa; exploração de hipóteses pede o contrário — gancho para o S62.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12 /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Panorama: modelos proprietários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Liberation Sans"/>
                        </a:rPr>
                        <a:t>Modelo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Liberation Sans"/>
                        </a:rPr>
                        <a:t>Fabricante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Liberation Sans"/>
                        </a:rPr>
                        <a:t>SWE-bench Verified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Liberation Sans"/>
                        </a:rPr>
                        <a:t>Fonte da medição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GPT-5.6 Sol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OpenAI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~96%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Vals AI (independente)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Claude Fable 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Anthropic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~95%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medição independente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283C9"/>
                          </a:solidFill>
                          <a:latin typeface="Liberation Sans"/>
                        </a:rPr>
                        <a:t>Gemini 3.1 Pro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Google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agrupamento superior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—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1772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109728" cy="91440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50005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06A00"/>
                </a:solidFill>
                <a:latin typeface="Liberation Sans"/>
              </a:rPr>
              <a:t>Ressalva obrigatória: 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o número do fabricante e o de uma medição independente divergem, às vezes muito. Cite sempre a fonte.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A667E"/>
                </a:solidFill>
                <a:latin typeface="Liberation Sans"/>
              </a:rPr>
              <a:t>SWE-bench Verified = teste de correção de bugs reais de software (%% de tarefas resolvidas).   </a:t>
            </a:r>
            <a:r>
              <a:rPr sz="1250" b="1" i="0">
                <a:solidFill>
                  <a:srgbClr val="5A667E"/>
                </a:solidFill>
                <a:latin typeface="Liberation Sans"/>
              </a:rPr>
              <a:t>Última verificação: __ / __ / ____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13 / 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Panorama: modelos abertos para código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944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556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Modelo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Arquitetura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Contexto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Licença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Liberation Sans"/>
                        </a:rPr>
                        <a:t>Onde roda</a:t>
                      </a:r>
                    </a:p>
                  </a:txBody>
                  <a:tcPr anchor="ctr" marL="73152" marR="73152" marT="27432" marB="27432">
                    <a:solidFill>
                      <a:srgbClr val="0283C9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Kimi K3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2,8T / 104B ativos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1M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pesos abertos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infra séria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DeepSeek-V4-Pro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1,6T / 49B ativos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MIT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cluster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DeepSeek-V4-Flash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284B / 13B ativos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1M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MIT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servidor médio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GLM-5.2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MoE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longo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MIT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servidor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Qwen3.8-27B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denso 27,8B · multimodal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262K→1M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Apache-2.0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24 GB VRAM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Qwen3.6-27B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denso 27B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longo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Apache-2.0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 GPU consumo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Muse Glimmer 30B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denso · multimodal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131K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283C9"/>
                          </a:solidFill>
                          <a:latin typeface="Liberation Sans"/>
                        </a:rPr>
                        <a:t>Apache-2.0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24 GB quantiz.</a:t>
                      </a:r>
                    </a:p>
                  </a:txBody>
                  <a:tcPr anchor="ctr" marL="73152" marR="73152" marT="18288" marB="18288">
                    <a:solidFill>
                      <a:srgbClr val="E3F3FC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MiniMax M3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428B / 23B ativos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1M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comunitária 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61E33"/>
                          </a:solidFill>
                          <a:latin typeface="Liberation Sans"/>
                        </a:rPr>
                        <a:t>ver licença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120640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93792"/>
            <a:ext cx="1072865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0283C9"/>
                </a:solidFill>
                <a:latin typeface="Liberation Sans"/>
              </a:rPr>
              <a:t>O caso que importa para vocês: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Qwen3.8-27B — denso, multimodal, Apache-2.0, roda em 24 GB e, em SWE-bench Pro, supera o Claude Opus 4.6 Max.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06A00"/>
                </a:solidFill>
                <a:latin typeface="Liberation Sans"/>
              </a:rPr>
              <a:t>Alerta jurídico:  </a:t>
            </a:r>
            <a:r>
              <a:rPr sz="1300" b="0" i="0">
                <a:solidFill>
                  <a:srgbClr val="161E33"/>
                </a:solidFill>
                <a:latin typeface="Liberation Sans"/>
              </a:rPr>
              <a:t>“pesos abertos” ≠ “código aberto”. MIT e Apache-2.0 são livres; a licença do MiniMax é não comercial por padrão.   ·   Última verificação: __/__/____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14 /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Contexto longo: o número anunciado é o menos útil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Anúncios de 1 a 10 milhões de tokens.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Vários modelos anunciam janelas gigantes — sem um teste publicado que sustente qualidade perto disso.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Degradação do contexto (“context rot”).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 capacidade efetiva fica em 60–70% do anunciado; e a queda não é gradual — segura até um limiar e despenca. Uma janela de 1M pode degradar já em 50 mil.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Resultado contraintuitivo (testes da Chroma).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Os modelos foram melhores com texto embaralhado do que coerente: texto coerente cria viés de recência — sobrepesa o fim e esquece o começo.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Custo.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Encher 1 milhão de tokens vai de centavos a dezenas de dólares — diferença de dezenas de vezes entre modelos.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989320"/>
            <a:ext cx="11094415" cy="640080"/>
          </a:xfrm>
          <a:prstGeom prst="roundRect">
            <a:avLst>
              <a:gd name="adj" fmla="val 8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989320"/>
            <a:ext cx="109728" cy="64008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89320"/>
            <a:ext cx="105000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283C9"/>
                </a:solidFill>
                <a:latin typeface="Liberation Sans"/>
              </a:rPr>
              <a:t>Contexto menor e curado supera contexto grande e velho.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Pior em domínio regulado: quando a janela estoura, o modelo corta em silêncio — sem registro do que se perdeu.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283C9"/>
                </a:solidFill>
                <a:latin typeface="Liberation Sans"/>
              </a:rPr>
              <a:t>15 / 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3 ·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escada de abstração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Assembly → linguagem de alto nível.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Objeção da época: “vai gerar código lento e sem controle”. Consolidou-se com o COMPILADOR.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Alto nível → frameworks.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Objeção: “esconde o que importa, vira mágica”. Consolidou-se com o VERIFICADOR DE TIPOS e os TESTES.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Frameworks → especificação + verificação.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É o degrau de agora. A mesma objeção — “não dá para confiar” — e a mesma resposta: uma verificação nova.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O padrão nunca muda.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Cada degrau sobe o nível do que você escreve — e só se firma quando ganha a sua camada de verificação automática.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16 / 70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3 ·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que a IA faz bem e mal em código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364327" cy="3108960"/>
          </a:xfrm>
          <a:prstGeom prst="roundRect">
            <a:avLst>
              <a:gd name="adj" fmla="val 6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31089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49071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59669"/>
                </a:solidFill>
                <a:latin typeface="Liberation Sans"/>
              </a:rPr>
              <a:t>FAZ BEM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481568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código de fronteira </a:t>
            </a:r>
            <a:r>
              <a:rPr sz="1550" b="1" i="0">
                <a:solidFill>
                  <a:srgbClr val="059669"/>
                </a:solidFill>
                <a:latin typeface="Liberation Sans"/>
              </a:rPr>
              <a:t>bem especificado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traduzir entre representações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gerar </a:t>
            </a:r>
            <a:r>
              <a:rPr sz="1550" b="1" i="0">
                <a:solidFill>
                  <a:srgbClr val="059669"/>
                </a:solidFill>
                <a:latin typeface="Liberation Sans"/>
              </a:rPr>
              <a:t>testes a partir de critérios explícitos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refatoração mecânica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1874519"/>
            <a:ext cx="5364327" cy="3108960"/>
          </a:xfrm>
          <a:prstGeom prst="roundRect">
            <a:avLst>
              <a:gd name="adj" fmla="val 6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8727" y="1874519"/>
            <a:ext cx="109728" cy="31089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1993392"/>
            <a:ext cx="49071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11D48"/>
                </a:solidFill>
                <a:latin typeface="Liberation Sans"/>
              </a:rPr>
              <a:t>FAZ 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560320"/>
            <a:ext cx="481568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E11D48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decisão arquitetural com </a:t>
            </a:r>
            <a:r>
              <a:rPr sz="1550" b="1" i="0">
                <a:solidFill>
                  <a:srgbClr val="E11D48"/>
                </a:solidFill>
                <a:latin typeface="Liberation Sans"/>
              </a:rPr>
              <a:t>trade-off implícito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E11D48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corretude que depende de </a:t>
            </a:r>
            <a:r>
              <a:rPr sz="1550" b="1" i="0">
                <a:solidFill>
                  <a:srgbClr val="E11D48"/>
                </a:solidFill>
                <a:latin typeface="Liberation Sans"/>
              </a:rPr>
              <a:t>contexto não escrito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E11D48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invariantes </a:t>
            </a:r>
            <a:r>
              <a:rPr sz="1550" b="1" i="0">
                <a:solidFill>
                  <a:srgbClr val="E11D48"/>
                </a:solidFill>
                <a:latin typeface="Liberation Sans"/>
              </a:rPr>
              <a:t>não declarados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E11D48"/>
                </a:solidFill>
                <a:latin typeface="Liberation Sans"/>
              </a:rPr>
              <a:t>●  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regras que “todo mundo sabe” e ninguém anotou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663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1050005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61E33"/>
                </a:solidFill>
                <a:latin typeface="Liberation Sans"/>
              </a:rPr>
              <a:t>A coluna da direita é toda ela </a:t>
            </a:r>
            <a:r>
              <a:rPr sz="1700" b="1" i="0">
                <a:solidFill>
                  <a:srgbClr val="E11D48"/>
                </a:solidFill>
                <a:latin typeface="Liberation Sans"/>
              </a:rPr>
              <a:t>falta de especificação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.   Custo típico: 50 mil a 500 mil tokens por tarefa; o português gasta ~1,5× mais tokens que o inglês.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17 / 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De “prompt” para “engenharia de contexto”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00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61E33"/>
                </a:solidFill>
                <a:latin typeface="Liberation Sans"/>
              </a:rPr>
              <a:t>O trabalho não é mais escrever uma frase esperta. É </a:t>
            </a:r>
            <a:r>
              <a:rPr sz="1800" b="1" i="0">
                <a:solidFill>
                  <a:srgbClr val="059669"/>
                </a:solidFill>
                <a:latin typeface="Liberation Sans"/>
              </a:rPr>
              <a:t>decidir o que ocupa a janela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— o espaço de atenção é finito e caro (lembre do O(n²) e do S13).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879757" cy="1051560"/>
          </a:xfrm>
          <a:prstGeom prst="roundRect">
            <a:avLst>
              <a:gd name="adj" fmla="val 8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1879757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749039"/>
            <a:ext cx="183403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4F46E5"/>
                </a:solidFill>
                <a:latin typeface="Liberation Sans"/>
              </a:rPr>
              <a:t>instruções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74117" y="3657600"/>
            <a:ext cx="1696378" cy="1051560"/>
          </a:xfrm>
          <a:prstGeom prst="roundRect">
            <a:avLst>
              <a:gd name="adj" fmla="val 8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74117" y="3657600"/>
            <a:ext cx="1696378" cy="1097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74117" y="3749039"/>
            <a:ext cx="1650658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283C9"/>
                </a:solidFill>
                <a:latin typeface="Liberation Sans"/>
              </a:rPr>
              <a:t>ferramentas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6215" y="3657600"/>
            <a:ext cx="2888340" cy="105156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6215" y="3657600"/>
            <a:ext cx="288834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6215" y="3749039"/>
            <a:ext cx="2842620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histórico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50275" y="3657600"/>
            <a:ext cx="3071718" cy="1051560"/>
          </a:xfrm>
          <a:prstGeom prst="roundRect">
            <a:avLst>
              <a:gd name="adj" fmla="val 8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50275" y="3657600"/>
            <a:ext cx="3071718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50275" y="3749039"/>
            <a:ext cx="3025998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59669"/>
                </a:solidFill>
                <a:latin typeface="Liberation Sans"/>
              </a:rPr>
              <a:t>documentos (RAG)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67714" y="3657600"/>
            <a:ext cx="1329620" cy="105156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67714" y="3657600"/>
            <a:ext cx="1329620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7714" y="3749039"/>
            <a:ext cx="1283900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D97706"/>
                </a:solidFill>
                <a:latin typeface="Liberation Sans"/>
              </a:rPr>
              <a:t>saída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67E"/>
                </a:solidFill>
                <a:latin typeface="Liberation Sans"/>
              </a:rPr>
              <a:t>A “janela de contexto”: um orçamento fixo a ser gasto com disciplina.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18 / 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RAG: como funciona, e onde quebra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17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229" y="1783080"/>
            <a:ext cx="8965235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19 /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Por que fatiar mal destrói um critério de IRAS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O critério de definição de caso (ICSAC) ocupa três parágrafos.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Critério clínico + critério laboratorial + janela temporal — os três precisam ser lidos JUNTOS.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06A00"/>
                </a:solidFill>
                <a:latin typeface="Liberation Sans"/>
              </a:rPr>
              <a:t>Em pedaços de 512 tokens, o laboratorial se separa da janela.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A recuperação devolve metade da regra; o modelo completa o resto sozinho — e notifica um FALSO POSITIVO.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A correção: fatiar pela unidade lógica, não por tamanho fixo.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Chunking semântico pela regra inteira + metadados por tipo de infecção + expansão de janela ao redor do trecho.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20 /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Saída estruturada como contrato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577840" cy="2706624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10312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10312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10312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377440"/>
            <a:ext cx="5029200" cy="21579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{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"criterio": "ICSAC-corrente-sanguinea",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"atendido": true,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"evidencia_textual":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   "hemocultura + para S. aureus em 12/03",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"data_referencia": "2026-03-12",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  "confianca": 0.91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920240"/>
            <a:ext cx="528797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92024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920240"/>
            <a:ext cx="47393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Um esquema (schema) por critério.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Booleano do resultado, o trecho literal que o justifica, a data de referência e a confiança.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099816"/>
            <a:ext cx="528797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09981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099816"/>
            <a:ext cx="47393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Todo booleano vem com a evidência citada.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Sem o trecho literal não há revisão humana viável nem trilha de auditoria.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279392"/>
            <a:ext cx="528797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427939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279392"/>
            <a:ext cx="47393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Não peça parecer. Peça formulário preenchido.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“Formulário com evidência citada”, não “texto livre opinando”.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21 /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82732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8273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CONTEXTO 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Avaliação e proteções (guardrails)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74519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Eixo</a:t>
                      </a:r>
                    </a:p>
                  </a:txBody>
                  <a:tcPr anchor="ctr" marL="73152" marR="73152" marT="27432" marB="27432">
                    <a:solidFill>
                      <a:srgbClr val="0596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O que medir</a:t>
                      </a:r>
                    </a:p>
                  </a:txBody>
                  <a:tcPr anchor="ctr" marL="73152" marR="73152" marT="27432" marB="27432">
                    <a:solidFill>
                      <a:srgbClr val="0596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Por quê</a:t>
                      </a:r>
                    </a:p>
                  </a:txBody>
                  <a:tcPr anchor="ctr" marL="73152" marR="73152" marT="27432" marB="27432">
                    <a:solidFill>
                      <a:srgbClr val="05966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Estratificação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sensibilidade e especificidade POR tipo de infecção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o custo do erro muda por infecção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Conjunto dourado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casos revisados por infectologista, versionado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verdade de referência estável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Gatilho de CI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roda a cada mudança de prompt, MODELO ou base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trocar versão = mudança controlada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Asserção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um teste com assert sobre o conjunto dourado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o portão é código, não opinião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75488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75488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10500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59669"/>
                </a:solidFill>
                <a:latin typeface="Liberation Sans"/>
              </a:rPr>
              <a:t>Acurácia agregada é inútil aqui: 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falso negativo e falso positivo têm custos assimétricos e diferentes por infecção. Guardrails: menor privilégio, anonimizar antes de sair, e cuidado com injeção vinda do próprio prontuário (LGPD).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22 /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Definição operacional (sem misticismo)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143000"/>
          </a:xfrm>
          <a:prstGeom prst="roundRect">
            <a:avLst>
              <a:gd name="adj" fmla="val 6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46304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271455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D97706"/>
                </a:solidFill>
                <a:latin typeface="Liberation Sans"/>
              </a:rPr>
              <a:t>Um agente é um modelo em laço, com ferramentas, sobre um ambiente, com critério de parada.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109728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46120"/>
            <a:ext cx="1054577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O que NÃO é agente: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fluxo de caminho fixo com o modelo nos nós. Isso é um workflow — e quase sempre é a escolha certa.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2613583" cy="68580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480560"/>
            <a:ext cx="2613583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553712"/>
            <a:ext cx="261358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59669"/>
                </a:solidFill>
                <a:latin typeface="Liberation Sans"/>
              </a:rPr>
              <a:t>determinístico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631" y="45720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53663" y="4480560"/>
            <a:ext cx="2613583" cy="68580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53663" y="4480560"/>
            <a:ext cx="2613583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53663" y="4553712"/>
            <a:ext cx="261358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D9488"/>
                </a:solidFill>
                <a:latin typeface="Liberation Sans"/>
              </a:rPr>
              <a:t>roteado por modelo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02655" y="45720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687" y="4480560"/>
            <a:ext cx="2613583" cy="68580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58687" y="4480560"/>
            <a:ext cx="2613583" cy="91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58687" y="4553712"/>
            <a:ext cx="261358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D97706"/>
                </a:solidFill>
                <a:latin typeface="Liberation Sans"/>
              </a:rPr>
              <a:t>agente com ferramentas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7679" y="45720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63711" y="4480560"/>
            <a:ext cx="2613583" cy="685800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63711" y="4480560"/>
            <a:ext cx="2613583" cy="9144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63711" y="4553712"/>
            <a:ext cx="261358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11D48"/>
                </a:solidFill>
                <a:latin typeface="Liberation Sans"/>
              </a:rPr>
              <a:t>autônomo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34924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349240"/>
            <a:ext cx="105000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D97706"/>
                </a:solidFill>
                <a:latin typeface="Liberation Sans"/>
              </a:rPr>
              <a:t>Eixo da autonomia: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da esquerda para a direita, mais poder e mais risco. Autonomia é custo, não virtude — escolha o mínimo que resolve.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23 / 70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laço agêntico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22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973" y="1783080"/>
            <a:ext cx="8625748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24 / 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“Tool use”: usar ferramentas sem framework nenhum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6035040" cy="2999232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10312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10312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10312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377440"/>
            <a:ext cx="5486400" cy="24505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# 1. você DESCREVE a ferramenta (isto é prompt!)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ferramenta = {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"nome": "consultar_microbiologia",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"parametros": {"paciente_id": "str",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               "janela_dias": "int"}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}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# 2. o modelo responde pedindo a chamada (tool_use)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# 3. VOCÊ executa e devolve o resultado (tool_result)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# 4. repete num while explícito até a resposta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1920240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12280" y="1920240"/>
            <a:ext cx="109728" cy="1051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920240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97706"/>
                </a:solidFill>
                <a:latin typeface="Liberation Sans"/>
              </a:rPr>
              <a:t>O laço agêntico tem trinta linhas.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Tudo que vem depois — os frameworks do Bloco 7 — é conveniência, não mágica.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3099816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12280" y="309981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3099816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A descrição da ferramenta É prompt.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Descrição ruim de ferramenta causa mais falha do que prompt de sistema ruim.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25 / 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Componentes de um agente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Memória curta × longa.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Curta = a conversa atual; longa = o que persiste entre execuções.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Planejamento.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Quebrar o objetivo em passos antes de agir.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Reflexão.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Criticar o próprio resultado e tentar de novo.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Memória longa em arquivo versionado costuma superar a vetorial em regras estáveis.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É auditável e comparável em diff — gancho direto para o formato OKF do S31.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26 / 70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Os seis padrões de composição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25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98" y="1783080"/>
            <a:ext cx="9092697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27 /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mesmo caso resolvido de três formas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000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D97706"/>
                </a:solidFill>
                <a:latin typeface="Liberation Sans"/>
              </a:rPr>
              <a:t>Caso: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agente de vigilância de IRAS — varre microbiologia, prescrição e evolução; aplica os critérios; propõe a notificação; e PARA em revisão humana.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80360"/>
            <a:ext cx="3515258" cy="2926080"/>
          </a:xfrm>
          <a:prstGeom prst="roundRect">
            <a:avLst>
              <a:gd name="adj" fmla="val 7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80360"/>
            <a:ext cx="3515258" cy="5486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Encadeado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1880"/>
            <a:ext cx="305805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61E33"/>
                </a:solidFill>
                <a:latin typeface="Liberation Sans"/>
              </a:rPr>
              <a:t>passos fixos em sequência; simples, mas rígido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2880360"/>
            <a:ext cx="3515258" cy="2926080"/>
          </a:xfrm>
          <a:prstGeom prst="roundRect">
            <a:avLst>
              <a:gd name="adj" fmla="val 7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2880360"/>
            <a:ext cx="3515258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5378" y="2926080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Orquestrador-
trabalhadores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6818" y="3611880"/>
            <a:ext cx="305805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61E33"/>
                </a:solidFill>
                <a:latin typeface="Liberation Sans"/>
              </a:rPr>
              <a:t>um trabalhador por tipo de infecção, contexto isolado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7796" y="2880360"/>
            <a:ext cx="3515258" cy="2926080"/>
          </a:xfrm>
          <a:prstGeom prst="roundRect">
            <a:avLst>
              <a:gd name="adj" fmla="val 7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7796" y="2880360"/>
            <a:ext cx="3515258" cy="548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4956" y="2926080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Avaliador-
otimizador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611880"/>
            <a:ext cx="305805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61E33"/>
                </a:solidFill>
                <a:latin typeface="Liberation Sans"/>
              </a:rPr>
              <a:t>um crítico contesta contra o critério normativo: menos falso positivo, ~2× tokens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28 / 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Multiagente: quando compensa (e quando não)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Só compensa com subtarefas paralelizáveis E contextos isolados.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Se as partes não são independentes, o custo explode sem ganho.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06A00"/>
                </a:solidFill>
                <a:latin typeface="Liberation Sans"/>
              </a:rPr>
              <a:t>Em fluxo linear: 4 a 15× mais tokens para reimplementar um “if”.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Vários agentes conversando para decidir o que um condicional resolveria.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A passagem de contexto entre agentes é “lossy”.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Cada repasse perde informação — como fotocópia de fotocópia.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29 / 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Por que agentes falham em produção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28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68044"/>
            <a:ext cx="6675120" cy="344779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0" y="1874519"/>
            <a:ext cx="4327855" cy="1051560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874519"/>
            <a:ext cx="109728" cy="1051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874519"/>
            <a:ext cx="37792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97706"/>
                </a:solidFill>
                <a:latin typeface="Liberation Sans"/>
              </a:rPr>
              <a:t>Erro composto.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95% de acerto por passo, 20 passos → só 36% de sucesso fim a fim.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054096"/>
            <a:ext cx="432785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0" y="305409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054096"/>
            <a:ext cx="37792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6A00"/>
                </a:solidFill>
                <a:latin typeface="Liberation Sans"/>
              </a:rPr>
              <a:t>Modos de falha: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laço infinito, ferramenta alucinada, contexto contaminado, custo imprevisto — e o pior, a FALHA SILENCIOSA.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233672"/>
            <a:ext cx="432785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4233672"/>
            <a:ext cx="37792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9D58"/>
                </a:solidFill>
                <a:latin typeface="Liberation Sans"/>
              </a:rPr>
              <a:t>A saída não é “prompt melhor”.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É reduzir o número de passos NÃO verificados. Guardem esta frase para o Bloco 9.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D97706"/>
                </a:solidFill>
                <a:latin typeface="Liberation Sans"/>
              </a:rPr>
              <a:t>30 / 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mapa: vertical (MCP) × horizontal (A2A)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29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512" y="1783080"/>
            <a:ext cx="8826669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31 / 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família A2A e as alternativas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Extensões oficiais do A2A.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Secure Passport (identidade), Timestamp, Traceability (rastreabilidade), Agent Gateway.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A família: AP2, UCP, A2UI.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Pagamentos iniciados por agente, comércio com consentimento criptográfico, e interface.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Alternativas: ACP (IBM) e ANP.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ACP herda a tradição FIPA-ACL com performativas tipadas; ANP aposta em identidade descentralizada.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A crítica que dá valor ao slide: nenhum protocolo expressa GOVERNANÇA.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Registram quem chamou quem — não sob qual política nem com que base legal. Em saúde, essa camada sobra para VOCÊS.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32 /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OKF: um formato aberto de conhecimento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① Um pacote (bundle) é um diretório de arquivos markdown.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Nada de banco de dados, nada de servidor.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54172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754172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54172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② Cada arquivo é um conceito; o caminho do arquivo é o identificador.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79545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79545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79545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③ Cada arquivo abre com frontmatter YAML — único campo obrigatório: type.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04918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04918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604918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④ Arquivos se referenciam por links markdown comuns.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O que transforma o diretório num GRAFO, não numa lista.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0291"/>
            <a:ext cx="6766560" cy="82478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30291"/>
            <a:ext cx="109728" cy="82478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30291"/>
            <a:ext cx="6217920" cy="8247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⑤ Dois nomes reservados: index.md (listagem) e log.md (histórico).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1828800"/>
            <a:ext cx="4190695" cy="4526280"/>
          </a:xfrm>
          <a:prstGeom prst="roundRect">
            <a:avLst>
              <a:gd name="adj" fmla="val 8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1828800"/>
            <a:ext cx="109728" cy="452628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2011680"/>
            <a:ext cx="368777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11D48"/>
                </a:solidFill>
                <a:latin typeface="Liberation Sans"/>
              </a:rPr>
              <a:t>Para vocês, direto: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61E33"/>
                </a:solidFill>
                <a:latin typeface="Liberation Sans"/>
              </a:rPr>
              <a:t>um pacote OKF com as definições de caso de IRAS, as fórmulas dos indicadores e os runbooks da CCIH.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61E33"/>
                </a:solidFill>
                <a:latin typeface="Liberation Sans"/>
              </a:rPr>
              <a:t>Legível por agente, revisável por infectologista, com log.md de histórico e “git blame” de autoria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Liberation Sans"/>
              </a:rPr>
              <a:t>metade do que uma auditoria já pede.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1">
                <a:solidFill>
                  <a:srgbClr val="E06A00"/>
                </a:solidFill>
                <a:latin typeface="Liberation Sans"/>
              </a:rPr>
              <a:t>Ressalva: é v0.1 — padroniza o contêiner, não a semântica clínica.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33 /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Os outros formatos em markdown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AGENTS.md.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Contexto do projeto para agentes de código: comandos de build e teste, convenções, decisões. Markdown puro.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DESIGN.md.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Identidade visual: tokens de design em YAML mais o racional em prosa.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Agent Skills.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Capacidade empacotada como uma pasta com um arquivo markdown, com registros públicos.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O padrão por trás dos três: markdown versionado no repositório.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A única coisa que humano e máquina leem, que o git versiona e que o revisor audita num diff.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34 /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PROTOCOLOS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ponte para o SDD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3515258" cy="2194560"/>
          </a:xfrm>
          <a:prstGeom prst="roundRect">
            <a:avLst>
              <a:gd name="adj" fmla="val 7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3515258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66543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Liberation Sans"/>
              </a:rPr>
              <a:t>Especificação (SDD)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314949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61E33"/>
                </a:solidFill>
                <a:latin typeface="Liberation Sans"/>
              </a:rPr>
              <a:t>o QUE o sistema deve fazer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011680"/>
            <a:ext cx="3515258" cy="2194560"/>
          </a:xfrm>
          <a:prstGeom prst="roundRect">
            <a:avLst>
              <a:gd name="adj" fmla="val 7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2011680"/>
            <a:ext cx="3515258" cy="566928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5378" y="2066543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Liberation Sans"/>
              </a:rPr>
              <a:t>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1098" y="2880360"/>
            <a:ext cx="314949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61E33"/>
                </a:solidFill>
                <a:latin typeface="Liberation Sans"/>
              </a:rPr>
              <a:t>COMO se trabalha no repositório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7796" y="2011680"/>
            <a:ext cx="3515258" cy="2194560"/>
          </a:xfrm>
          <a:prstGeom prst="roundRect">
            <a:avLst>
              <a:gd name="adj" fmla="val 7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7796" y="2011680"/>
            <a:ext cx="3515258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4956" y="2066543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Liberation Sans"/>
              </a:rPr>
              <a:t>Pacote OKF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0676" y="2880360"/>
            <a:ext cx="314949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61E33"/>
                </a:solidFill>
                <a:latin typeface="Liberation Sans"/>
              </a:rPr>
              <a:t>o DOMÍNIO que ele modela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2000"/>
            <a:ext cx="11094415" cy="1188720"/>
          </a:xfrm>
          <a:prstGeom prst="roundRect">
            <a:avLst>
              <a:gd name="adj" fmla="val 8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109728" cy="11887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572000"/>
            <a:ext cx="1050005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11D48"/>
                </a:solidFill>
                <a:latin typeface="Liberation Sans"/>
              </a:rPr>
              <a:t>São a MESMA ideia em escopos diferentes: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conhecimento formalizado em markdown versionado, consumido por agente e revisável por humano. Os três convivem no mesmo repositório — e é isso que constrói a rastreabilidade (guardem para o S49).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E11D48"/>
                </a:solidFill>
                <a:latin typeface="Liberation Sans"/>
              </a:rPr>
              <a:t>35 /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-1097280"/>
            <a:ext cx="3108960" cy="3108960"/>
          </a:xfrm>
          <a:prstGeom prst="ellipse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62895" y="4846320"/>
            <a:ext cx="3657600" cy="3657600"/>
          </a:xfrm>
          <a:prstGeom prst="ellipse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628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Liberation Sans"/>
              </a:rPr>
              <a:t>INTERVALO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 i="0">
                <a:solidFill>
                  <a:srgbClr val="FFFFFF"/>
                </a:solidFill>
                <a:latin typeface="Liberation Sans"/>
              </a:rPr>
              <a:t>5 minutos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1">
                <a:solidFill>
                  <a:srgbClr val="FFFFFF"/>
                </a:solidFill>
                <a:latin typeface="Liberation Sans"/>
              </a:rPr>
              <a:t>Na volta: frameworks, ambientes agênticos e o núcleo — o SDD.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Critério de leitura para os cinco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46304" cy="13716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1027145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4F46E5"/>
                </a:solidFill>
                <a:latin typeface="Liberation Sans"/>
              </a:rPr>
              <a:t>A pergunta única para cada framework: </a:t>
            </a:r>
            <a:r>
              <a:rPr sz="2100" b="1" i="0">
                <a:solidFill>
                  <a:srgbClr val="0283C9"/>
                </a:solidFill>
                <a:latin typeface="Liberation Sans"/>
              </a:rPr>
              <a:t>o que ele controla por mim — o laço, o estado, ou nenhum dos dois?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657600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4F46E5"/>
                </a:solidFill>
                <a:latin typeface="Liberation Sans"/>
              </a:rPr>
              <a:t>O mesmo agente do S26 aparece nos cinco.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Para comparar o custo da abstração — não a sintaxe.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3717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83717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83717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Frameworks não são mágica; são conveniência sobre o laço de 30 linhas do S23.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A pergunta certa não é “qual é mais bonito”, é “o que ele assume por você e o que ele esconde”.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36 / 70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OpenAI Agents SDK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943600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5394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Peças: Agent, handoffs, guardrails, sessions.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Repasse entre agentes (handoff), proteções e sessões, com rastreamento embutido.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5943600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5394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Modelo de controle: o SDK controla o laço; o estado vive na sessão.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5943600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5394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Rastreamento (tracing) de primeira linha — porém acoplado ao provedor.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Ótima observabilidade, ao custo de amarrar você à OpenAI.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1874519"/>
            <a:ext cx="5013655" cy="2121408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30568" y="205740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13448" y="205740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96328" y="205740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331720"/>
            <a:ext cx="4465015" cy="1572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# triagem -&gt; especialista por infecção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triagem = Agent(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name="triagem",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handoffs=[uti_agent,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         cirurgia_agent])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# o SDK cuida do laço e do repasse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37 / 70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Anthropic Claude Agent SDK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4F46E5"/>
                </a:solidFill>
                <a:latin typeface="Liberation Sans"/>
              </a:rPr>
              <a:t>O laço do Claude Code exposto como biblioteca.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Busca agêntica no sistema de arquivos SEM indexação prévia, subagentes com contexto isolado, hooks.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4F46E5"/>
                </a:solidFill>
                <a:latin typeface="Liberation Sans"/>
              </a:rPr>
              <a:t>Sistema de permissões + MCP nativo + modo headless.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Controle fino do que o agente pode fazer, e execução sem interface para rodar em 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Diferencial: projetado em torno de CÓDIGO e ARQUIVOS, não de conversa.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É o mais relevante para o Bloco 9 (o SDD roda sobre arquivos versionados).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38 / 70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LangChain e LangGraph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37_lang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10861"/>
            <a:ext cx="6766560" cy="351643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360" y="1874519"/>
            <a:ext cx="419069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642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46E5"/>
                </a:solidFill>
                <a:latin typeface="Liberation Sans"/>
              </a:rPr>
              <a:t>LangChain compõe componentes; LangGraph é máquina de estados.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3054096"/>
            <a:ext cx="419069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3054096"/>
            <a:ext cx="3642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46E5"/>
                </a:solidFill>
                <a:latin typeface="Liberation Sans"/>
              </a:rPr>
              <a:t>Estado durável (checkpointer) + parada para aprovação (interrupt).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Nativos — e decisivos aqui.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4233672"/>
            <a:ext cx="419069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233672"/>
            <a:ext cx="364205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9D58"/>
                </a:solidFill>
                <a:latin typeface="Liberation Sans"/>
              </a:rPr>
              <a:t>Para IRAS: a notificação NÃO sai sem aprovação, e o processo sobrevive a reinício.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39 / 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CrewAI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Modelo mental: organização, não grafo.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Agent com papel, objetivo e história; Task com saída esperada; Crew reunindo; Process sequencial ou hierárquico.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Onde brilha: protótipo e demonstração.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 menor curva de entrada; decompor por papel força o time a escrever o que cada agente faz — meio caminho para uma spec.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Onde dói: a metáfora de papéis ESCONDE o laço.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Quando falha, você depura uma abstração, não uma sequência de chamadas. Estado e durabilidade fracos vs. LangGraph.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Veredito: ótimo para levantar um piloto numa tarde.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Pense duas vezes antes de pôr em produção regulada. (É o framework do nosso LangNet — Bloco 11.)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40 / 70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AutoGen / AG2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Modelo mental: conversa entre agentes.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ConversableAgent como unidade; GroupChat com um gerente que escolhe quem fala; executor de código embutido.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Humano-no-laço nativo e granular.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O modo de intervenção é configurável por agente (sempre, nunca, só ao terminar) — direto no gate de notificação de vocês.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Onde brilha: exploração e pesquisa, caminho não conhecido de antemão.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É o parente mais próximo do AI Co-Scientist (S62).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06A00"/>
                </a:solidFill>
                <a:latin typeface="Liberation Sans"/>
              </a:rPr>
              <a:t>Onde dói: comportamento emergente — a conversa pode divergir e gastar tokens sem convergir.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E cuidado com a linhagem: Microsoft × fork comunitário AG2, exemplos incompatíveis.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41 / 70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Comparativo e a opinião contrária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74519"/>
          <a:ext cx="1109441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44137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Framework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Controle do laço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Estado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Humano-no-laço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Liberation Sans"/>
                        </a:rPr>
                        <a:t>Caso ideal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OpenAI SDK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controla o laço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sessão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guardrails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produtos OpenAI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Claude Agent SDK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controla o laço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arquivos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hooks + permissões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código / arquivos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LangGraph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máquina de estados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durável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nativo (interrupt)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4F46E5"/>
                          </a:solidFill>
                          <a:latin typeface="Liberation Sans"/>
                        </a:rPr>
                        <a:t>produção regulada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CrewAI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esconde o laço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fraco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limitado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protótipo rápido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AutoGen / AG2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conversa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fraco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granular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exploração / pesquisa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4413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laço próprio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você controla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você faz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você faz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61E33"/>
                          </a:solidFill>
                          <a:latin typeface="Liberation Sans"/>
                        </a:rPr>
                        <a:t>70% dos casos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8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120640"/>
            <a:ext cx="109728" cy="100584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500055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A opinião contrária: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para uns 70% dos casos, o laço direto é mais simples de depurar. Framework se justifica por durabilidade, observabilidade e humano-no-laço — não por elegância. “Não adotem framework antes de ter o eval do S20.”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42 / 70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8 ·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Mudou a unidade de trabalho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1094415" cy="1280160"/>
          </a:xfrm>
          <a:prstGeom prst="roundRect">
            <a:avLst>
              <a:gd name="adj" fmla="val 6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46304" cy="12801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10271455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0D9488"/>
                </a:solidFill>
                <a:latin typeface="Liberation Sans"/>
              </a:rPr>
              <a:t>Do autocompletar de uma linha para a </a:t>
            </a:r>
            <a:r>
              <a:rPr sz="2100" b="1" i="0">
                <a:solidFill>
                  <a:srgbClr val="0D9488"/>
                </a:solidFill>
                <a:latin typeface="Liberation Sans"/>
              </a:rPr>
              <a:t>tarefa sobre o repositório inteiro.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39"/>
            <a:ext cx="11094415" cy="100584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49039"/>
            <a:ext cx="109728" cy="100584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10545775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06A00"/>
                </a:solidFill>
                <a:latin typeface="Liberation Sans"/>
              </a:rPr>
              <a:t>A revisão passa a ser de um diff inteiro, não de uma sugestão de linha.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Isso muda o code review do time — e é uma mudança de processo, não de ferramenta.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43 / 70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8 ·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CLI com busca agêntica sem indexação prévia.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Explora o repositório na hora, em vez de manter um índice que envelhece.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CLAUDE.md, subagentes, skills, MCP, modo headless para CI.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O contexto do projeto e as capacidades ficam versionados no repositório.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Hooks são o mecanismo de PORTÃO.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Lint, teste e política rodam DENTRO do laço — não depois. É o gate do Bloco 9 acontecendo na prática.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44 / 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8 ·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Cursor e o panorama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Cursor: IDE com indexação prévia, Composer/Agent, regras de projeto.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Indexa antes (rápido, mas o índice pode ficar defasado).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O trade-off de fundo: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indexação prévia (rápida, risco de índice velho) × exploração sob demanda (lenta, sempre atual).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D9488"/>
                </a:solidFill>
                <a:latin typeface="Liberation Sans"/>
              </a:rPr>
              <a:t>O resto do panorama, numa linha: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Copilot, Windsurf, Aider, Codex, Devin — variações do mesmo tema.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D9488"/>
                </a:solidFill>
                <a:latin typeface="Liberation Sans"/>
              </a:rPr>
              <a:t>45 / 70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problema: “vibe coding”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Programar “no feeling” funciona no protótipo e colapsa no sistema.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Enquanto é pequeno, tudo bem. Quando cresce, ninguém mais segura na cabeça.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O sintoma: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o código existe, funciona — e ninguém sabe qual requisito ele atende, nem se ainda atende.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06A00"/>
                </a:solidFill>
                <a:latin typeface="Liberation Sans"/>
              </a:rPr>
              <a:t>Em domínio regulado, isso tem outro nome: NÃO CONFORMIDADE.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Não é dívida técnica; é risco regulatório.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46 / 70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inversão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234440"/>
          </a:xfrm>
          <a:prstGeom prst="roundRect">
            <a:avLst>
              <a:gd name="adj" fmla="val 6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23444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1063721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11D48"/>
                </a:solidFill>
                <a:latin typeface="Liberation Sans"/>
              </a:rPr>
              <a:t>(a) O jeito de hoje: 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requisito informal → código → documentação que já nasce desatualizada.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6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109728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83280"/>
            <a:ext cx="1063721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59669"/>
                </a:solidFill>
                <a:latin typeface="Liberation Sans"/>
              </a:rPr>
              <a:t>(b) O SDD:  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especificação PRIMÁRIA → plano → tarefas → código DERIVADO.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6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754880"/>
            <a:ext cx="146304" cy="1234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1027145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4F46E5"/>
                </a:solidFill>
                <a:latin typeface="Liberation Sans"/>
              </a:rPr>
              <a:t>A spec é o que se versiona, revisa e mantém. O código é o que se regenera. </a:t>
            </a:r>
            <a:r>
              <a:rPr sz="1800" b="0" i="1">
                <a:solidFill>
                  <a:srgbClr val="161E33"/>
                </a:solidFill>
                <a:latin typeface="Liberation Sans"/>
              </a:rPr>
              <a:t>“É a relação entre código-fonte e binário — ninguém revisa o binário.”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47 / 70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ciclo SDD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46_s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500" y="1783080"/>
            <a:ext cx="10510694" cy="4617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48 / 70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Anatomia de uma especificação útil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852160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53035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Contexto e escopo · NÃO-objetivos · requisitos em EARS.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Dizer o que está fora é tão importante quanto o que está dentro.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5852160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53035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4F46E5"/>
                </a:solidFill>
                <a:latin typeface="Liberation Sans"/>
              </a:rPr>
              <a:t>Critérios de aceitação verificáveis · contratos · invariantes · referências normativas.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874519"/>
            <a:ext cx="5105095" cy="3566160"/>
          </a:xfrm>
          <a:prstGeom prst="roundRect">
            <a:avLst>
              <a:gd name="adj" fmla="val 8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874519"/>
            <a:ext cx="109728" cy="35661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2011680"/>
            <a:ext cx="45564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059669"/>
                </a:solidFill>
                <a:latin typeface="Liberation Sans"/>
              </a:rPr>
              <a:t>Requisito em EARS (bom):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61E33"/>
                </a:solidFill>
                <a:latin typeface="Liberation Sans"/>
              </a:rPr>
              <a:t>“Quando uma hemocultura positiva for registrada, o sistema deve avaliar os critérios de ICSAC dentro de 48 h e produzir um parecer com evidência citada.”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E06A00"/>
                </a:solidFill>
                <a:latin typeface="Liberation Sans"/>
              </a:rPr>
              <a:t>Requisito ruim (não verificável):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1">
                <a:solidFill>
                  <a:srgbClr val="161E33"/>
                </a:solidFill>
                <a:latin typeface="Liberation Sans"/>
              </a:rPr>
              <a:t>“O sistema deve detectar infecções corretamente.”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49 / 70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Exemplo ponta a ponta: da spec ao código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3515258" cy="2743200"/>
          </a:xfrm>
          <a:prstGeom prst="roundRect">
            <a:avLst>
              <a:gd name="adj" fmla="val 7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3515258" cy="548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33237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31494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61E33"/>
                </a:solidFill>
                <a:latin typeface="DejaVu Sans Mono"/>
              </a:rPr>
              <a:t>critério ICSAC +
janela de 48 h
(requisito R-014)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6738" y="301752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8218" y="1965960"/>
            <a:ext cx="3515258" cy="2743200"/>
          </a:xfrm>
          <a:prstGeom prst="roundRect">
            <a:avLst>
              <a:gd name="adj" fmla="val 7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8218" y="1965960"/>
            <a:ext cx="3515258" cy="5486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2011680"/>
            <a:ext cx="333237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TESTE gerado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1098" y="2788920"/>
            <a:ext cx="31494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61E33"/>
                </a:solidFill>
                <a:latin typeface="DejaVu Sans Mono"/>
              </a:rPr>
              <a:t>test_r014_janela_48h
confere as bordas
da janela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6316" y="301752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1965960"/>
            <a:ext cx="3515258" cy="2743200"/>
          </a:xfrm>
          <a:prstGeom prst="roundRect">
            <a:avLst>
              <a:gd name="adj" fmla="val 7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7796" y="1965960"/>
            <a:ext cx="3515258" cy="54864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2011680"/>
            <a:ext cx="333237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IMPLEMENTAÇÃO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0676" y="2788920"/>
            <a:ext cx="31494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61E33"/>
                </a:solidFill>
                <a:latin typeface="DejaVu Sans Mono"/>
              </a:rPr>
              <a:t>avaliar_icsac()
derivada da spec,
não o contrário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8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892040"/>
            <a:ext cx="109728" cy="100584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92040"/>
            <a:ext cx="10500055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Rastreabilidade: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R-014 → test_r014_janela_48h → avaliar_icsac().  O teste nasceu do CRITÉRIO, não do código — por isso não herda os bugs da implementação.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50 / 70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Ferramental de SDD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GitHub Spec Kit.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Comandos /specify, /plan, /tasks, /implement — o ciclo do S46 como fluxo de trabalho.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Kiro.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Organiza requirements.md, design.md e tasks.md no repositório.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Tessl.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Outra aposta no mesmo princípio: a spec como artefato primário.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Feche a promessa do S33: specs/ + AGENTS.md + pacote OKF no MESMO repositório.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que o sistema faz, como se trabalha nele e o domínio que ele modela — tudo markdown versionado.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51 / 70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Onde o SDD encontra os agentes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2331720" cy="118872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103120"/>
            <a:ext cx="2331720" cy="1463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4F46E5"/>
                </a:solidFill>
                <a:latin typeface="Liberation Sans"/>
              </a:rPr>
              <a:t>Especificador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799" y="2468879"/>
            <a:ext cx="548640" cy="457200"/>
          </a:xfrm>
          <a:prstGeom prst="roundRect">
            <a:avLst>
              <a:gd name="adj" fmla="val 2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2487168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1" i="0">
                <a:solidFill>
                  <a:srgbClr val="059669"/>
                </a:solidFill>
                <a:latin typeface="Liberation Sans"/>
              </a:rPr>
              <a:t>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59" y="2103120"/>
            <a:ext cx="2331720" cy="118872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59" y="2103120"/>
            <a:ext cx="2331720" cy="146304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59" y="242316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283C9"/>
                </a:solidFill>
                <a:latin typeface="Liberation Sans"/>
              </a:rPr>
              <a:t>Arquiteto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599" y="2468879"/>
            <a:ext cx="548640" cy="457200"/>
          </a:xfrm>
          <a:prstGeom prst="roundRect">
            <a:avLst>
              <a:gd name="adj" fmla="val 2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16167" y="2487168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1" i="0">
                <a:solidFill>
                  <a:srgbClr val="059669"/>
                </a:solidFill>
                <a:latin typeface="Liberation Sans"/>
              </a:rPr>
              <a:t>GATE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59" y="2103120"/>
            <a:ext cx="2331720" cy="1188720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59" y="2103120"/>
            <a:ext cx="2331720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59" y="242316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D9488"/>
                </a:solidFill>
                <a:latin typeface="Liberation Sans"/>
              </a:rPr>
              <a:t>Implementador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2468879"/>
            <a:ext cx="548640" cy="457200"/>
          </a:xfrm>
          <a:prstGeom prst="roundRect">
            <a:avLst>
              <a:gd name="adj" fmla="val 2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87967" y="2487168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1" i="0">
                <a:solidFill>
                  <a:srgbClr val="059669"/>
                </a:solidFill>
                <a:latin typeface="Liberation Sans"/>
              </a:rPr>
              <a:t>GATE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59" y="2103120"/>
            <a:ext cx="2331720" cy="118872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09759" y="2103120"/>
            <a:ext cx="2331720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59" y="242316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59669"/>
                </a:solidFill>
                <a:latin typeface="Liberation Sans"/>
              </a:rPr>
              <a:t>Verificador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49039"/>
            <a:ext cx="11094415" cy="78333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49039"/>
            <a:ext cx="109728" cy="7833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749039"/>
            <a:ext cx="10545775" cy="783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46E5"/>
                </a:solidFill>
                <a:latin typeface="Liberation Sans"/>
              </a:rPr>
              <a:t>Contexto isolado por etapa, e o GATE em código DETERMINÍSTICO — não em outro modelo.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  Verificar com um segundo LLM só empilha incerteza; o portão tem que ser código que passa ou não passa.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660392"/>
            <a:ext cx="11094415" cy="783336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660392"/>
            <a:ext cx="109728" cy="783336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60392"/>
            <a:ext cx="10545775" cy="783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9D58"/>
                </a:solidFill>
                <a:latin typeface="Liberation Sans"/>
              </a:rPr>
              <a:t>Feche o S28: o monólito de 20 passos tem 36% de sucesso; a cadeia com gate se comporta de forma inteiramente diferente — o erro não se propaga.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71744"/>
            <a:ext cx="11094415" cy="783336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571744"/>
            <a:ext cx="109728" cy="783336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571744"/>
            <a:ext cx="10545775" cy="783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6A00"/>
                </a:solidFill>
                <a:latin typeface="Liberation Sans"/>
              </a:rPr>
              <a:t>É isto que vou mostrar rodando no Bloco 11: um gerador cujo portão determinístico pega o erro do agente ANTES do deploy.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52 / 70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SDD entrega o artefato regulatório de graça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4F46E5"/>
                </a:solidFill>
                <a:latin typeface="Liberation Sans"/>
              </a:rPr>
              <a:t>Software de saúde exige rastreabilidade requisito → projeto → teste → código.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Mais gestão de risco documentada e ciclo de vida controlado: IEC 62304, ISO 14971 e a RDC da ANVISA.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Quem faz SDD JÁ TEM a matriz de rastreabilidade — como subproduto, versionada, com autoria e histórico.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06A00"/>
                </a:solidFill>
                <a:latin typeface="Liberation Sans"/>
              </a:rPr>
              <a:t>A inversão da objeção: o SDD é o que torna código gerado por IA AUDITÁVEL.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O que NÃO é auditável é código escrito à mão sem especificação.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53 / 70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9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Antipadrões: como o SDD morre na prática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Spec inflada.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Escreve o que não vai verificar. Antídoto: só entra o que tem critério de aceitação.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Spec envelhecida.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Código andou, spec não. Antídoto: CI que falha quando o código diverge da spec.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46E5"/>
                </a:solidFill>
                <a:latin typeface="Liberation Sans"/>
              </a:rPr>
              <a:t>Gate humano virado carimbo.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Aprova sem ler. Antídoto: o revisor assina o diff, não o PDF.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Spec gerada por IA e aprovada sem leitura — a PIOR.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Produz aparência de rastreabilidade sem substância. Se ninguém leu, não há SDD, há teatro.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4F46E5"/>
                </a:solidFill>
                <a:latin typeface="Liberation Sans"/>
              </a:rPr>
              <a:t>54 / 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escada da adaptação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Os degraus, do mais barato ao mais caro: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prompt → poucos exemplos (few-shot) → RAG → ajuste fino / LoRA → aprendizado por reforço → pré-treino contínuo.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06A00"/>
                </a:solidFill>
                <a:latin typeface="Liberation Sans"/>
              </a:rPr>
              <a:t>Só suba um degrau quando o anterior falhar COM EVIDÊNCIA MEDIDA.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E a evidência é o conjunto de avaliação do S20 — não o “achismo”.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Retome a seta do S4: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é aqui que se faz “o transplante em cima do modelo pronto” que prometi no começo.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55 / 70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Ajuste fino (SFT) e os dados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6035040" cy="2706624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10312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10312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10312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377440"/>
            <a:ext cx="5486400" cy="21579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{"messages": [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{"role": "system",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 "content": "Você classifica critérios de IRAS."},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{"role": "user",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 "content": "&lt;evolução clínica...&gt;"},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{"role": "assistant",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   "content": "{criterio: ..., atendido: true}"}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AEFFA"/>
                </a:solidFill>
                <a:latin typeface="DejaVu Sans Mono"/>
              </a:rPr>
              <a:t>]}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920240"/>
            <a:ext cx="49222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192024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79" y="1920240"/>
            <a:ext cx="43735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59669"/>
                </a:solidFill>
                <a:latin typeface="Liberation Sans"/>
              </a:rPr>
              <a:t>Ajuste fino supervisionado = ensinar por exemplos rotulados.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O formato é JSONL: cada linha é uma conversa completa (sistema, usuário, resposta).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3099816"/>
            <a:ext cx="49222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20840" y="309981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79" y="3099816"/>
            <a:ext cx="43735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F9D58"/>
                </a:solidFill>
                <a:latin typeface="Liberation Sans"/>
              </a:rPr>
              <a:t>500 a 5.000 exemplos BEM curados superam 100 mil sujos.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Qualidade vence quantidade — de longe.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4279392"/>
            <a:ext cx="49222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20840" y="4279392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79" y="4279392"/>
            <a:ext cx="43735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06A00"/>
                </a:solidFill>
                <a:latin typeface="Liberation Sans"/>
              </a:rPr>
              <a:t>O custo real de um dataset clínico é tempo de infectologista, não GPU.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56 / 70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LoRA e QLoRA: ajuste fino que cabe numa GPU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6126480" cy="2414016"/>
          </a:xfrm>
          <a:prstGeom prst="roundRect">
            <a:avLst>
              <a:gd name="adj" fmla="val 5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103120"/>
            <a:ext cx="109728" cy="109728"/>
          </a:xfrm>
          <a:prstGeom prst="ellipse">
            <a:avLst/>
          </a:prstGeom>
          <a:solidFill>
            <a:srgbClr val="F2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103120"/>
            <a:ext cx="109728" cy="109728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103120"/>
            <a:ext cx="109728" cy="109728"/>
          </a:xfrm>
          <a:prstGeom prst="ellipse">
            <a:avLst/>
          </a:prstGeom>
          <a:solidFill>
            <a:srgbClr val="62C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377440"/>
            <a:ext cx="5577840" cy="18653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LoraConfig(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r=16,            # posto: quão “grande” é o remendo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lora_alpha=32,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lora_dropout=0.05,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target_modules=["q_proj","k_proj",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                "v_proj","o_proj"],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AEFFA"/>
                </a:solidFill>
                <a:latin typeface="DejaVu Sans Mono"/>
              </a:rPr>
              <a:t>  task_type="CAUSAL_LM")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1920240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12280" y="192024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920240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59669"/>
                </a:solidFill>
                <a:latin typeface="Liberation Sans"/>
              </a:rPr>
              <a:t>A ideia: congela o modelo W e treina só um remendo pequeno (ΔW = B·A).</a:t>
            </a:r>
            <a:r>
              <a:rPr sz="1400" b="0" i="0">
                <a:solidFill>
                  <a:srgbClr val="161E33"/>
                </a:solidFill>
                <a:latin typeface="Liberation Sans"/>
              </a:rPr>
              <a:t>  Treina 0,1–1% dos parâmetros — daí caber numa GPU de consumo.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3099816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12280" y="309981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3099816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59669"/>
                </a:solidFill>
                <a:latin typeface="Liberation Sans"/>
              </a:rPr>
              <a:t>QLoRA: base em 4 bits + adaptadores em precisão maior.</a:t>
            </a:r>
            <a:r>
              <a:rPr sz="1400" b="0" i="0">
                <a:solidFill>
                  <a:srgbClr val="161E33"/>
                </a:solidFill>
                <a:latin typeface="Liberation Sans"/>
              </a:rPr>
              <a:t>  É o que permite ajustar um modelo grande em 24 GB.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4279392"/>
            <a:ext cx="483077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2280" y="427939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4279392"/>
            <a:ext cx="428213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9D58"/>
                </a:solidFill>
                <a:latin typeface="Liberation Sans"/>
              </a:rPr>
              <a:t>Vantagem operacional: adaptadores são arquivos de dezenas de MB — versionáveis e trocáveis em runtime.</a:t>
            </a:r>
            <a:r>
              <a:rPr sz="1400" b="0" i="0">
                <a:solidFill>
                  <a:srgbClr val="161E33"/>
                </a:solidFill>
                <a:latin typeface="Liberation Sans"/>
              </a:rPr>
              <a:t>  Um adaptador por especialidade, a MESMA base (pode ser o Qwen3.8-27B do S12).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57 / 70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RLHF e sucessores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RLHF = aprendizado por reforço com feedback humano.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Comparações humanas → modelo de recompensa → otimização por reforço (PPO).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Sucessores: DPO (sem modelo de recompensa), GRPO (raciocínio), RLAIF / IA Constitucional.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Por que importa mesmo sem treinar: explica o comportamento do modelo que vocês CONSOMEM.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Bajulação, recusa e excesso de ressalvas são artefatos do alinhamento — não do pré-treino.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58 / 70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10 · ADAPTAÇÃO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Quando NÃO treinar, e o modelo local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00"/>
                </a:solidFill>
                <a:latin typeface="Liberation Sans"/>
              </a:rPr>
              <a:t>Não treine com conhecimento volátil (protocolo muda → use RAG), tarefa que muda toda semana, ou sem avaliação.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Custos ocultos: esquecimento catastrófico e manutenção perpétua do modelo derivado.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59669"/>
                </a:solidFill>
                <a:latin typeface="Liberation Sans"/>
              </a:rPr>
              <a:t>O modelo LOCAL (retomando o S12): quantização (GGUF, AWQ) + runtimes (LM Studio, vLLM, Ollama).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Três argumentos que fecham a palestra técnica: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dado do paciente não sai da rede · custo marginal previsível · independência de fornecedor.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59669"/>
                </a:solidFill>
                <a:latin typeface="Liberation Sans"/>
              </a:rPr>
              <a:t>59 / 70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Ponte: o Co-Scientist e o domínio de vocês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C3AED"/>
                </a:solidFill>
                <a:latin typeface="Liberation Sans"/>
              </a:rPr>
              <a:t>O AI Co-Scientist da Google foi validado em laboratório (Nature, 2026) em três cenários.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Repurposing de fármaco para leucemia · alvos para fibrose hepática · e um mecanismo de RESISTÊNCIA ANTIMICROBIANA.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C3AED"/>
                </a:solidFill>
                <a:latin typeface="Liberation Sans"/>
              </a:rPr>
              <a:t>O caso de RAM, nas palavras deles: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com pouca informação de fundo, o sistema propôs — sozinho — que os cf-PICIs carregam genes de resistência entre espécies, incluindo E. coli e K. pneumoniae.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Isso recapitulou um achado experimental AINDA NÃO PUBLICADO — uma década de bancada.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O segundo sistema que vou mostrar foi validado, na origem, exatamente no problema de vocês.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60 / 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LangNet: arquitetura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2103120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Intenção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258568"/>
            <a:ext cx="347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1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07791" y="1965960"/>
            <a:ext cx="2103120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Especificação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58568"/>
            <a:ext cx="347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66944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66944" y="1965960"/>
            <a:ext cx="2103120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Plano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1775" y="2258568"/>
            <a:ext cx="347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6095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26095" y="1965960"/>
            <a:ext cx="2103120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17535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7C3AED"/>
                </a:solidFill>
                <a:latin typeface="Liberation Sans"/>
              </a:rPr>
              <a:t>Geração de código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0927" y="2258568"/>
            <a:ext cx="347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A667E"/>
                </a:solidFill>
                <a:latin typeface="Liberation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85247" y="196596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985247" y="1965960"/>
            <a:ext cx="2103120" cy="12801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6687" y="2240279"/>
            <a:ext cx="19202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59669"/>
                </a:solidFill>
                <a:latin typeface="Liberation Sans"/>
              </a:rPr>
              <a:t>Verificação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383280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38328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383280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Modelo local no centro: Qwen2.5-Coder-32B via LM Studio, contexto de 64 mil tokens; framework CrewAI.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Com avaliação em curso do Qwen3.8-27B — por visão, uso de ferramentas e raciocínio, sem perder geração de código.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56285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62856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56285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Amarre com o S12: o modelo em avaliação roda em 24 GB e é o melhor denso multimodal da faixa.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argumento inteiro do LangNet só existe porque essa faixa chegou a esse patamar em 2026.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61 / 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LangNet: evidência medida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Cobertura de rastreabilidade: 100%.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Todos os requisitos funcionais atravessam Spec → Modelo de Dados → Implementação, medido por PORTÃO DETERMINÍSTICO — não por confiança no modelo.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C3AED"/>
                </a:solidFill>
                <a:latin typeface="Liberation Sans"/>
              </a:rPr>
              <a:t>Suíte de tarefas geradas: 100% executando ponta a ponta.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Contra banco real — núcleo determinístico + tarefas com agente (laudo, extração de documento).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~10 defeitos do gerador capturados pelo portão ANTES do deploy.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Variável indefinida, coluna inexistente, junção espacial faltante — cada um com o salto exato onde quebrava.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94360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943600"/>
            <a:ext cx="109728" cy="685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943600"/>
            <a:ext cx="1050005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161E33"/>
                </a:solidFill>
                <a:latin typeface="Liberation Sans"/>
              </a:rPr>
              <a:t>O número não é a taxa de acerto do modelo — é a taxa em que o portão </a:t>
            </a:r>
            <a:r>
              <a:rPr sz="1550" b="1" i="0">
                <a:solidFill>
                  <a:srgbClr val="7C3AED"/>
                </a:solidFill>
                <a:latin typeface="Liberation Sans"/>
              </a:rPr>
              <a:t>pega o erro antes de virar produção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. É o S50 acontecendo. (Remeça no exemplo clínico do vídeo.)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62 / 70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DEMONSTRAÇÃO GRAVADA: da spec à aplicação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120640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56816"/>
            <a:ext cx="5120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Liberation Sans"/>
              </a:rPr>
              <a:t>▶  VÍDEO — até 3 min, sem áudio, legendas grandes</a:t>
            </a:r>
          </a:p>
        </p:txBody>
      </p:sp>
      <p:sp>
        <p:nvSpPr>
          <p:cNvPr id="11" name="Oval 10"/>
          <p:cNvSpPr/>
          <p:nvPr/>
        </p:nvSpPr>
        <p:spPr>
          <a:xfrm>
            <a:off x="2697480" y="3246120"/>
            <a:ext cx="914400" cy="9144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667E"/>
                </a:solidFill>
                <a:latin typeface="Liberation Sans"/>
              </a:rPr>
              <a:t>(inserir a gravação da tela do LangNet)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65960"/>
            <a:ext cx="565373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1. você escreve uma spec curta (15–20 linhas) — deixe na tela para ler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2. geração do plano e das tarefas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3. app completo: modelo de dados, lógica, API e </a:t>
            </a:r>
            <a:r>
              <a:rPr sz="1500" b="1" i="0">
                <a:solidFill>
                  <a:srgbClr val="7C3AED"/>
                </a:solidFill>
                <a:latin typeface="Liberation Sans"/>
              </a:rPr>
              <a:t>interface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4. execução da suíte derivada dos critérios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5. uma falha de teste e a correção — </a:t>
            </a:r>
            <a:r>
              <a:rPr sz="1500" b="1" i="0">
                <a:solidFill>
                  <a:srgbClr val="E06A00"/>
                </a:solidFill>
                <a:latin typeface="Liberation Sans"/>
              </a:rPr>
              <a:t>não corte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6. a aplicação rodando com a interface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C3AED"/>
                </a:solidFill>
                <a:latin typeface="Liberation Sans"/>
              </a:rPr>
              <a:t>● 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7. volta à spec, com o </a:t>
            </a:r>
            <a:r>
              <a:rPr sz="1500" b="1" i="0">
                <a:solidFill>
                  <a:srgbClr val="0F9D58"/>
                </a:solidFill>
                <a:latin typeface="Liberation Sans"/>
              </a:rPr>
              <a:t>portão de rastreabilidade VERDE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63 / 70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Como funciona o AI Co-Scientist (Nature, 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62_coscient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847" y="1737360"/>
            <a:ext cx="9054000" cy="466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64 / 70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nossa replicação: QuanticaResearch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7C3AED"/>
                </a:solidFill>
                <a:latin typeface="Liberation Sans"/>
              </a:rPr>
              <a:t>O que MANTIVEMOS do paper (no código).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Os 6 agentes + Supervisor em LangGraph; torneio Elo (nota inicial 1200, K=32), debate multi-turno guiado pelo grafo de proximidade; meta-revisão realimentando os prompts.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7C3AED"/>
                </a:solidFill>
                <a:latin typeface="Liberation Sans"/>
              </a:rPr>
              <a:t>O que MUDAMOS, e por quê (aqui está a engenharia).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LLM agnóstico de fornecedor — inclusive LOCAL (Ollama, LM Studio) — no lugar do “só Gemini”; fila durável própria (FastAPI + MariaDB) no lugar do agendador do Google; grafo de proximidade com NetworkX + Louvain.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F9D58"/>
                </a:solidFill>
                <a:latin typeface="Liberation Sans"/>
              </a:rPr>
              <a:t>Resultado exercitado (run UC-10).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Rodou ponta a ponta: revisão de literatura + 4 hipóteses + 1º torneio + 1ª meta-revisão, em ~2,8 h com DeepSeek.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FC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E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06A00"/>
                </a:solidFill>
                <a:latin typeface="Liberation Sans"/>
              </a:rPr>
              <a:t>Honestidade: réplica funcional PRONTA PARA PILOTO, não produção.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A sincronização com o banco ainda tem um bug conhecido (alfa).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65 / 70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11 ·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camada que amarra tudo: Redes de Petri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C3AED"/>
                </a:solidFill>
                <a:latin typeface="Liberation Sans"/>
              </a:rPr>
              <a:t>VisualTasksExec: sincroniza agentes com propriedades VERIFICÁVEIS.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Ausência de deadlock (travamento), alcançabilidade, invariantes de estado — provados na estrutura, não testados por amostragem.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C3AED"/>
                </a:solidFill>
                <a:latin typeface="Liberation Sans"/>
              </a:rPr>
              <a:t>Feche o arco inteiro da palestra: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o S28 mostrou que agentes degradam de forma previsível; o S50, que gates cortam a cadeia; o S30, que nenhum protocolo expressa governança; o S62, um sistema que se autoavalia por 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9D58"/>
                </a:solidFill>
                <a:latin typeface="Liberation Sans"/>
              </a:rPr>
              <a:t>Mas o Elo mede qualidade de HIPÓTESE, não corretude de EXECUÇÃO.</a:t>
            </a:r>
            <a:r>
              <a:rPr sz="1550" b="0" i="0">
                <a:solidFill>
                  <a:srgbClr val="161E33"/>
                </a:solidFill>
                <a:latin typeface="Liberation Sans"/>
              </a:rPr>
              <a:t>  As Redes de Petri mostram que a estrutura da orquestração pode ser VERIFICADA FORMALMENTE — não apenas testada ou pontuada.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7C3AED"/>
                </a:solidFill>
                <a:latin typeface="Liberation Sans"/>
              </a:rPr>
              <a:t>66 / 70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531059" cy="402336"/>
          </a:xfrm>
          <a:prstGeom prst="roundRect">
            <a:avLst>
              <a:gd name="adj" fmla="val 50000"/>
            </a:avLst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5310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12 · 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As três conclusões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5A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24128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34166"/>
                </a:solidFill>
                <a:latin typeface="Liberation Sans"/>
              </a:rPr>
              <a:t>① A capacidade virou mercadoria comum; o método, não.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O que separa os times é especificar e verificar — não o acesso ao modelo.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26664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09728" cy="1024128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34166"/>
                </a:solidFill>
                <a:latin typeface="Liberation Sans"/>
              </a:rPr>
              <a:t>② Agente sem portão degrada de forma previsível.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Confiabilidade vem de reduzir passos não verificados (S28, S50).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78808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78808"/>
            <a:ext cx="109728" cy="1024128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34166"/>
                </a:solidFill>
                <a:latin typeface="Liberation Sans"/>
              </a:rPr>
              <a:t>③ A especificação executável é o que torna código de IA auditável.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E, em software de saúde, entrega o artefato regulatório de graça (S51).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30952"/>
            <a:ext cx="11094415" cy="1024128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30952"/>
            <a:ext cx="109728" cy="1024128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30952"/>
            <a:ext cx="10545775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9D58"/>
                </a:solidFill>
                <a:latin typeface="Liberation Sans"/>
              </a:rPr>
              <a:t>Recomendação acionável, uma só: construam PRIMEIRO o conjunto de avaliação (S20).</a:t>
            </a:r>
            <a:r>
              <a:rPr sz="1600" b="0" i="0">
                <a:solidFill>
                  <a:srgbClr val="161E33"/>
                </a:solidFill>
                <a:latin typeface="Liberation Sans"/>
              </a:rPr>
              <a:t>  Antes de framework, antes de agente, antes de trocar de modelo.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334166"/>
                </a:solidFill>
                <a:latin typeface="Liberation Sans"/>
              </a:rPr>
              <a:t>67 / 70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531059" cy="402336"/>
          </a:xfrm>
          <a:prstGeom prst="roundRect">
            <a:avLst>
              <a:gd name="adj" fmla="val 50000"/>
            </a:avLst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5310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12 · 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Referências e contato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5A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09728" cy="105156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334166"/>
                </a:solidFill>
                <a:latin typeface="Liberation Sans"/>
              </a:rPr>
              <a:t>Papers e specs.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Co-Scientist: Gottweis et al., Nature 2026 (s41586-026-10644-y) / arXiv 2502.18864. Specs: MCP, A2A, OKF, GitHub Spec Kit.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54096"/>
            <a:ext cx="109728" cy="105156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334166"/>
                </a:solidFill>
                <a:latin typeface="Liberation Sans"/>
              </a:rPr>
              <a:t>Modelos.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A tabela do S12, com os links — reconferida na semana da palestra.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33672"/>
            <a:ext cx="11094415" cy="1051560"/>
          </a:xfrm>
          <a:prstGeom prst="roundRect">
            <a:avLst>
              <a:gd name="adj" fmla="val 10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33672"/>
            <a:ext cx="109728" cy="105156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9D58"/>
                </a:solidFill>
                <a:latin typeface="Liberation Sans"/>
              </a:rPr>
              <a:t>Repositórios e contato.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QR do repositório do LangNet e do QuanticaResearch; seu e-mail e perfil.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A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09728" cy="27432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92824"/>
            <a:ext cx="86868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67E"/>
                </a:solidFill>
                <a:latin typeface="Liberation Sans"/>
              </a:rPr>
              <a:t>Engenharia de IA &amp; Desenvolvimento Orientado a Especificação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592824"/>
            <a:ext cx="10058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334166"/>
                </a:solidFill>
                <a:latin typeface="Liberation Sans"/>
              </a:rPr>
              <a:t>68 / 70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4846320"/>
            <a:ext cx="3657600" cy="3657600"/>
          </a:xfrm>
          <a:prstGeom prst="ellipse">
            <a:avLst/>
          </a:prstGeom>
          <a:solidFill>
            <a:srgbClr val="5A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80015" y="-1280160"/>
            <a:ext cx="3291840" cy="3291840"/>
          </a:xfrm>
          <a:prstGeom prst="ellipse">
            <a:avLst/>
          </a:prstGeom>
          <a:solidFill>
            <a:srgbClr val="5A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28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FFFF"/>
                </a:solidFill>
                <a:latin typeface="Liberation Sans"/>
              </a:rPr>
              <a:t>Perguntas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FFFFFF"/>
                </a:solidFill>
                <a:latin typeface="Liberation Sans"/>
              </a:rPr>
              <a:t>“O gargalo deixou de ser escrever código. Passou a ser especificar e verificar.”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Liberation Sans"/>
              </a:rPr>
              <a:t>Obrigado.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