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O BioByte será o caso condutor da palestra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estrutura em três movimentos: fundamentos, aplicação ao BioByte e prova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leia tudo. Mostre que haverá primeiro tecnologia, depois BioByte, depois pipeline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apenas o necessário para conectar atenção, janela de contexto e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Conecte ao DeepSeek e ao controle de custo usado no trabalho real; confirme números no ensaio.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claro: IRAS é a categoria; ICSAC é o foco clínico deste BioByte.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28016" cy="6858000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-1097280"/>
            <a:ext cx="3291840" cy="3291840"/>
          </a:xfrm>
          <a:prstGeom prst="ellipse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02975" y="5394960"/>
            <a:ext cx="2377440" cy="2377440"/>
          </a:xfrm>
          <a:prstGeom prst="ellipse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6002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PALESTRA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944849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700" b="1" i="0">
                <a:solidFill>
                  <a:srgbClr val="4F46E5"/>
                </a:solidFill>
                <a:latin typeface="Liberation Sans"/>
              </a:rPr>
              <a:t>Engenharia de IA, SDD e BioByte Sentinela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343400"/>
            <a:ext cx="237744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92656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161E33"/>
                </a:solidFill>
                <a:latin typeface="Liberation Sans"/>
              </a:rPr>
              <a:t>Do modelo à aplicação auditável: tecnologias de IA aplicadas à vigilância de IRAS.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98932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67E"/>
                </a:solidFill>
                <a:latin typeface="Liberation Sans"/>
              </a:rPr>
              <a:t>120 minutos · desenvolvedores · especificação, agentes, tarefas, Petri nets e execução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34793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23479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0 ·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tese e o método da palestra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094415" cy="1280160"/>
          </a:xfrm>
          <a:prstGeom prst="roundRect">
            <a:avLst>
              <a:gd name="adj" fmla="val 6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46304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02714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4F46E5"/>
                </a:solidFill>
                <a:latin typeface="Liberation Sans"/>
              </a:rPr>
              <a:t>O gargalo deixou de ser escrever código. </a:t>
            </a:r>
            <a:r>
              <a:rPr sz="2500" b="1" i="0">
                <a:solidFill>
                  <a:srgbClr val="0283C9"/>
                </a:solidFill>
                <a:latin typeface="Liberation Sans"/>
              </a:rPr>
              <a:t>Passou a ser especificar, orquestrar e verificar.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11094415" cy="84429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109728" cy="844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10545775" cy="84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46E5"/>
                </a:solidFill>
                <a:latin typeface="Liberation Sans"/>
              </a:rPr>
              <a:t>1. Entender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modelos, contexto, ferramentas e agentes.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38472"/>
            <a:ext cx="11094415" cy="84429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538472"/>
            <a:ext cx="109728" cy="844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38472"/>
            <a:ext cx="10545775" cy="84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46E5"/>
                </a:solidFill>
                <a:latin typeface="Liberation Sans"/>
              </a:rPr>
              <a:t>2. Aplicar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cada tecnologia ao mesmo caso BioByte.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10784"/>
            <a:ext cx="11094415" cy="84429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510784"/>
            <a:ext cx="109728" cy="844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10784"/>
            <a:ext cx="10545775" cy="84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46E5"/>
                </a:solidFill>
                <a:latin typeface="Liberation Sans"/>
              </a:rPr>
              <a:t>3. Provar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LangNet, Rede de Petri, testes e rastreabilidade.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34793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23479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0 ·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Mapa da apresentação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74519"/>
          <a:ext cx="10698480" cy="350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776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Parte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Pergunta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Tempo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O que são os modelos?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14 min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Como contexto e ferramentas funcionam?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12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Qual problema o BioByte resolve?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12 min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Como os frameworks implementam o caso?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20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Como o SDD organiza o desenvolvimento?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18 min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Como o LangNet executa e verifica?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17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O que foi demonstrado?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1E33"/>
                          </a:solidFill>
                          <a:latin typeface="Liberation Sans"/>
                        </a:rPr>
                        <a:t>17 min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Transformer: a caixa que sustenta o restante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10355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7C3AED"/>
                </a:solidFill>
                <a:latin typeface="Liberation Sans"/>
              </a:rPr>
              <a:t>tokens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texto quebrado em unidades processáveis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2374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92374"/>
            <a:ext cx="109728" cy="10355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92374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7C3AED"/>
                </a:solidFill>
                <a:latin typeface="Liberation Sans"/>
              </a:rPr>
              <a:t>atenção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cada posição decide de quais outras posições precisa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5948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55948"/>
            <a:ext cx="109728" cy="10355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55948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7C3AED"/>
                </a:solidFill>
                <a:latin typeface="Liberation Sans"/>
              </a:rPr>
              <a:t>decoder-only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o modelo prevê o próximo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19522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19522"/>
            <a:ext cx="109728" cy="10355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19522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7C3AED"/>
                </a:solidFill>
                <a:latin typeface="Liberation Sans"/>
              </a:rPr>
              <a:t>engenharia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contexto, custo, latência e qualidade nascem dessa caixa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Inferência também é engenharia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6400800" cy="237744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A"/>
                </a:solidFill>
                <a:latin typeface="DejaVu Sans Mono"/>
              </a:rPr>
              <a:t>response = model.generate(
    prompt=context + request,
    temperature=0.0,
    response_format=NHSNClassification
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965960"/>
            <a:ext cx="384048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965960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96596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C3AED"/>
                </a:solidFill>
                <a:latin typeface="Liberation Sans"/>
              </a:rPr>
              <a:t>temperatura baixa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extração e código mais determinísticos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145536"/>
            <a:ext cx="384048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3145536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45536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C3AED"/>
                </a:solidFill>
                <a:latin typeface="Liberation Sans"/>
              </a:rPr>
              <a:t>prefix caching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reaproveita texto comum e reduz custo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325112"/>
            <a:ext cx="384048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4325112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325112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C3AED"/>
                </a:solidFill>
                <a:latin typeface="Liberation Sans"/>
              </a:rPr>
              <a:t>modelo local/API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decisão depende de privacidade, latência e operação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Modelos abertos, APIs e contexto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74519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Decisão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Pergunta de engenharia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Efeito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Modelo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local, API ou híbrido?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privacidade e dependência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Contexto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o que entra na janela?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custo e qualidade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Saída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texto livre ou schema?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verificabilidade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Adaptação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prompt, RAG ou fine-tuning?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manutenção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09728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105000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283C9"/>
                </a:solidFill>
                <a:latin typeface="Liberation Sans"/>
              </a:rPr>
              <a:t>Regra: 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não escolha o modelo antes de definir a avaliação.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3617366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61736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CONTEXTO E FERRAMENTAS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Contexto, RAG e evidência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D9488"/>
                </a:solidFill>
                <a:latin typeface="Liberation Sans"/>
              </a:rPr>
              <a:t>documento clínico → recuperação → critério NHSN → classificação com evidência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11094415" cy="935736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109728" cy="935736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10545775" cy="935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283C9"/>
                </a:solidFill>
                <a:latin typeface="Liberation Sans"/>
              </a:rPr>
              <a:t>RAG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recupera a regra relevante, não um volume indiscriminado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55592"/>
            <a:ext cx="11094415" cy="935736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355592"/>
            <a:ext cx="109728" cy="935736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55592"/>
            <a:ext cx="10545775" cy="935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283C9"/>
                </a:solidFill>
                <a:latin typeface="Liberation Sans"/>
              </a:rPr>
              <a:t>evidência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todo booleano precisa apontar para o trecho que o justifica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19344"/>
            <a:ext cx="11094415" cy="935736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419344"/>
            <a:ext cx="109728" cy="935736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19344"/>
            <a:ext cx="10545775" cy="935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283C9"/>
                </a:solidFill>
                <a:latin typeface="Liberation Sans"/>
              </a:rPr>
              <a:t>falha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ausência de evidência é diferente de serviço indisponível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3617366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61736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CONTEXTO E FERRAMENTAS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Saída estruturada como contrato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498079" cy="274320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6949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A"/>
                </a:solidFill>
                <a:latin typeface="DejaVu Sans Mono"/>
              </a:rPr>
              <a:t>class NHSNClassification(BaseModel):
    classification: Literal["confirmed", "discarded", "pending"]
    evidence: list[str]
    justification: str
    confidence: float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05740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2057400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05740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283C9"/>
                </a:solidFill>
                <a:latin typeface="Liberation Sans"/>
              </a:rPr>
              <a:t>não pedir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“dê um parecer”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236976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236976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3236976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283C9"/>
                </a:solidFill>
                <a:latin typeface="Liberation Sans"/>
              </a:rPr>
              <a:t>pedir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classificação + evidência + justificativa + confiança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3617366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61736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CONTEXTO E FERRAMENTAS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MCP: a ferramenta tem contrato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6400800" cy="320040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5852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A"/>
                </a:solidFill>
                <a:latin typeface="DejaVu Sans Mono"/>
              </a:rPr>
              <a:t>{
  "name": "consultar_microbiologia",
  "inputSchema": {
    "type": "object",
    "properties": {"paciente_id": {"type": "string"}},
    "required": ["paciente_id"]
 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01168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2011680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011680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283C9"/>
                </a:solidFill>
                <a:latin typeface="Liberation Sans"/>
              </a:rPr>
              <a:t>modelo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pede a chamada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191256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191256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191256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283C9"/>
                </a:solidFill>
                <a:latin typeface="Liberation Sans"/>
              </a:rPr>
              <a:t>servidor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valida parâmetros e executa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370832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4370832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370832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283C9"/>
                </a:solidFill>
                <a:latin typeface="Liberation Sans"/>
              </a:rPr>
              <a:t>sistema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registra resultado, erro e latência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3 · BIOBYTE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BioByte Sentinela: o problema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D9488"/>
                </a:solidFill>
                <a:latin typeface="Liberation Sans"/>
              </a:rPr>
              <a:t>Vigilância de IRAS — foco em ICSAC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94415" cy="7955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09728" cy="7955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545775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risco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priorizar pacientes com escore de Cox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12464"/>
            <a:ext cx="11094415" cy="7955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12464"/>
            <a:ext cx="109728" cy="7955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4"/>
            <a:ext cx="10545775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microbiologia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consultar hemocultura e antibiograma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36008"/>
            <a:ext cx="11094415" cy="7955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36008"/>
            <a:ext cx="109728" cy="7955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8"/>
            <a:ext cx="10545775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NHSN/ICSAC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classificar o caso com evidências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59552"/>
            <a:ext cx="11094415" cy="7955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559552"/>
            <a:ext cx="109728" cy="7955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59552"/>
            <a:ext cx="10545775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MDR e conduta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alertar, recomendar bundle e registrar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3 · BIOBYTE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fluxo clínico do BioByte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D9488"/>
                </a:solidFill>
                <a:latin typeface="Liberation Sans"/>
              </a:rPr>
              <a:t>fatores de risco</a:t>
            </a:r>
            <a:r>
              <a:rPr sz="2100" b="0" i="0">
                <a:solidFill>
                  <a:srgbClr val="161E33"/>
                </a:solidFill>
                <a:latin typeface="Liberation Sans"/>
              </a:rPr>
              <a:t>  →  microbiologia  →  NHSN/ICSAC  →  MDR
</a:t>
            </a:r>
            <a:r>
              <a:rPr sz="2100" b="0" i="0">
                <a:solidFill>
                  <a:srgbClr val="161E33"/>
                </a:solidFill>
                <a:latin typeface="Liberation Sans"/>
              </a:rPr>
              <a:t>  →  alerta  →  bundle/conduta  →  risco de Cox
</a:t>
            </a:r>
            <a:r>
              <a:rPr sz="2100" b="1" i="0">
                <a:solidFill>
                  <a:srgbClr val="0D9488"/>
                </a:solidFill>
                <a:latin typeface="Liberation Sans"/>
              </a:rPr>
              <a:t>  →  relatório 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109728" cy="7315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5000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D9488"/>
                </a:solidFill>
                <a:latin typeface="Liberation Sans"/>
              </a:rPr>
              <a:t>Caso condutor: 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classificar um caso segundo NHSN e registrar a justificativa para revisão da CCIH.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3 · BIOBYTE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UC-004 — Classificar caso segundo NHSN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57400"/>
          <a:ext cx="106984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Entrada</a:t>
                      </a:r>
                    </a:p>
                  </a:txBody>
                  <a:tcPr anchor="ctr" marL="73152" marR="73152" marT="27432" marB="2743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Processamento</a:t>
                      </a:r>
                    </a:p>
                  </a:txBody>
                  <a:tcPr anchor="ctr" marL="73152" marR="73152" marT="27432" marB="2743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Saída</a:t>
                      </a:r>
                    </a:p>
                  </a:txBody>
                  <a:tcPr anchor="ctr" marL="73152" marR="73152" marT="27432" marB="27432">
                    <a:solidFill>
                      <a:srgbClr val="0D948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paciente, evolução, hemocultura, cateter e datas</a:t>
                      </a:r>
                    </a:p>
                  </a:txBody>
                  <a:tcPr anchor="ctr" marL="73152" marR="73152" marT="18288" marB="18288">
                    <a:solidFill>
                      <a:srgbClr val="E1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consultar microbiologia; aplicar critérios; localizar evidências</a:t>
                      </a:r>
                    </a:p>
                  </a:txBody>
                  <a:tcPr anchor="ctr" marL="73152" marR="73152" marT="18288" marB="18288">
                    <a:solidFill>
                      <a:srgbClr val="E1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confirmada, descartada ou pendente; justificativa e confiança</a:t>
                      </a:r>
                    </a:p>
                  </a:txBody>
                  <a:tcPr anchor="ctr" marL="73152" marR="73152" marT="18288" marB="18288">
                    <a:solidFill>
                      <a:srgbClr val="E1F5F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794760"/>
            <a:ext cx="11094415" cy="768095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109728" cy="76809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10545775" cy="768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Fonte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documento de requisitos/especificação do BioByte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90872"/>
            <a:ext cx="11094415" cy="768095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90872"/>
            <a:ext cx="109728" cy="76809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90872"/>
            <a:ext cx="10545775" cy="768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Critério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a saída só é válida se trouxer evidência citada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86983"/>
            <a:ext cx="11094415" cy="768095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86983"/>
            <a:ext cx="109728" cy="76809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86983"/>
            <a:ext cx="10545775" cy="768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Liberation Sans"/>
              </a:rPr>
              <a:t>Próximo passo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o mesmo contrato será implementado em vários frameworks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laço agêntico mínimo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406640" cy="301752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6858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A"/>
                </a:solidFill>
                <a:latin typeface="DejaVu Sans Mono"/>
              </a:rPr>
              <a:t>while not done:
    context = observe(state)
    decision = llm(context, tools, schema)
    if decision.calls_tool:
        state = execute(decision.tool_call)
    else:
        return validate(decision.output)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05740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205740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19" y="205740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059669"/>
                </a:solidFill>
                <a:latin typeface="Liberation Sans"/>
              </a:rPr>
              <a:t>agente</a:t>
            </a:r>
            <a:r>
              <a:rPr sz="1430" b="0" i="0">
                <a:solidFill>
                  <a:srgbClr val="161E33"/>
                </a:solidFill>
                <a:latin typeface="Liberation Sans"/>
              </a:rPr>
              <a:t>  modelo + ferramentas + ambiente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236976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23697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19" y="3236976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059669"/>
                </a:solidFill>
                <a:latin typeface="Liberation Sans"/>
              </a:rPr>
              <a:t>risco</a:t>
            </a:r>
            <a:r>
              <a:rPr sz="1430" b="0" i="0">
                <a:solidFill>
                  <a:srgbClr val="161E33"/>
                </a:solidFill>
                <a:latin typeface="Liberation Sans"/>
              </a:rPr>
              <a:t>  passos não verificados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416552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4416552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19" y="4416552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059669"/>
                </a:solidFill>
                <a:latin typeface="Liberation Sans"/>
              </a:rPr>
              <a:t>controle</a:t>
            </a:r>
            <a:r>
              <a:rPr sz="1430" b="0" i="0">
                <a:solidFill>
                  <a:srgbClr val="161E33"/>
                </a:solidFill>
                <a:latin typeface="Liberation Sans"/>
              </a:rPr>
              <a:t>  schema, limite, retry e aprovação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LangChain no UC-004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772400" cy="320040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7223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A"/>
                </a:solidFill>
                <a:latin typeface="DejaVu Sans Mono"/>
              </a:rPr>
              <a:t>chain = (
    prompt
    | llm.with_structured_output(NHSNClassification)
)
result = chain.invoke({
    "patient": patient,
    "microbiology": microbiology,
    "criteria": icsac_criteria
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57400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205740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59669"/>
                </a:solidFill>
                <a:latin typeface="Liberation Sans"/>
              </a:rPr>
              <a:t>controla</a:t>
            </a:r>
            <a:r>
              <a:rPr sz="1370" b="0" i="0">
                <a:solidFill>
                  <a:srgbClr val="161E33"/>
                </a:solidFill>
                <a:latin typeface="Liberation Sans"/>
              </a:rPr>
              <a:t>  composição de componentes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236976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323697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236976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59669"/>
                </a:solidFill>
                <a:latin typeface="Liberation Sans"/>
              </a:rPr>
              <a:t>não resolve sozinho</a:t>
            </a:r>
            <a:r>
              <a:rPr sz="1370" b="0" i="0">
                <a:solidFill>
                  <a:srgbClr val="161E33"/>
                </a:solidFill>
                <a:latin typeface="Liberation Sans"/>
              </a:rPr>
              <a:t>  durabilidade e governança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416552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416552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416552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59669"/>
                </a:solidFill>
                <a:latin typeface="Liberation Sans"/>
              </a:rPr>
              <a:t>BioByte</a:t>
            </a:r>
            <a:r>
              <a:rPr sz="1370" b="0" i="0">
                <a:solidFill>
                  <a:srgbClr val="161E33"/>
                </a:solidFill>
                <a:latin typeface="Liberation Sans"/>
              </a:rPr>
              <a:t>  retriever + modelo +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8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09728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05000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06A00"/>
                </a:solidFill>
                <a:latin typeface="Liberation Sans"/>
              </a:rPr>
              <a:t>EXEMPLO DIDÁTICO — </a:t>
            </a:r>
            <a:r>
              <a:rPr sz="1400" b="0" i="0">
                <a:solidFill>
                  <a:srgbClr val="161E33"/>
                </a:solidFill>
                <a:latin typeface="Liberation Sans"/>
              </a:rPr>
              <a:t>não é afirmação de que esta chamada isolada seja o runtime completo.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LangGraph no UC-004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772400" cy="347472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7223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graph.add_node("consultar_microbiologia", fetch_microbiology)
graph.add_node("classificar_icsac", classify_case)
graph.add_node("validar_evidencias", validate_evidence)
graph.add_node("aprovar", human_review)
graph.add_edge("consultar_microbiologia", "classificar_icsac")
graph.add_edge("classificar_icsac", "validar_evidencias")
graph.add_edge("validar_evidencias", "aprovar")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148840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214884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48840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59669"/>
                </a:solidFill>
                <a:latin typeface="Liberation Sans"/>
              </a:rPr>
              <a:t>controla</a:t>
            </a:r>
            <a:r>
              <a:rPr sz="1370" b="0" i="0">
                <a:solidFill>
                  <a:srgbClr val="161E33"/>
                </a:solidFill>
                <a:latin typeface="Liberation Sans"/>
              </a:rPr>
              <a:t>  estado e transições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328416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332841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328416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59669"/>
                </a:solidFill>
                <a:latin typeface="Liberation Sans"/>
              </a:rPr>
              <a:t>ganho</a:t>
            </a:r>
            <a:r>
              <a:rPr sz="1370" b="0" i="0">
                <a:solidFill>
                  <a:srgbClr val="161E33"/>
                </a:solidFill>
                <a:latin typeface="Liberation Sans"/>
              </a:rPr>
              <a:t>  checkpoint e interrupção humana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507992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507992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507992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59669"/>
                </a:solidFill>
                <a:latin typeface="Liberation Sans"/>
              </a:rPr>
              <a:t>BioByte</a:t>
            </a:r>
            <a:r>
              <a:rPr sz="1370" b="0" i="0">
                <a:solidFill>
                  <a:srgbClr val="161E33"/>
                </a:solidFill>
                <a:latin typeface="Liberation Sans"/>
              </a:rPr>
              <a:t>  classificação não sai sem revisão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CrewAI: agente e tarefa do BioByte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8046720" cy="347472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7498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nhsn_classifier_agent:
  role: Especialista em classificação de ICSAC
  goal: Classificar casos segundo NHSN com evidências
classify_case_nhsn:
  agent: nhsn_classifier_agent
  execution: agent
  traceability: {uc: UC-004, fr: [FR-003]}
  expected_output: classificação + evidências + justificativa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5740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205740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057400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59669"/>
                </a:solidFill>
                <a:latin typeface="Liberation Sans"/>
              </a:rPr>
              <a:t>modelo mental</a:t>
            </a:r>
            <a:r>
              <a:rPr sz="1320" b="0" i="0">
                <a:solidFill>
                  <a:srgbClr val="161E33"/>
                </a:solidFill>
                <a:latin typeface="Liberation Sans"/>
              </a:rPr>
              <a:t>  organização por papéis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236976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323697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3236976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59669"/>
                </a:solidFill>
                <a:latin typeface="Liberation Sans"/>
              </a:rPr>
              <a:t>valor</a:t>
            </a:r>
            <a:r>
              <a:rPr sz="1320" b="0" i="0">
                <a:solidFill>
                  <a:srgbClr val="161E33"/>
                </a:solidFill>
                <a:latin typeface="Liberation Sans"/>
              </a:rPr>
              <a:t>  role, goal, task e expected_output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416552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4416552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4416552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59669"/>
                </a:solidFill>
                <a:latin typeface="Liberation Sans"/>
              </a:rPr>
              <a:t>limite</a:t>
            </a:r>
            <a:r>
              <a:rPr sz="1320" b="0" i="0">
                <a:solidFill>
                  <a:srgbClr val="161E33"/>
                </a:solidFill>
                <a:latin typeface="Liberation Sans"/>
              </a:rPr>
              <a:t>  backstory não substitui contrato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8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09728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05000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00"/>
                </a:solidFill>
                <a:latin typeface="Liberation Sans"/>
              </a:rPr>
              <a:t>EXEMPLO BASEADO NO CONTRATO DO BIOBYTE — </a:t>
            </a:r>
            <a:r>
              <a:rPr sz="1300" b="0" i="0">
                <a:solidFill>
                  <a:srgbClr val="161E33"/>
                </a:solidFill>
                <a:latin typeface="Liberation Sans"/>
              </a:rPr>
              <a:t>validar no artefato gerado antes de chamar de execução real.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AutoGen/AG2: classificador, revisor e humano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772400" cy="320040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7223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A"/>
                </a:solidFill>
                <a:latin typeface="DejaVu Sans Mono"/>
              </a:rPr>
              <a:t>classifier = AssistantAgent(
  name="nhsn_classifier",
  system_message="Classifique e cite evidências."
)
reviewer = AssistantAgent(
  name="evidence_reviewer",
  system_message="Verifique a justificativa."
)
team = GroupChat([classifier, reviewer, human])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148840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214884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48840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59669"/>
                </a:solidFill>
                <a:latin typeface="Liberation Sans"/>
              </a:rPr>
              <a:t>forte</a:t>
            </a:r>
            <a:r>
              <a:rPr sz="1340" b="0" i="0">
                <a:solidFill>
                  <a:srgbClr val="161E33"/>
                </a:solidFill>
                <a:latin typeface="Liberation Sans"/>
              </a:rPr>
              <a:t>  exploração e revisão conversacional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328416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332841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328416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59669"/>
                </a:solidFill>
                <a:latin typeface="Liberation Sans"/>
              </a:rPr>
              <a:t>risco</a:t>
            </a:r>
            <a:r>
              <a:rPr sz="1340" b="0" i="0">
                <a:solidFill>
                  <a:srgbClr val="161E33"/>
                </a:solidFill>
                <a:latin typeface="Liberation Sans"/>
              </a:rPr>
              <a:t>  divergência, repetição e custo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507992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507992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507992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59669"/>
                </a:solidFill>
                <a:latin typeface="Liberation Sans"/>
              </a:rPr>
              <a:t>controle</a:t>
            </a:r>
            <a:r>
              <a:rPr sz="1340" b="0" i="0">
                <a:solidFill>
                  <a:srgbClr val="161E33"/>
                </a:solidFill>
                <a:latin typeface="Liberation Sans"/>
              </a:rPr>
              <a:t>  limite de turnos e aprovação explícita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COMPARAÇÃO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Mesmo caso, diferentes controles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109728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434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Tecnologia</a:t>
                      </a:r>
                    </a:p>
                  </a:txBody>
                  <a:tcPr anchor="ctr" marL="73152" marR="73152" marT="27432" marB="27432">
                    <a:solidFill>
                      <a:srgbClr val="0596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Controla principalmente</a:t>
                      </a:r>
                    </a:p>
                  </a:txBody>
                  <a:tcPr anchor="ctr" marL="73152" marR="73152" marT="27432" marB="27432">
                    <a:solidFill>
                      <a:srgbClr val="0596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No UC-004</a:t>
                      </a:r>
                    </a:p>
                  </a:txBody>
                  <a:tcPr anchor="ctr" marL="73152" marR="73152" marT="27432" marB="27432">
                    <a:solidFill>
                      <a:srgbClr val="059669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LangChain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componentes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prompt + schema + retriever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LangGraph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estado e transições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checkpoint + aprovação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CrewAI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papéis e tarefas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agent + task + output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AutoGen/AG2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conversa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classificador + revisor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MCP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ferramenta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microbiologia com contrato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2064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109728" cy="7315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5000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D97706"/>
                </a:solidFill>
                <a:latin typeface="Liberation Sans"/>
              </a:rPr>
              <a:t>Pergunta correta: 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o que a tecnologia controla por mim e o que ela deixa para a minha arquitetura?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Ambientes: Claude Code, Codex e repositório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4F46E5"/>
                </a:solidFill>
                <a:latin typeface="Liberation Sans"/>
              </a:rPr>
              <a:t>desenvolvedor</a:t>
            </a:r>
            <a:r>
              <a:rPr sz="2000" b="1" i="0">
                <a:solidFill>
                  <a:srgbClr val="7C3AED"/>
                </a:solidFill>
                <a:latin typeface="Liberation Sans"/>
              </a:rPr>
              <a:t>  →  Claude Code / Codex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 →  repositório + instruções + ferramentas
</a:t>
            </a:r>
            <a:r>
              <a:rPr sz="2000" b="1" i="0">
                <a:solidFill>
                  <a:srgbClr val="0D9488"/>
                </a:solidFill>
                <a:latin typeface="Liberation Sans"/>
              </a:rPr>
              <a:t>  →  diff + testes + hooks + revisão humana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1094415" cy="569976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389120"/>
            <a:ext cx="109728" cy="5699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10545775" cy="569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unidade de trabalho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tarefa sobre o repositório inteiro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87112"/>
            <a:ext cx="11094415" cy="569976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087112"/>
            <a:ext cx="109728" cy="5699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87112"/>
            <a:ext cx="10545775" cy="569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não confundir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ambiente de desenvolvimento não é o workflow clínico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85104"/>
            <a:ext cx="11094415" cy="569976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785104"/>
            <a:ext cx="109728" cy="5699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785104"/>
            <a:ext cx="10545775" cy="569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BioByte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ler spec, alterar artefatos e validar o resultado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9509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PAUSA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Intervalo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4F46E5"/>
                </a:solidFill>
                <a:latin typeface="Liberation Sans"/>
              </a:rPr>
              <a:t>5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61E33"/>
                </a:solidFill>
                <a:latin typeface="Liberation Sans"/>
              </a:rPr>
              <a:t>Na volta: a especificação do BioByte vira o contrato do pipeline.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Vibe coding versus SDD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011680"/>
          <a:ext cx="102412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Sem SDD</a:t>
                      </a:r>
                    </a:p>
                  </a:txBody>
                  <a:tcPr anchor="ctr" marL="73152" marR="73152" marT="27432" marB="27432"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Com SDD</a:t>
                      </a:r>
                    </a:p>
                  </a:txBody>
                  <a:tcPr anchor="ctr" marL="73152" marR="73152" marT="27432" marB="27432">
                    <a:solidFill>
                      <a:srgbClr val="D9770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requisito informal → código</a:t>
                      </a:r>
                    </a:p>
                  </a:txBody>
                  <a:tcPr anchor="ctr" marL="73152" marR="73152" marT="18288" marB="18288">
                    <a:solidFill>
                      <a:srgbClr val="FCF1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spec primária → plano</a:t>
                      </a:r>
                    </a:p>
                  </a:txBody>
                  <a:tcPr anchor="ctr" marL="73152" marR="73152" marT="18288" marB="18288">
                    <a:solidFill>
                      <a:srgbClr val="FCF1D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documentação atrasada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tarefas rastreáveis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teste pensado depois</a:t>
                      </a:r>
                    </a:p>
                  </a:txBody>
                  <a:tcPr anchor="ctr" marL="73152" marR="73152" marT="18288" marB="18288">
                    <a:solidFill>
                      <a:srgbClr val="FCF1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teste derivado do critério</a:t>
                      </a:r>
                    </a:p>
                  </a:txBody>
                  <a:tcPr anchor="ctr" marL="73152" marR="73152" marT="18288" marB="18288">
                    <a:solidFill>
                      <a:srgbClr val="FCF1D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aprovação subjetiva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gate e evidência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especificação do BioByte é a fonte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9875520" cy="192024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9326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AEFFA"/>
                </a:solidFill>
                <a:latin typeface="DejaVu Sans Mono"/>
              </a:rPr>
              <a:t>Quando uma hemocultura positiva for registrada,
o sistema deve avaliar os critérios ICSAC/NHSN
dentro da janela definida, produzir evidência textual
e interromper para revisão da CCIH.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1094415" cy="600456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109728" cy="6004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545775" cy="600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escopo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classificação, risco, MDR, conduta e relatório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6152"/>
            <a:ext cx="11094415" cy="600456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26152"/>
            <a:ext cx="109728" cy="6004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26152"/>
            <a:ext cx="10545775" cy="600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não-objetivo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aprovar automaticamente uma notificação clínica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54624"/>
            <a:ext cx="11094415" cy="600456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754624"/>
            <a:ext cx="109728" cy="6004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54624"/>
            <a:ext cx="10545775" cy="600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aceite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resultado reproduzível, evidência citada e revisão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Do requisito ao teste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7280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F46E5"/>
                </a:solidFill>
                <a:latin typeface="Liberation Sans"/>
              </a:rPr>
              <a:t>FR/UC</a:t>
            </a:r>
            <a:r>
              <a:rPr sz="2200" b="0" i="0">
                <a:solidFill>
                  <a:srgbClr val="161E33"/>
                </a:solidFill>
                <a:latin typeface="Liberation Sans"/>
              </a:rPr>
              <a:t> → </a:t>
            </a:r>
            <a:r>
              <a:rPr sz="2200" b="1" i="0">
                <a:solidFill>
                  <a:srgbClr val="7C3AED"/>
                </a:solidFill>
                <a:latin typeface="Liberation Sans"/>
              </a:rPr>
              <a:t>task</a:t>
            </a:r>
            <a:r>
              <a:rPr sz="2200" b="0" i="0">
                <a:solidFill>
                  <a:srgbClr val="161E33"/>
                </a:solidFill>
                <a:latin typeface="Liberation Sans"/>
              </a:rPr>
              <a:t> → </a:t>
            </a:r>
            <a:r>
              <a:rPr sz="2200" b="1" i="0">
                <a:solidFill>
                  <a:srgbClr val="0D9488"/>
                </a:solidFill>
                <a:latin typeface="Liberation Sans"/>
              </a:rPr>
              <a:t>tool/função</a:t>
            </a:r>
            <a:r>
              <a:rPr sz="2200" b="0" i="0">
                <a:solidFill>
                  <a:srgbClr val="161E33"/>
                </a:solidFill>
                <a:latin typeface="Liberation Sans"/>
              </a:rPr>
              <a:t> → </a:t>
            </a:r>
            <a:r>
              <a:rPr sz="2200" b="1" i="0">
                <a:solidFill>
                  <a:srgbClr val="D97706"/>
                </a:solidFill>
                <a:latin typeface="Liberation Sans"/>
              </a:rPr>
              <a:t>teste</a:t>
            </a:r>
            <a:r>
              <a:rPr sz="2200" b="0" i="0">
                <a:solidFill>
                  <a:srgbClr val="161E33"/>
                </a:solidFill>
                <a:latin typeface="Liberation Sans"/>
              </a:rPr>
              <a:t> → </a:t>
            </a:r>
            <a:r>
              <a:rPr sz="2200" b="1" i="0">
                <a:solidFill>
                  <a:srgbClr val="E11D48"/>
                </a:solidFill>
                <a:latin typeface="Liberation Sans"/>
              </a:rPr>
              <a:t>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105000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F46E5"/>
                </a:solidFill>
                <a:latin typeface="Liberation Sans"/>
              </a:rPr>
              <a:t>Exemplo: 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UC-004 → classify_case_nhsn → consultar_microbiologia → teste de evidência → revisão CCIH.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UI Spec e protótipo também derivam da spec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094415" cy="1012697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" cy="101269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545775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Liberation Sans"/>
              </a:rPr>
              <a:t>tela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classificação e evidências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0954"/>
            <a:ext cx="11094415" cy="1012697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0954"/>
            <a:ext cx="109728" cy="101269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0954"/>
            <a:ext cx="10545775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Liberation Sans"/>
              </a:rPr>
              <a:t>estado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loading, vazio, sucesso, erro e falha externa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1668"/>
            <a:ext cx="11094415" cy="1012697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1668"/>
            <a:ext cx="109728" cy="101269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1668"/>
            <a:ext cx="10545775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Liberation Sans"/>
              </a:rPr>
              <a:t>ação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aprovar, rejeitar, tentar novamente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2382"/>
            <a:ext cx="11094415" cy="1012697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42382"/>
            <a:ext cx="109728" cy="101269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42382"/>
            <a:ext cx="10545775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Liberation Sans"/>
              </a:rPr>
              <a:t>critério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a CCIH entende por que o sistema classificou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105000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Heurística de experiência: 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a tela deve apoiar a decisão, não apenas exibir campos.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LANGNET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Agents.yaml e tasks.yaml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772400" cy="347472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7223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A"/>
                </a:solidFill>
                <a:latin typeface="DejaVu Sans Mono"/>
              </a:rPr>
              <a:t>nhsn_classifier_agent:
  role: Especialista em classificação de ICSAC
  goal: Classificar com evidências NHSN
classify_case_nhsn:
  traceability: {uc: UC-004, fr: [FR-003]}
  execution: agent
  expected_output: NHSNClassification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148840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2148840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48840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E11D48"/>
                </a:solidFill>
                <a:latin typeface="Liberation Sans"/>
              </a:rPr>
              <a:t>agente</a:t>
            </a:r>
            <a:r>
              <a:rPr sz="1380" b="0" i="0">
                <a:solidFill>
                  <a:srgbClr val="161E33"/>
                </a:solidFill>
                <a:latin typeface="Liberation Sans"/>
              </a:rPr>
              <a:t>  papel e objetivo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328416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3328416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328416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E11D48"/>
                </a:solidFill>
                <a:latin typeface="Liberation Sans"/>
              </a:rPr>
              <a:t>tarefa</a:t>
            </a:r>
            <a:r>
              <a:rPr sz="1380" b="0" i="0">
                <a:solidFill>
                  <a:srgbClr val="161E33"/>
                </a:solidFill>
                <a:latin typeface="Liberation Sans"/>
              </a:rPr>
              <a:t>  contrato executável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507992"/>
            <a:ext cx="2560320" cy="105156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507992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507992"/>
            <a:ext cx="20116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E11D48"/>
                </a:solidFill>
                <a:latin typeface="Liberation Sans"/>
              </a:rPr>
              <a:t>rastro</a:t>
            </a:r>
            <a:r>
              <a:rPr sz="1380" b="0" i="0">
                <a:solidFill>
                  <a:srgbClr val="161E33"/>
                </a:solidFill>
                <a:latin typeface="Liberation Sans"/>
              </a:rPr>
              <a:t>  UC/FR e saída esperada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LANGNET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Rede de Petri organiza a execução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7280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4F46E5"/>
                </a:solidFill>
                <a:latin typeface="Liberation Sans"/>
              </a:rPr>
              <a:t>P0: dados disponíveis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 →  T1: consultar_microbiologia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 →  P1: microbiologia disponível
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 →  T2: classify_case_nhsn</a:t>
            </a:r>
            <a:r>
              <a:rPr sz="2000" b="1" i="0">
                <a:solidFill>
                  <a:srgbClr val="E11D48"/>
                </a:solidFill>
                <a:latin typeface="Liberation Sans"/>
              </a:rPr>
              <a:t>  →  P2: aguardando revisão CCIH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94415" cy="478536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109728" cy="4785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10545775" cy="47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11D48"/>
                </a:solidFill>
                <a:latin typeface="Liberation Sans"/>
              </a:rPr>
              <a:t>lugar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estado ou sincronização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69992"/>
            <a:ext cx="11094415" cy="478536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269992"/>
            <a:ext cx="109728" cy="4785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69992"/>
            <a:ext cx="10545775" cy="47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11D48"/>
                </a:solidFill>
                <a:latin typeface="Liberation Sans"/>
              </a:rPr>
              <a:t>transição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tarefa executável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76544"/>
            <a:ext cx="11094415" cy="478536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76544"/>
            <a:ext cx="109728" cy="4785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76544"/>
            <a:ext cx="10545775" cy="47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11D48"/>
                </a:solidFill>
                <a:latin typeface="Liberation Sans"/>
              </a:rPr>
              <a:t>token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estado corrente do fluxo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LANGNET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Como um lugar chama o agente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315200" cy="256032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6766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AEFFA"/>
                </a:solidFill>
                <a:latin typeface="DejaVu Sans Mono"/>
              </a:rPr>
              <a:t>Lugar / lógica JavaScript
  → invoca tarefa ou agente
  → backend Python
  → WebSocket
  → atualiza estado e interface
  → libera a próxima transição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5740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2057400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05740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interface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acompanha em tempo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236976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3236976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236976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execução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Python e ferramentas externas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416552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4416552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416552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controle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estado, erro e retomada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LANGNET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Gates e rastreabilidade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4F46E5"/>
                </a:solidFill>
                <a:latin typeface="Liberation Sans"/>
              </a:rPr>
              <a:t>spec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→ gate → </a:t>
            </a:r>
            <a:r>
              <a:rPr sz="2000" b="1" i="0">
                <a:solidFill>
                  <a:srgbClr val="7C3AED"/>
                </a:solidFill>
                <a:latin typeface="Liberation Sans"/>
              </a:rPr>
              <a:t>agentes/tarefas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→ gate → </a:t>
            </a:r>
            <a:r>
              <a:rPr sz="2000" b="1" i="0">
                <a:solidFill>
                  <a:srgbClr val="0D9488"/>
                </a:solidFill>
                <a:latin typeface="Liberation Sans"/>
              </a:rPr>
              <a:t>código</a:t>
            </a:r>
            <a:r>
              <a:rPr sz="2000" b="0" i="0">
                <a:solidFill>
                  <a:srgbClr val="161E33"/>
                </a:solidFill>
                <a:latin typeface="Liberation Sans"/>
              </a:rPr>
              <a:t> → gate → </a:t>
            </a:r>
            <a:r>
              <a:rPr sz="2000" b="1" i="0">
                <a:solidFill>
                  <a:srgbClr val="E11D48"/>
                </a:solidFill>
                <a:latin typeface="Liberation Sans"/>
              </a:rPr>
              <a:t>teste/publicação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94415" cy="478536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109728" cy="4785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10545775" cy="47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11D48"/>
                </a:solidFill>
                <a:latin typeface="Liberation Sans"/>
              </a:rPr>
              <a:t>determinístico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não confiar em outro LLM para validar tudo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69992"/>
            <a:ext cx="11094415" cy="478536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269992"/>
            <a:ext cx="109728" cy="4785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69992"/>
            <a:ext cx="10545775" cy="47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11D48"/>
                </a:solidFill>
                <a:latin typeface="Liberation Sans"/>
              </a:rPr>
              <a:t>visível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erro tem salto e artefato identificável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76544"/>
            <a:ext cx="11094415" cy="478536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76544"/>
            <a:ext cx="109728" cy="4785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76544"/>
            <a:ext cx="10545775" cy="47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11D48"/>
                </a:solidFill>
                <a:latin typeface="Liberation Sans"/>
              </a:rPr>
              <a:t>auditável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versão, autor, critério e resultado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LANGNET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arquitetura atual do ambiente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F46E5"/>
                </a:solidFill>
                <a:latin typeface="Liberation Sans"/>
              </a:rPr>
              <a:t>Claude Code / Codex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→  repositório + documentos
</a:t>
            </a:r>
            <a:r>
              <a:rPr sz="1800" b="1" i="0">
                <a:solidFill>
                  <a:srgbClr val="7C3AED"/>
                </a:solidFill>
                <a:latin typeface="Liberation Sans"/>
              </a:rPr>
              <a:t>LangNet / Playwright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→  interface, geração e execução
</a:t>
            </a:r>
            <a:r>
              <a:rPr sz="1800" b="1" i="0">
                <a:solidFill>
                  <a:srgbClr val="E11D48"/>
                </a:solidFill>
                <a:latin typeface="Liberation Sans"/>
              </a:rPr>
              <a:t>Rede de Petri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→  lugares, transições e tokens
</a:t>
            </a:r>
            <a:r>
              <a:rPr sz="1800" b="1" i="0">
                <a:solidFill>
                  <a:srgbClr val="0D9488"/>
                </a:solidFill>
                <a:latin typeface="Liberation Sans"/>
              </a:rPr>
              <a:t>JavaScript → Python/WebSocket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→  agentes e tarefas
</a:t>
            </a:r>
            <a:r>
              <a:rPr sz="1800" b="1" i="0">
                <a:solidFill>
                  <a:srgbClr val="D97706"/>
                </a:solidFill>
                <a:latin typeface="Liberation Sans"/>
              </a:rPr>
              <a:t>DeepSeek / Cloud Code API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 →  modelo, custo e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8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109728" cy="5029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105000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6A00"/>
                </a:solidFill>
                <a:latin typeface="Liberation Sans"/>
              </a:rPr>
              <a:t>Confirmar no ensaio: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modelo, endpoint/porta e métrica real antes de apresentar como fato operacional.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9385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PROVA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que é real e o que é demonstração didática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Real no pipeline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Exemplo comparativo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spec, agents/tasks, UI, Petri, código e testes BioByte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LangChain isolado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execução LangNet e interface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LangGraph conceitual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WebSocket, ferramentas e gates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CrewAI/AutoGen como alternativas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vídeo e rastreabilidade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61E33"/>
                          </a:solidFill>
                          <a:latin typeface="Liberation Sans"/>
                        </a:rPr>
                        <a:t>trechos para explicar abstrações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212080"/>
            <a:ext cx="109728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5000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11D48"/>
                </a:solidFill>
                <a:latin typeface="Liberation Sans"/>
              </a:rPr>
              <a:t>Honestidade técnica: 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um exemplo de código não prova que aquela tecnologia foi usada na execução real.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9385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PROVA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Demonstração: da especificação ao BioByte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6477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6477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4577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1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documento de requisitos e especificação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4516"/>
            <a:ext cx="11094415" cy="6477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4516"/>
            <a:ext cx="109728" cy="6477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04516"/>
            <a:ext cx="1054577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2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agentes, tarefas e UI 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0232"/>
            <a:ext cx="11094415" cy="6477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80232"/>
            <a:ext cx="109728" cy="6477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80232"/>
            <a:ext cx="1054577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3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Rede de Petri e execução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55948"/>
            <a:ext cx="11094415" cy="6477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55948"/>
            <a:ext cx="109728" cy="6477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55948"/>
            <a:ext cx="1054577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4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interface, evidência, alerta e relatório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1664"/>
            <a:ext cx="11094415" cy="6477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31664"/>
            <a:ext cx="109728" cy="6477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31664"/>
            <a:ext cx="1054577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5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teste, falha real e correção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07380"/>
            <a:ext cx="11094415" cy="6477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07380"/>
            <a:ext cx="109728" cy="6477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07380"/>
            <a:ext cx="1054577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6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gate de rastreabilidade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09728" cy="685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49240"/>
            <a:ext cx="105000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11D48"/>
                </a:solidFill>
                <a:latin typeface="Liberation Sans"/>
              </a:rPr>
              <a:t>Vídeo: 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deixar a especificação e o gate visíveis tempo suficiente para leitura.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9385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PROVA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que a demonstração precisa provar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802843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80284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45775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fonte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a aplicação começa em uma especificação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59659"/>
            <a:ext cx="11094415" cy="802843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59659"/>
            <a:ext cx="109728" cy="80284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59659"/>
            <a:ext cx="10545775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execução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as tarefas realmente rodam e atualizam estados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0518"/>
            <a:ext cx="11094415" cy="802843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0518"/>
            <a:ext cx="109728" cy="80284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90518"/>
            <a:ext cx="10545775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produto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há interface, dados e resultado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21377"/>
            <a:ext cx="11094415" cy="802843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21377"/>
            <a:ext cx="109728" cy="80284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21377"/>
            <a:ext cx="10545775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controle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falha e recuperação são visíveis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52236"/>
            <a:ext cx="11094415" cy="802843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552236"/>
            <a:ext cx="109728" cy="80284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52236"/>
            <a:ext cx="10545775" cy="80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rastro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requisito → task → código → teste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Conclusões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F46E5"/>
                </a:solidFill>
                <a:latin typeface="Liberation Sans"/>
              </a:rPr>
              <a:t>1</a:t>
            </a:r>
            <a:r>
              <a:rPr sz="1900" b="0" i="0">
                <a:solidFill>
                  <a:srgbClr val="161E33"/>
                </a:solidFill>
                <a:latin typeface="Liberation Sans"/>
              </a:rPr>
              <a:t>  modelos são capacidade; método é engenharia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2374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92374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92374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F46E5"/>
                </a:solidFill>
                <a:latin typeface="Liberation Sans"/>
              </a:rPr>
              <a:t>2</a:t>
            </a:r>
            <a:r>
              <a:rPr sz="1900" b="0" i="0">
                <a:solidFill>
                  <a:srgbClr val="161E33"/>
                </a:solidFill>
                <a:latin typeface="Liberation Sans"/>
              </a:rPr>
              <a:t>  agentes sem gates propagam erro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5948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55948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55948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F46E5"/>
                </a:solidFill>
                <a:latin typeface="Liberation Sans"/>
              </a:rPr>
              <a:t>3</a:t>
            </a:r>
            <a:r>
              <a:rPr sz="1900" b="0" i="0">
                <a:solidFill>
                  <a:srgbClr val="161E33"/>
                </a:solidFill>
                <a:latin typeface="Liberation Sans"/>
              </a:rPr>
              <a:t>  a especificação torna o código gerado rastreável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19522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19522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19522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F46E5"/>
                </a:solidFill>
                <a:latin typeface="Liberation Sans"/>
              </a:rPr>
              <a:t>4</a:t>
            </a:r>
            <a:r>
              <a:rPr sz="1900" b="0" i="0">
                <a:solidFill>
                  <a:srgbClr val="161E33"/>
                </a:solidFill>
                <a:latin typeface="Liberation Sans"/>
              </a:rPr>
              <a:t>  BioByte mostra tecnologia aplicada a um problema 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109728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5000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11D48"/>
                </a:solidFill>
                <a:latin typeface="Liberation Sans"/>
              </a:rPr>
              <a:t>Recomendação: 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defina primeiro o conjunto de avaliação e o contrato de saída.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Referências e materiais de apoio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BioByte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requisitos, casos de uso, agentes, tarefas, UI e validação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2374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92374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92374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Tecnologias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LangChain, LangGraph, CrewAI, AutoGen/AG2, 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5948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55948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55948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Método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SDD, rastreabilidade, gates e Redes de Petri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19522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19522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19522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Ambientes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Claude Code, Codex e execução pela interface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Perguntas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11D48"/>
                </a:solidFill>
                <a:latin typeface="Liberation Sans"/>
              </a:rPr>
              <a:t>Perguntas e discussão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61E33"/>
                </a:solidFill>
                <a:latin typeface="Liberation Sans"/>
              </a:rPr>
              <a:t>BioByte · SDD · agentes · frameworks · LangNet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037283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03728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Backup: tecnologias e detalhes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modelos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benchmarks, licenças, DeepSeek, Qwen e modelos locais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2374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92374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92374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protocolos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MCP, A2A e formatos de conhecimento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5948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55948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55948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frameworks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detalhes adicionais de SDKs e AutoGen/AG2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19522"/>
            <a:ext cx="11094415" cy="103555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19522"/>
            <a:ext cx="109728" cy="103555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19522"/>
            <a:ext cx="10545775" cy="10355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adaptação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RAG, SFT, LoRA, QLoRA, RLHF e DPO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